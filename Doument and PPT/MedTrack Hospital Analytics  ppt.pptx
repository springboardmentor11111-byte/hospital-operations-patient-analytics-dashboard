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  <ns0:embeddedFont>
      <ns0:font typeface="Space Grotesk"/>
      <ns0:bold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1b3513ff-5cd1-40da-8b48-d81aca0cd548.fntdata" /><ns0:Relationship Id="rIdFont20" Type="http://schemas.openxmlformats.org/officeDocument/2006/relationships/font" Target="fonts/5e0d2e2d-d0c0-4100-a411-ea8fa04af21a.fntdata" /><ns0:Relationship Id="rIdFont21" Type="http://schemas.openxmlformats.org/officeDocument/2006/relationships/font" Target="fonts/5abc06f6-2573-44ac-b5b5-dd276995095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627215"/>
            <a:ext cx="10668000" cy="704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627215"/>
            <a:ext cx="10668000" cy="9525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43450" y="4946302"/>
            <a:ext cx="9525" cy="3429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5934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021234"/>
            <a:ext cx="9601200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0F9FF"/>
                </a:solidFill>
                <a:latin typeface="Space Grotesk"/>
              </a:rPr>
              <a:t>MedTrack Operational Data Analytics &amp; Project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350865"/>
            <a:ext cx="7715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7DD3FC"/>
                </a:solidFill>
                <a:latin typeface="Plus Jakarta Sans"/>
              </a:rPr>
              <a:t>An end-to-end 4-milestone hospital analytics project transforming 50,213 raw admission records into validated Tableau executive dashboards using Python and Jupyter.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59272"/>
            <a:ext cx="37326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F0FF"/>
                </a:solidFill>
                <a:latin typeface="Plus Jakarta Sans"/>
              </a:rPr>
              <a:t>HEALTHCARE INTELLIGENCE 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903440"/>
            <a:ext cx="4595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112990"/>
            <a:ext cx="45958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0F2FE"/>
                </a:solidFill>
                <a:latin typeface="Plus Jakarta Sans"/>
              </a:rPr>
              <a:t>Python • Pandas • Jupyter • Tableau Desktop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57775" y="4903440"/>
            <a:ext cx="4964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PROJECT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7775" y="5112990"/>
            <a:ext cx="49649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0F2FE"/>
                </a:solidFill>
                <a:latin typeface="Plus Jakarta Sans"/>
              </a:rPr>
              <a:t>50,213 Admissions • 10 Departments • 6 Regions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22264"/>
            <a:ext cx="5372100" cy="1327546"/>
          </a:xfrm>
          <a:prstGeom prst="roundRect">
            <a:avLst>
              <a:gd name="adj" fmla="val 8609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1922264"/>
            <a:ext cx="5372100" cy="1327546"/>
          </a:xfrm>
          <a:prstGeom prst="roundRect">
            <a:avLst>
              <a:gd name="adj" fmla="val 8609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541639"/>
            <a:ext cx="5372100" cy="1327546"/>
          </a:xfrm>
          <a:prstGeom prst="roundRect">
            <a:avLst>
              <a:gd name="adj" fmla="val 8609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541639"/>
            <a:ext cx="5372100" cy="1327546"/>
          </a:xfrm>
          <a:prstGeom prst="roundRect">
            <a:avLst>
              <a:gd name="adj" fmla="val 8609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198489"/>
            <a:ext cx="298698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198489"/>
            <a:ext cx="317003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817864"/>
            <a:ext cx="303162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817864"/>
            <a:ext cx="32385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037" y="2322314"/>
            <a:ext cx="23812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0251" y="2322314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557" y="4941689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0" y="4941689"/>
            <a:ext cx="26670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F0FF"/>
                </a:solidFill>
                <a:latin typeface="Plus Jakarta Sans"/>
              </a:rPr>
              <a:t>PROJECT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0F9FF"/>
                </a:solidFill>
                <a:latin typeface="Plus Jakarta Sans"/>
              </a:rPr>
              <a:t>Four Core Operational Questions Answered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5023" y="2198489"/>
            <a:ext cx="568371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0F9FF"/>
                </a:solidFill>
                <a:latin typeface="Plus Jakarta Sans"/>
              </a:rPr>
              <a:t>1. Overall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5023" y="2493764"/>
            <a:ext cx="4425701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7DD3FC"/>
                </a:solidFill>
                <a:latin typeface="Plus Jakarta Sans"/>
              </a:rPr>
              <a:t>Tracking admissions, occupancy rates, and length of stay across hospital networks.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4028" y="2198489"/>
            <a:ext cx="51979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0F9FF"/>
                </a:solidFill>
                <a:latin typeface="Plus Jakarta Sans"/>
              </a:rPr>
              <a:t>2. Patient Flow Bottlenecks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4028" y="2493764"/>
            <a:ext cx="4407396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7DD3FC"/>
                </a:solidFill>
                <a:latin typeface="Plus Jakarta Sans"/>
              </a:rPr>
              <a:t>Identifying operational delays from admission through discharge care phases.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9487" y="4817864"/>
            <a:ext cx="567785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0F9FF"/>
                </a:solidFill>
                <a:latin typeface="Plus Jakarta Sans"/>
              </a:rPr>
              <a:t>3. Department Efficiency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9487" y="5113139"/>
            <a:ext cx="4421237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7DD3FC"/>
                </a:solidFill>
                <a:latin typeface="Plus Jakarta Sans"/>
              </a:rPr>
              <a:t>Benchmarking clinical specialties on readmissions and patient satisfaction scores.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0875" y="4817864"/>
            <a:ext cx="51911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0F9FF"/>
                </a:solidFill>
                <a:latin typeface="Plus Jakarta Sans"/>
              </a:rPr>
              <a:t>4. Resource Utilization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875" y="5113139"/>
            <a:ext cx="44005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7DD3FC"/>
                </a:solidFill>
                <a:latin typeface="Plus Jakarta Sans"/>
              </a:rPr>
              <a:t>Evaluating bed capacity, medical equipment usage, and staffing allocations.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38487"/>
            <a:ext cx="2400300" cy="1590675"/>
          </a:xfrm>
          <a:prstGeom prst="roundRect">
            <a:avLst>
              <a:gd name="adj" fmla="val 7185"/>
            </a:avLst>
          </a:prstGeom>
          <a:solidFill>
            <a:srgbClr val="0B192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86150" y="3148012"/>
            <a:ext cx="2381250" cy="1571625"/>
          </a:xfrm>
          <a:prstGeom prst="roundRect">
            <a:avLst>
              <a:gd name="adj" fmla="val 7272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43650" y="3148012"/>
            <a:ext cx="2381250" cy="1571625"/>
          </a:xfrm>
          <a:prstGeom prst="roundRect">
            <a:avLst>
              <a:gd name="adj" fmla="val 7272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01150" y="3038475"/>
            <a:ext cx="2381250" cy="1790700"/>
          </a:xfrm>
          <a:prstGeom prst="roundRect">
            <a:avLst>
              <a:gd name="adj" fmla="val 6382"/>
            </a:avLst>
          </a:prstGeom>
          <a:solidFill>
            <a:srgbClr val="0B192C"/>
          </a:solidFill>
          <a:ln w="9525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3838575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838575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3838575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450" y="3386137"/>
            <a:ext cx="2286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425" y="3386137"/>
            <a:ext cx="2667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9975" y="3386137"/>
            <a:ext cx="2286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0325" y="3276600"/>
            <a:ext cx="3429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F0FF"/>
                </a:solidFill>
                <a:latin typeface="Plus Jakarta Sans"/>
              </a:rPr>
              <a:t>TECHNICAL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0F9FF"/>
                </a:solidFill>
                <a:latin typeface="Plus Jakarta Sans"/>
              </a:rPr>
              <a:t>End-to-End Analytics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593" y="3805237"/>
            <a:ext cx="25003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0F9FF"/>
                </a:solidFill>
                <a:latin typeface="Plus Jakarta Sans"/>
              </a:rPr>
              <a:t>1. Raw Data (.xlsx)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" y="4081462"/>
            <a:ext cx="2381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7DD3FC"/>
                </a:solidFill>
                <a:latin typeface="Plus Jakarta Sans"/>
              </a:rPr>
              <a:t>50,213 admission records &amp; 30+ raw 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6618" y="3805237"/>
            <a:ext cx="25003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0F9FF"/>
                </a:solidFill>
                <a:latin typeface="Plus Jakarta Sans"/>
              </a:rPr>
              <a:t>2. Python &amp; Jupyter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6150" y="4081462"/>
            <a:ext cx="2381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7DD3FC"/>
                </a:solidFill>
                <a:latin typeface="Plus Jakarta Sans"/>
              </a:rPr>
              <a:t>Pandas cleaning, date parsing &amp; type fixes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4118" y="3805237"/>
            <a:ext cx="25003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0F9FF"/>
                </a:solidFill>
                <a:latin typeface="Plus Jakarta Sans"/>
              </a:rPr>
              <a:t>3. Tableau Calculateds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3650" y="4081462"/>
            <a:ext cx="2381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7DD3FC"/>
                </a:solidFill>
                <a:latin typeface="Plus Jakarta Sans"/>
              </a:rPr>
              <a:t>LOD Occupancy, ALOS &amp; Readmission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1618" y="3695700"/>
            <a:ext cx="250031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0F9FF"/>
                </a:solidFill>
                <a:latin typeface="Plus Jakarta Sans"/>
              </a:rPr>
              <a:t>4. Executive Dashboards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1150" y="4191000"/>
            <a:ext cx="2381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7DD3FC"/>
                </a:solidFill>
                <a:latin typeface="Plus Jakarta Sans"/>
              </a:rPr>
              <a:t>17 worksheets in 2 Tableau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52550"/>
            <a:ext cx="2600325" cy="971550"/>
          </a:xfrm>
          <a:prstGeom prst="roundRect">
            <a:avLst>
              <a:gd name="adj" fmla="val 9803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1352550"/>
            <a:ext cx="2600325" cy="971550"/>
          </a:xfrm>
          <a:prstGeom prst="roundRect">
            <a:avLst>
              <a:gd name="adj" fmla="val 9803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1352550"/>
            <a:ext cx="2600325" cy="971550"/>
          </a:xfrm>
          <a:prstGeom prst="roundRect">
            <a:avLst>
              <a:gd name="adj" fmla="val 9803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1352550"/>
            <a:ext cx="2600325" cy="971550"/>
          </a:xfrm>
          <a:prstGeom prst="roundRect">
            <a:avLst>
              <a:gd name="adj" fmla="val 9803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967162"/>
            <a:ext cx="3530649" cy="1057275"/>
          </a:xfrm>
          <a:prstGeom prst="rect">
            <a:avLst/>
          </a:prstGeom>
          <a:solidFill>
            <a:srgbClr val="0B1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0749" y="3967162"/>
            <a:ext cx="3530649" cy="1057275"/>
          </a:xfrm>
          <a:prstGeom prst="rect">
            <a:avLst/>
          </a:prstGeom>
          <a:solidFill>
            <a:srgbClr val="0B1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51899" y="3967162"/>
            <a:ext cx="3530649" cy="1057275"/>
          </a:xfrm>
          <a:prstGeom prst="rect">
            <a:avLst/>
          </a:prstGeom>
          <a:solidFill>
            <a:srgbClr val="0B1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3967162"/>
            <a:ext cx="38100" cy="1057275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0749" y="3967162"/>
            <a:ext cx="38100" cy="10572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51899" y="3967162"/>
            <a:ext cx="38100" cy="10572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F0FF"/>
                </a:solidFill>
                <a:latin typeface="Plus Jakarta Sans"/>
              </a:rPr>
              <a:t>MILESTONE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0F9FF"/>
                </a:solidFill>
                <a:latin typeface="Plus Jakarta Sans"/>
              </a:rPr>
              <a:t>Data Collection, Cleaning &amp;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590" y="1552575"/>
            <a:ext cx="2750343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1" sz="2700" i="0" u="none">
                <a:solidFill>
                  <a:srgbClr val="00F0FF"/>
                </a:solidFill>
                <a:latin typeface="Plus Jakarta Sans"/>
              </a:rPr>
              <a:t>50,213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590" y="1952625"/>
            <a:ext cx="2750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7DD3FC"/>
                </a:solidFill>
                <a:latin typeface="Plus Jakarta Sans"/>
              </a:rPr>
              <a:t>Validated Admissions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5415" y="1552575"/>
            <a:ext cx="2750343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1" sz="2700" i="0" u="none">
                <a:solidFill>
                  <a:srgbClr val="00F0FF"/>
                </a:solidFill>
                <a:latin typeface="Plus Jakarta San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5415" y="1952625"/>
            <a:ext cx="2750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7DD3FC"/>
                </a:solidFill>
                <a:latin typeface="Plus Jakarta Sans"/>
              </a:rPr>
              <a:t>Duplicate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6240" y="1552575"/>
            <a:ext cx="2750343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1" sz="2700" i="0" u="none">
                <a:solidFill>
                  <a:srgbClr val="00F0FF"/>
                </a:solidFill>
                <a:latin typeface="Plus Jakarta San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6240" y="1952625"/>
            <a:ext cx="2750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7DD3FC"/>
                </a:solidFill>
                <a:latin typeface="Plus Jakarta Sans"/>
              </a:rPr>
              <a:t>Orphaned Foreign Keys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7065" y="1552575"/>
            <a:ext cx="2750343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1" sz="2700" i="0" u="none">
                <a:solidFill>
                  <a:srgbClr val="00F0FF"/>
                </a:solidFill>
                <a:latin typeface="Plus Jakarta Sans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7065" y="1952625"/>
            <a:ext cx="2750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7DD3FC"/>
                </a:solidFill>
                <a:latin typeface="Plus Jakarta Sans"/>
              </a:rPr>
              <a:t>Referential Integrity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4157662"/>
            <a:ext cx="408390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0F9FF"/>
                </a:solidFill>
                <a:latin typeface="Plus Jakarta Sans"/>
              </a:rPr>
              <a:t>Type Correction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4433887"/>
            <a:ext cx="32067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DD3FC"/>
                </a:solidFill>
                <a:latin typeface="Plus Jakarta Sans"/>
              </a:rPr>
              <a:t>Converted admission and discharge text strings into native datetime objects.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9349" y="4157662"/>
            <a:ext cx="408390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0F9FF"/>
                </a:solidFill>
                <a:latin typeface="Plus Jakarta Sans"/>
              </a:rPr>
              <a:t>Derived Fields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9349" y="4433887"/>
            <a:ext cx="32067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DD3FC"/>
                </a:solidFill>
                <a:latin typeface="Plus Jakarta Sans"/>
              </a:rPr>
              <a:t>Computed Length of Stay Days and cross-validated date interval integrity.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0499" y="4157662"/>
            <a:ext cx="3911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0F9FF"/>
                </a:solidFill>
                <a:latin typeface="Plus Jakarta Sans"/>
              </a:rPr>
              <a:t>Structural Nulls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499" y="4433887"/>
            <a:ext cx="32067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DD3FC"/>
                </a:solidFill>
                <a:latin typeface="Plus Jakarta Sans"/>
              </a:rPr>
              <a:t>Explicitly flagged valid conditional nulls without dropping row observations.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81187"/>
            <a:ext cx="3530500" cy="1428750"/>
          </a:xfrm>
          <a:prstGeom prst="roundRect">
            <a:avLst>
              <a:gd name="adj" fmla="val 8000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600" y="1881187"/>
            <a:ext cx="3530649" cy="1428750"/>
          </a:xfrm>
          <a:prstGeom prst="roundRect">
            <a:avLst>
              <a:gd name="adj" fmla="val 8000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750" y="1881187"/>
            <a:ext cx="3530500" cy="1428750"/>
          </a:xfrm>
          <a:prstGeom prst="roundRect">
            <a:avLst>
              <a:gd name="adj" fmla="val 8000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481512"/>
            <a:ext cx="3530500" cy="1428750"/>
          </a:xfrm>
          <a:prstGeom prst="roundRect">
            <a:avLst>
              <a:gd name="adj" fmla="val 8000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30600" y="4481512"/>
            <a:ext cx="3530649" cy="1428750"/>
          </a:xfrm>
          <a:prstGeom prst="roundRect">
            <a:avLst>
              <a:gd name="adj" fmla="val 8000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51750" y="4481512"/>
            <a:ext cx="3530500" cy="1428750"/>
          </a:xfrm>
          <a:prstGeom prst="roundRect">
            <a:avLst>
              <a:gd name="adj" fmla="val 8000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F0FF"/>
                </a:solidFill>
                <a:latin typeface="Plus Jakarta Sans"/>
              </a:rPr>
              <a:t>MILESTONE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0F9FF"/>
                </a:solidFill>
                <a:latin typeface="Plus Jakarta Sans"/>
              </a:rPr>
              <a:t>Engineered Hospital Performance KPIs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943" y="2119312"/>
            <a:ext cx="3817813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1" sz="3300" i="0" u="none">
                <a:solidFill>
                  <a:srgbClr val="00F0FF"/>
                </a:solidFill>
                <a:latin typeface="Plus Jakarta Sans"/>
              </a:rPr>
              <a:t>50,213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943" y="2633662"/>
            <a:ext cx="381781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0F9FF"/>
                </a:solidFill>
                <a:latin typeface="Plus Jakarta Sans"/>
              </a:rPr>
              <a:t>Total Admissions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943" y="2890837"/>
            <a:ext cx="381781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7DD3FC"/>
                </a:solidFill>
                <a:latin typeface="Plus Jakarta Sans"/>
              </a:rPr>
              <a:t>10 departments &amp; 6 global regions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6925" y="2119312"/>
            <a:ext cx="3817999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1" sz="3300" i="0" u="none">
                <a:solidFill>
                  <a:srgbClr val="38BDF8"/>
                </a:solidFill>
                <a:latin typeface="Plus Jakarta Sans"/>
              </a:rPr>
              <a:t>4.42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6925" y="2633662"/>
            <a:ext cx="38179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0F9FF"/>
                </a:solidFill>
                <a:latin typeface="Plus Jakarta Sans"/>
              </a:rPr>
              <a:t>Avg Length of Stay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6925" y="2890837"/>
            <a:ext cx="38179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7DD3FC"/>
                </a:solidFill>
                <a:latin typeface="Plus Jakarta Sans"/>
              </a:rPr>
              <a:t>Validated against discharge 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8094" y="2119312"/>
            <a:ext cx="3817813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1" sz="3300" i="0" u="none">
                <a:solidFill>
                  <a:srgbClr val="60A5FA"/>
                </a:solidFill>
                <a:latin typeface="Plus Jakarta Sans"/>
              </a:rPr>
              <a:t>12.01%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8094" y="2633662"/>
            <a:ext cx="381781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0F9FF"/>
                </a:solidFill>
                <a:latin typeface="Plus Jakarta Sans"/>
              </a:rPr>
              <a:t>Readmission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8094" y="2890837"/>
            <a:ext cx="381781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7DD3FC"/>
                </a:solidFill>
                <a:latin typeface="Plus Jakarta Sans"/>
              </a:rPr>
              <a:t>Core care-quality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943" y="4719637"/>
            <a:ext cx="3817813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1" sz="3300" i="0" u="none">
                <a:solidFill>
                  <a:srgbClr val="00D8FF"/>
                </a:solidFill>
                <a:latin typeface="Plus Jakarta Sans"/>
              </a:rPr>
              <a:t>69.96%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943" y="5233987"/>
            <a:ext cx="381781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0F9FF"/>
                </a:solidFill>
                <a:latin typeface="Plus Jakarta Sans"/>
              </a:rPr>
              <a:t>Avg Occupancy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943" y="5491162"/>
            <a:ext cx="381781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7DD3FC"/>
                </a:solidFill>
                <a:latin typeface="Plus Jakarta Sans"/>
              </a:rPr>
              <a:t>Bed capacity vs occupied 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6925" y="4719637"/>
            <a:ext cx="3817999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1" sz="3300" i="0" u="none">
                <a:solidFill>
                  <a:srgbClr val="00F0FF"/>
                </a:solidFill>
                <a:latin typeface="Plus Jakarta Sans"/>
              </a:rPr>
              <a:t>$3,736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6925" y="5233987"/>
            <a:ext cx="38179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0F9FF"/>
                </a:solidFill>
                <a:latin typeface="Plus Jakarta Sans"/>
              </a:rPr>
              <a:t>Avg Treatment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6925" y="5491162"/>
            <a:ext cx="381799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7DD3FC"/>
                </a:solidFill>
                <a:latin typeface="Plus Jakarta Sans"/>
              </a:rPr>
              <a:t>Standardized across specialties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8094" y="4719637"/>
            <a:ext cx="3817813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b="1" sz="3300" i="0" u="none">
                <a:solidFill>
                  <a:srgbClr val="818CF8"/>
                </a:solidFill>
                <a:latin typeface="Plus Jakarta Sans"/>
              </a:rPr>
              <a:t>34.93%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8094" y="5233987"/>
            <a:ext cx="381781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0F9FF"/>
                </a:solidFill>
                <a:latin typeface="Plus Jakarta Sans"/>
              </a:rPr>
              <a:t>Emergency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8094" y="5491162"/>
            <a:ext cx="381781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7DD3FC"/>
                </a:solidFill>
                <a:latin typeface="Plus Jakarta Sans"/>
              </a:rPr>
              <a:t>High emergency admission volume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77466"/>
            <a:ext cx="5391150" cy="1436191"/>
          </a:xfrm>
          <a:prstGeom prst="roundRect">
            <a:avLst>
              <a:gd name="adj" fmla="val 7958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1877466"/>
            <a:ext cx="5391150" cy="1436191"/>
          </a:xfrm>
          <a:prstGeom prst="roundRect">
            <a:avLst>
              <a:gd name="adj" fmla="val 7958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477791"/>
            <a:ext cx="5391150" cy="1436191"/>
          </a:xfrm>
          <a:prstGeom prst="roundRect">
            <a:avLst>
              <a:gd name="adj" fmla="val 7958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4477791"/>
            <a:ext cx="5391150" cy="1436191"/>
          </a:xfrm>
          <a:prstGeom prst="roundRect">
            <a:avLst>
              <a:gd name="adj" fmla="val 7958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F0FF"/>
                </a:solidFill>
                <a:latin typeface="Plus Jakarta Sans"/>
              </a:rPr>
              <a:t>DASHBOARD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0F9FF"/>
                </a:solidFill>
                <a:latin typeface="Plus Jakarta Sans"/>
              </a:rPr>
              <a:t>Targeted Storyboard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115591"/>
            <a:ext cx="6143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0F0FF"/>
                </a:solidFill>
                <a:latin typeface="Plus Jakarta Sans"/>
              </a:rPr>
              <a:t>EXECUTIVE 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334666"/>
            <a:ext cx="645080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0F9FF"/>
                </a:solidFill>
                <a:latin typeface="Plus Jakarta Sans"/>
              </a:rPr>
              <a:t>1. Hospital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648991"/>
            <a:ext cx="5010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7DD3FC"/>
                </a:solidFill>
                <a:latin typeface="Plus Jakarta Sans"/>
              </a:rPr>
              <a:t>High-level KPI banners, daily admission trends, regional mapping, and overall volume.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375" y="2115591"/>
            <a:ext cx="5762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OPERATIONS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2334666"/>
            <a:ext cx="57626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0F9FF"/>
                </a:solidFill>
                <a:latin typeface="Plus Jakarta Sans"/>
              </a:rPr>
              <a:t>2. Patient Flow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2648991"/>
            <a:ext cx="5010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7DD3FC"/>
                </a:solidFill>
                <a:latin typeface="Plus Jakarta Sans"/>
              </a:rPr>
              <a:t>Admissions vs discharge trends, peak load time heatmaps, and detailed patient tracking.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715916"/>
            <a:ext cx="6143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0A5FA"/>
                </a:solidFill>
                <a:latin typeface="Plus Jakarta Sans"/>
              </a:rPr>
              <a:t>DEPARTMENT HEADS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934991"/>
            <a:ext cx="645080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0F9FF"/>
                </a:solidFill>
                <a:latin typeface="Plus Jakarta Sans"/>
              </a:rPr>
              <a:t>3. Department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5249316"/>
            <a:ext cx="5010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7DD3FC"/>
                </a:solidFill>
                <a:latin typeface="Plus Jakarta Sans"/>
              </a:rPr>
              <a:t>Comparative efficiency scores, readmission rates, and ALOS by specialty.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4715916"/>
            <a:ext cx="5762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818CF8"/>
                </a:solidFill>
                <a:latin typeface="Plus Jakarta Sans"/>
              </a:rPr>
              <a:t>FACILITIES &amp; ASSETS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4934991"/>
            <a:ext cx="57626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0F9FF"/>
                </a:solidFill>
                <a:latin typeface="Plus Jakarta Sans"/>
              </a:rPr>
              <a:t>4. Resource Utilization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5249316"/>
            <a:ext cx="5010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7DD3FC"/>
                </a:solidFill>
                <a:latin typeface="Plus Jakarta Sans"/>
              </a:rPr>
              <a:t>Bed occupancy dual-axis views, equipment usage bar charts, and cost matrices.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85975"/>
            <a:ext cx="5353050" cy="3619500"/>
          </a:xfrm>
          <a:prstGeom prst="roundRect">
            <a:avLst>
              <a:gd name="adj" fmla="val 4210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2085975"/>
            <a:ext cx="5353050" cy="3619500"/>
          </a:xfrm>
          <a:prstGeom prst="roundRect">
            <a:avLst>
              <a:gd name="adj" fmla="val 4210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4943475"/>
            <a:ext cx="4724400" cy="447675"/>
          </a:xfrm>
          <a:prstGeom prst="roundRect">
            <a:avLst>
              <a:gd name="adj" fmla="val 17021"/>
            </a:avLst>
          </a:prstGeom>
          <a:solidFill>
            <a:srgbClr val="0D253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43675" y="4943475"/>
            <a:ext cx="4724400" cy="447675"/>
          </a:xfrm>
          <a:prstGeom prst="roundRect">
            <a:avLst>
              <a:gd name="adj" fmla="val 17021"/>
            </a:avLst>
          </a:prstGeom>
          <a:solidFill>
            <a:srgbClr val="0D253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F0FF"/>
                </a:solidFill>
                <a:latin typeface="Plus Jakarta Sans"/>
              </a:rPr>
              <a:t>MILESTONE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0F9FF"/>
                </a:solidFill>
                <a:latin typeface="Plus Jakarta Sans"/>
              </a:rPr>
              <a:t>Published Tableau Dashboard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400300"/>
            <a:ext cx="59055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0F0FF"/>
                </a:solidFill>
                <a:latin typeface="Plus Jakarta Sans"/>
              </a:rPr>
              <a:t>12 WORKSHEETS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619375"/>
            <a:ext cx="62007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0F9FF"/>
                </a:solidFill>
                <a:latin typeface="Plus Jakarta Sans"/>
              </a:rPr>
              <a:t>Hospital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057525"/>
            <a:ext cx="4819650" cy="188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7DD3FC"/>
                </a:solidFill>
                <a:latin typeface="Plus Jakarta Sans"/>
              </a:rPr>
              <a:t>Answers macro performance questions through headline KPI cards, monthly admissions vs discharges, overall volume trends, and length of stay by department.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5057775"/>
            <a:ext cx="45148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Key Focus: Macro Operational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2400300"/>
            <a:ext cx="56483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0F0FF"/>
                </a:solidFill>
                <a:latin typeface="Plus Jakarta Sans"/>
              </a:rPr>
              <a:t>3 WORKSHEETS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2619375"/>
            <a:ext cx="56483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0F9FF"/>
                </a:solidFill>
                <a:latin typeface="Plus Jakarta Sans"/>
              </a:rPr>
              <a:t>Department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3675" y="3057525"/>
            <a:ext cx="4819650" cy="188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7DD3FC"/>
                </a:solidFill>
                <a:latin typeface="Plus Jakarta Sans"/>
              </a:rPr>
              <a:t>Evaluates cross-departmental efficiency using composite scores, bed utilization, and occupancy rate versus total bed capacity.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6075" y="5057775"/>
            <a:ext cx="45148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F0FF"/>
                </a:solidFill>
                <a:latin typeface="Plus Jakarta Sans"/>
              </a:rPr>
              <a:t>Key Focus: Specialty Comparative Benchmarking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562225"/>
          <a:ext cx="10972799" cy="26289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89634"/>
                <a:gridCol w="6201221"/>
                <a:gridCol w="1981944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0F0FF"/>
                          </a:solidFill>
                          <a:latin typeface="Plus Jakarta Sans"/>
                        </a:rPr>
                        <a:t>Metric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5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0F0FF"/>
                          </a:solidFill>
                          <a:latin typeface="Plus Jakarta Sans"/>
                        </a:rPr>
                        <a:t>Tableau Formula Logic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5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0F0FF"/>
                          </a:solidFill>
                          <a:latin typeface="Plus Jakarta Sans"/>
                        </a:rPr>
                        <a:t>Default Format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53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0F9FF"/>
                          </a:solidFill>
                          <a:latin typeface="Plus Jakarta Sans"/>
                        </a:rPr>
                        <a:t>Occupancy Rate 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F0FF"/>
                          </a:solidFill>
                          <a:latin typeface="monospace"/>
                        </a:rPr>
                        <a:t>AVG([Occupied_Beds]) / AVG([Total_Beds])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7DD3FC"/>
                          </a:solidFill>
                          <a:latin typeface="Plus Jakarta Sans"/>
                        </a:rPr>
                        <a:t>Percentage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92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0F9FF"/>
                          </a:solidFill>
                          <a:latin typeface="Plus Jakarta Sans"/>
                        </a:rPr>
                        <a:t>Readmission Rate 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3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F0FF"/>
                          </a:solidFill>
                          <a:latin typeface="monospace"/>
                        </a:rPr>
                        <a:t>COUNT(IF Readmission='Yes') / COUNT(Patient_ID)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3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7DD3FC"/>
                          </a:solidFill>
                          <a:latin typeface="Plus Jakarta Sans"/>
                        </a:rPr>
                        <a:t>Percentage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3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0F9FF"/>
                          </a:solidFill>
                          <a:latin typeface="Plus Jakarta Sans"/>
                        </a:rPr>
                        <a:t>Avg Length of Stay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F0FF"/>
                          </a:solidFill>
                          <a:latin typeface="monospace"/>
                        </a:rPr>
                        <a:t>AVG([Length_of_Stay_Days])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7DD3FC"/>
                          </a:solidFill>
                          <a:latin typeface="Plus Jakarta Sans"/>
                        </a:rPr>
                        <a:t>Decimal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92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0F9FF"/>
                          </a:solidFill>
                          <a:latin typeface="Plus Jakarta Sans"/>
                        </a:rPr>
                        <a:t>Total Treatment Cost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3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0F0FF"/>
                          </a:solidFill>
                          <a:latin typeface="monospace"/>
                        </a:rPr>
                        <a:t>SUM([Treatment_Cost_USD])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3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7DD3FC"/>
                          </a:solidFill>
                          <a:latin typeface="Plus Jakarta Sans"/>
                        </a:rPr>
                        <a:t>Currency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322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F0FF"/>
                </a:solidFill>
                <a:latin typeface="Plus Jakarta Sans"/>
              </a:rPr>
              <a:t>CALCULATED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0F9FF"/>
                </a:solidFill>
                <a:latin typeface="Plus Jakarta Sans"/>
              </a:rPr>
              <a:t>Core Tableau Calculated Measures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18507"/>
            <a:ext cx="3505200" cy="2192387"/>
          </a:xfrm>
          <a:prstGeom prst="roundRect">
            <a:avLst>
              <a:gd name="adj" fmla="val 6951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18507"/>
            <a:ext cx="3505200" cy="2192387"/>
          </a:xfrm>
          <a:prstGeom prst="roundRect">
            <a:avLst>
              <a:gd name="adj" fmla="val 6951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18507"/>
            <a:ext cx="3505200" cy="2192387"/>
          </a:xfrm>
          <a:prstGeom prst="roundRect">
            <a:avLst>
              <a:gd name="adj" fmla="val 6951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F0FF"/>
                </a:solidFill>
                <a:latin typeface="Plus Jakarta Sans"/>
              </a:rPr>
              <a:t>DATA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0F9FF"/>
                </a:solidFill>
                <a:latin typeface="Plus Jakarta Sans"/>
              </a:rPr>
              <a:t>Key Operational Data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132832"/>
            <a:ext cx="3595687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0F0FF"/>
                </a:solidFill>
                <a:latin typeface="Plus Jakarta Sans"/>
              </a:rPr>
              <a:t>4.42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74243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0F9FF"/>
                </a:solidFill>
                <a:latin typeface="Plus Jakarta Sans"/>
              </a:rPr>
              <a:t>ALOS Variation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056757"/>
            <a:ext cx="29718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7DD3FC"/>
                </a:solidFill>
                <a:latin typeface="Plus Jakarta Sans"/>
              </a:rPr>
              <a:t>Meaningful length of stay variation across specialties isolates specific departmental bottlenecks.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132832"/>
            <a:ext cx="3595687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38BDF8"/>
                </a:solidFill>
                <a:latin typeface="Plus Jakarta Sans"/>
              </a:rPr>
              <a:t>12.01%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74243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0F9FF"/>
                </a:solidFill>
                <a:latin typeface="Plus Jakarta Sans"/>
              </a:rPr>
              <a:t>Readmission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4056757"/>
            <a:ext cx="29718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7DD3FC"/>
                </a:solidFill>
                <a:latin typeface="Plus Jakarta Sans"/>
              </a:rPr>
              <a:t>Provides a clear, trackable quality metric for evaluating future post-discharge care programs.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132832"/>
            <a:ext cx="3595687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60A5FA"/>
                </a:solidFill>
                <a:latin typeface="Plus Jakarta Sans"/>
              </a:rPr>
              <a:t>34.93%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4243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0F9FF"/>
                </a:solidFill>
                <a:latin typeface="Plus Jakarta Sans"/>
              </a:rPr>
              <a:t>Emergency Intake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056757"/>
            <a:ext cx="29718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7DD3FC"/>
                </a:solidFill>
                <a:latin typeface="Plus Jakarta Sans"/>
              </a:rPr>
              <a:t>High emergency volume highlights the need for dynamic bed and staffing planning.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06054"/>
            <a:ext cx="5391150" cy="1179016"/>
          </a:xfrm>
          <a:prstGeom prst="roundRect">
            <a:avLst>
              <a:gd name="adj" fmla="val 9694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006054"/>
            <a:ext cx="5391150" cy="1179016"/>
          </a:xfrm>
          <a:prstGeom prst="roundRect">
            <a:avLst>
              <a:gd name="adj" fmla="val 9694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06379"/>
            <a:ext cx="5391150" cy="1179016"/>
          </a:xfrm>
          <a:prstGeom prst="roundRect">
            <a:avLst>
              <a:gd name="adj" fmla="val 9694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4606379"/>
            <a:ext cx="5391150" cy="1179016"/>
          </a:xfrm>
          <a:prstGeom prst="roundRect">
            <a:avLst>
              <a:gd name="adj" fmla="val 9694"/>
            </a:avLst>
          </a:prstGeom>
          <a:solidFill>
            <a:srgbClr val="0B192C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282279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2282279"/>
            <a:ext cx="1333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882604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4882604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F0FF"/>
                </a:solidFill>
                <a:latin typeface="Plus Jakarta Sans"/>
              </a:rPr>
              <a:t>PROBLEM SOLVING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0F9FF"/>
                </a:solidFill>
                <a:latin typeface="Plus Jakarta Sans"/>
              </a:rPr>
              <a:t>Technical Challenges &amp; Solutions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244179"/>
            <a:ext cx="6450806" cy="21907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F0FF"/>
                </a:solidFill>
                <a:latin typeface="Plus Jakarta Sans"/>
              </a:rPr>
              <a:t>Multi-Table Relational Joins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520404"/>
            <a:ext cx="5010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7DD3FC"/>
                </a:solidFill>
                <a:latin typeface="Plus Jakarta Sans"/>
              </a:rPr>
              <a:t>Bed data linked only through intermediate ward tables. Resolved by routing joins through key paths.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2244179"/>
            <a:ext cx="5762625" cy="219075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F0FF"/>
                </a:solidFill>
                <a:latin typeface="Plus Jakarta Sans"/>
              </a:rPr>
              <a:t>Dimension Double-Counting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2520404"/>
            <a:ext cx="5010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7DD3FC"/>
                </a:solidFill>
                <a:latin typeface="Plus Jakarta Sans"/>
              </a:rPr>
              <a:t>Per-department totals overcounted at admission grain. Solved by aggregating from dimension tables.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844504"/>
            <a:ext cx="6450806" cy="21907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F0FF"/>
                </a:solidFill>
                <a:latin typeface="Plus Jakarta Sans"/>
              </a:rPr>
              <a:t>Normalization Edge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5120729"/>
            <a:ext cx="5010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7DD3FC"/>
                </a:solidFill>
                <a:latin typeface="Plus Jakarta Sans"/>
              </a:rPr>
              <a:t>0.000 efficiency scores caused by min-max bounds. Fixed via custom zero-score boundary handling.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4844504"/>
            <a:ext cx="5762625" cy="21907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F0FF"/>
                </a:solidFill>
                <a:latin typeface="Plus Jakarta Sans"/>
              </a:rPr>
              <a:t>Structural Null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5120729"/>
            <a:ext cx="50101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7DD3FC"/>
                </a:solidFill>
                <a:latin typeface="Plus Jakarta Sans"/>
              </a:rPr>
              <a:t>Conditional null fields threatened row deletion. Resolved by explicit flagging instead of dropping.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075682"/>
            <a:ext cx="2628900" cy="1678037"/>
          </a:xfrm>
          <a:prstGeom prst="rect">
            <a:avLst/>
          </a:prstGeom>
          <a:solidFill>
            <a:srgbClr val="0B1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90900" y="3075682"/>
            <a:ext cx="2628900" cy="1678037"/>
          </a:xfrm>
          <a:prstGeom prst="rect">
            <a:avLst/>
          </a:prstGeom>
          <a:solidFill>
            <a:srgbClr val="0B1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72200" y="3075682"/>
            <a:ext cx="2628900" cy="1678037"/>
          </a:xfrm>
          <a:prstGeom prst="rect">
            <a:avLst/>
          </a:prstGeom>
          <a:solidFill>
            <a:srgbClr val="0B1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53500" y="3075682"/>
            <a:ext cx="2628900" cy="1678037"/>
          </a:xfrm>
          <a:prstGeom prst="rect">
            <a:avLst/>
          </a:prstGeom>
          <a:solidFill>
            <a:srgbClr val="0B1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075682"/>
            <a:ext cx="2628900" cy="3810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90900" y="3075682"/>
            <a:ext cx="26289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3075682"/>
            <a:ext cx="2628900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53500" y="3075682"/>
            <a:ext cx="2628900" cy="381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F0FF"/>
                </a:solidFill>
                <a:latin typeface="Plus Jakarta Sans"/>
              </a:rP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0F9FF"/>
                </a:solidFill>
                <a:latin typeface="Plus Jakarta Sans"/>
              </a:rPr>
              <a:t>Project Roadmap &amp; Future Enhancements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342382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F0FF"/>
                </a:solidFill>
                <a:latin typeface="Plus Jakarta Sans"/>
              </a:rPr>
              <a:t>PHASE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590032"/>
            <a:ext cx="28503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0F9FF"/>
                </a:solidFill>
                <a:latin typeface="Plus Jakarta Sans"/>
              </a:rPr>
              <a:t>Financial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885307"/>
            <a:ext cx="226695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7DD3FC"/>
                </a:solidFill>
                <a:latin typeface="Plus Jakarta Sans"/>
              </a:rPr>
              <a:t>Add dedicated dashboard for treatment costs and insurance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500" y="3342382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PHASE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9500" y="3590032"/>
            <a:ext cx="28503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0F9FF"/>
                </a:solidFill>
                <a:latin typeface="Plus Jakarta Sans"/>
              </a:rPr>
              <a:t>Patient Funnel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500" y="3885307"/>
            <a:ext cx="226695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7DD3FC"/>
                </a:solidFill>
                <a:latin typeface="Plus Jakarta Sans"/>
              </a:rPr>
              <a:t>Introduce admission-to-discharge funnel and transfer heatmaps.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42382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Plus Jakarta Sans"/>
              </a:rPr>
              <a:t>PHASE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90032"/>
            <a:ext cx="28503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0F9FF"/>
                </a:solidFill>
                <a:latin typeface="Plus Jakarta Sans"/>
              </a:rPr>
              <a:t>Automated ETL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85307"/>
            <a:ext cx="226695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7DD3FC"/>
                </a:solidFill>
                <a:latin typeface="Plus Jakarta Sans"/>
              </a:rPr>
              <a:t>Schedule Python cleaning pipeline to refresh automatically on set intervals.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2100" y="3342382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18CF8"/>
                </a:solidFill>
                <a:latin typeface="Plus Jakarta Sans"/>
              </a:rPr>
              <a:t>PHASE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2100" y="3590032"/>
            <a:ext cx="28503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0F9FF"/>
                </a:solidFill>
                <a:latin typeface="Plus Jakarta Sans"/>
              </a:rPr>
              <a:t>Filter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3885307"/>
            <a:ext cx="226695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7DD3FC"/>
                </a:solidFill>
                <a:latin typeface="Plus Jakarta Sans"/>
              </a:rPr>
              <a:t>Enable cross-dashboard Tableau action filters for interactive drill-downs.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2337" y="4429125"/>
            <a:ext cx="5267325" cy="447675"/>
          </a:xfrm>
          <a:prstGeom prst="roundRect">
            <a:avLst>
              <a:gd name="adj" fmla="val 17021"/>
            </a:avLst>
          </a:prstGeom>
          <a:solidFill>
            <a:srgbClr val="0D253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81200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2" y="2152650"/>
            <a:ext cx="33337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5581" y="2819400"/>
            <a:ext cx="670083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0F9FF"/>
                </a:solidFill>
                <a:latin typeface="Space Grotesk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6468" y="3552825"/>
            <a:ext cx="773906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7DD3FC"/>
                </a:solidFill>
                <a:latin typeface="Plus Jakarta Sans"/>
              </a:rPr>
              <a:t>Thank you for your time. We welcome any questions regarding our data pipeline, KPI engineering, or Tableau dashboard suite.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0621" y="4543425"/>
            <a:ext cx="605075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F0FF"/>
                </a:solidFill>
                <a:latin typeface="Plus Jakarta Sans"/>
              </a:rPr>
              <a:t>MedTrack Hospital Analytics Defense • Python · Jupyter · Tableau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