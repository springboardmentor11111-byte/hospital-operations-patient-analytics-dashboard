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Alice" panose="020B0604020202020204" charset="0"/>
      <p:regular r:id="rId15"/>
    </p:embeddedFont>
    <p:embeddedFont>
      <p:font typeface="Fraunces ExtraBold" panose="020B0604020202020204" charset="0"/>
      <p:regular r:id="rId16"/>
    </p:embeddedFont>
    <p:embeddedFont>
      <p:font typeface="Glacial Indifference" panose="020B0604020202020204" charset="0"/>
      <p:regular r:id="rId17"/>
    </p:embeddedFont>
    <p:embeddedFont>
      <p:font typeface="Glacial Indifference Bold" panose="020B0604020202020204" charset="0"/>
      <p:regular r:id="rId18"/>
    </p:embeddedFont>
    <p:embeddedFont>
      <p:font typeface="Nobile" panose="020B0604020202020204" charset="0"/>
      <p:regular r:id="rId19"/>
    </p:embeddedFont>
    <p:embeddedFont>
      <p:font typeface="Open Sans" panose="020B0606030504020204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 varScale="1">
        <p:scale>
          <a:sx n="35" d="100"/>
          <a:sy n="35" d="100"/>
        </p:scale>
        <p:origin x="129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17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.sv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svg"/><Relationship Id="rId7" Type="http://schemas.openxmlformats.org/officeDocument/2006/relationships/image" Target="../media/image17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.svg"/><Relationship Id="rId4" Type="http://schemas.openxmlformats.org/officeDocument/2006/relationships/image" Target="../media/image15.jpe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982806">
            <a:off x="720300" y="6421716"/>
            <a:ext cx="8842272" cy="11861584"/>
          </a:xfrm>
          <a:custGeom>
            <a:avLst/>
            <a:gdLst/>
            <a:ahLst/>
            <a:cxnLst/>
            <a:rect l="l" t="t" r="r" b="b"/>
            <a:pathLst>
              <a:path w="8842272" h="11861584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6501204">
            <a:off x="11046831" y="-5088864"/>
            <a:ext cx="8807178" cy="11814508"/>
          </a:xfrm>
          <a:custGeom>
            <a:avLst/>
            <a:gdLst/>
            <a:ahLst/>
            <a:cxnLst/>
            <a:rect l="l" t="t" r="r" b="b"/>
            <a:pathLst>
              <a:path w="8807178" h="1181450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10571821">
            <a:off x="10628437" y="8363453"/>
            <a:ext cx="5947318" cy="7978109"/>
          </a:xfrm>
          <a:custGeom>
            <a:avLst/>
            <a:gdLst/>
            <a:ahLst/>
            <a:cxnLst/>
            <a:rect l="l" t="t" r="r" b="b"/>
            <a:pathLst>
              <a:path w="5947318" h="7978109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-5114765">
            <a:off x="11561828" y="5146485"/>
            <a:ext cx="8542938" cy="7393525"/>
          </a:xfrm>
          <a:custGeom>
            <a:avLst/>
            <a:gdLst/>
            <a:ahLst/>
            <a:cxnLst/>
            <a:rect l="l" t="t" r="r" b="b"/>
            <a:pathLst>
              <a:path w="8542938" h="7393525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058328">
            <a:off x="13255544" y="-4131370"/>
            <a:ext cx="7156478" cy="6935278"/>
          </a:xfrm>
          <a:custGeom>
            <a:avLst/>
            <a:gdLst/>
            <a:ahLst/>
            <a:cxnLst/>
            <a:rect l="l" t="t" r="r" b="b"/>
            <a:pathLst>
              <a:path w="7156478" h="69352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3318101">
            <a:off x="-3880130" y="6803731"/>
            <a:ext cx="10117864" cy="10062676"/>
          </a:xfrm>
          <a:custGeom>
            <a:avLst/>
            <a:gdLst/>
            <a:ahLst/>
            <a:cxnLst/>
            <a:rect l="l" t="t" r="r" b="b"/>
            <a:pathLst>
              <a:path w="10117864" h="10062676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6800871">
            <a:off x="-1846725" y="-2878373"/>
            <a:ext cx="8542938" cy="7393525"/>
          </a:xfrm>
          <a:custGeom>
            <a:avLst/>
            <a:gdLst/>
            <a:ahLst/>
            <a:cxnLst/>
            <a:rect l="l" t="t" r="r" b="b"/>
            <a:pathLst>
              <a:path w="8542938" h="7393525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2212616" y="6405190"/>
            <a:ext cx="12992100" cy="68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8"/>
              </a:lnSpc>
              <a:spcBef>
                <a:spcPct val="0"/>
              </a:spcBef>
            </a:pPr>
            <a:r>
              <a:rPr lang="en-US" sz="3934" spc="8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Project Journey: Milestone 1 → Milestone 2 → Milestone 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55890" y="4542706"/>
            <a:ext cx="11962189" cy="154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1" spc="413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HOSPITAL OPERATIONS &amp; ANALYTICS DASHBOARD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72807" y="3098051"/>
            <a:ext cx="7142385" cy="125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25"/>
              </a:lnSpc>
              <a:spcBef>
                <a:spcPct val="0"/>
              </a:spcBef>
            </a:pPr>
            <a:r>
              <a:rPr lang="en-US" sz="7375" spc="6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MEDTRACK DV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6947" y="4364203"/>
            <a:ext cx="5141050" cy="4238108"/>
            <a:chOff x="0" y="0"/>
            <a:chExt cx="812800" cy="6700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75103" y="4364203"/>
            <a:ext cx="5141050" cy="4238108"/>
            <a:chOff x="0" y="0"/>
            <a:chExt cx="812800" cy="6700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40003" y="4364203"/>
            <a:ext cx="5141050" cy="4238108"/>
            <a:chOff x="0" y="0"/>
            <a:chExt cx="812800" cy="6700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919241" y="1881281"/>
            <a:ext cx="8449518" cy="95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1"/>
              </a:lnSpc>
            </a:pPr>
            <a:r>
              <a:rPr lang="en-US" sz="5622" b="1" spc="52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5110" y="4836772"/>
            <a:ext cx="4384724" cy="67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b="1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53266" y="4836772"/>
            <a:ext cx="4384724" cy="67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b="1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18166" y="4836772"/>
            <a:ext cx="4384724" cy="67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b="1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73248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41405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06305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5766" y="5974636"/>
            <a:ext cx="4563411" cy="1471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8"/>
              </a:lnSpc>
            </a:pPr>
            <a:r>
              <a:rPr lang="en-US" sz="2805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</a:t>
            </a:r>
            <a:r>
              <a:rPr lang="en-US" sz="2805" u="none" strike="noStrike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itial project work,        data understanding and preparation.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63922" y="5944741"/>
            <a:ext cx="4563411" cy="976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8"/>
              </a:lnSpc>
            </a:pPr>
            <a:r>
              <a:rPr lang="en-US" sz="2805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</a:t>
            </a:r>
            <a:r>
              <a:rPr lang="en-US" sz="2805" u="none" strike="noStrike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urther data analysis and dashboard development.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28823" y="5974636"/>
            <a:ext cx="4563411" cy="14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</a:pPr>
            <a:r>
              <a:rPr lang="en-US" sz="2705" spc="5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2705" u="none" strike="noStrike" spc="5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mprovement and completion of an interactive multi-dashboard Power BI solution.</a:t>
            </a:r>
          </a:p>
        </p:txBody>
      </p:sp>
      <p:sp>
        <p:nvSpPr>
          <p:cNvPr id="21" name="AutoShape 21"/>
          <p:cNvSpPr/>
          <p:nvPr/>
        </p:nvSpPr>
        <p:spPr>
          <a:xfrm flipV="1">
            <a:off x="1311213" y="5754241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V="1">
            <a:off x="6779369" y="5754241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flipV="1">
            <a:off x="12244269" y="5754241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16321534" y="-285545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17304767" y="854768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0" y="9258300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-937766" y="8402769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 rot="672866">
            <a:off x="-1045588" y="-1783519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-10799999">
            <a:off x="12715117" y="758304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F9CAE-F8ED-EDF0-F5F8-AAA08EE0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EA0D7B-23D8-70CF-682B-23ED12D04F61}"/>
              </a:ext>
            </a:extLst>
          </p:cNvPr>
          <p:cNvSpPr/>
          <p:nvPr/>
        </p:nvSpPr>
        <p:spPr>
          <a:xfrm>
            <a:off x="-290950" y="-2033784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B7C389E-96A5-404D-BF95-FAE8CEBBC371}"/>
              </a:ext>
            </a:extLst>
          </p:cNvPr>
          <p:cNvSpPr/>
          <p:nvPr/>
        </p:nvSpPr>
        <p:spPr>
          <a:xfrm rot="-10151301">
            <a:off x="11164674" y="6546853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98E2154-2011-EFC7-72EF-3CD764C12C52}"/>
              </a:ext>
            </a:extLst>
          </p:cNvPr>
          <p:cNvGrpSpPr/>
          <p:nvPr/>
        </p:nvGrpSpPr>
        <p:grpSpPr>
          <a:xfrm>
            <a:off x="12049224" y="2612760"/>
            <a:ext cx="4474715" cy="5860641"/>
            <a:chOff x="0" y="0"/>
            <a:chExt cx="997323" cy="93298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09B4DB9-048C-48C8-1350-15A241079491}"/>
                </a:ext>
              </a:extLst>
            </p:cNvPr>
            <p:cNvSpPr/>
            <p:nvPr/>
          </p:nvSpPr>
          <p:spPr>
            <a:xfrm>
              <a:off x="0" y="0"/>
              <a:ext cx="997323" cy="932983"/>
            </a:xfrm>
            <a:custGeom>
              <a:avLst/>
              <a:gdLst/>
              <a:ahLst/>
              <a:cxnLst/>
              <a:rect l="l" t="t" r="r" b="b"/>
              <a:pathLst>
                <a:path w="997323" h="93298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43EE7F0-92D8-E808-BC19-9851360BC309}"/>
                </a:ext>
              </a:extLst>
            </p:cNvPr>
            <p:cNvSpPr txBox="1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31011680-168C-6CC2-2184-A05FD1D2A984}"/>
              </a:ext>
            </a:extLst>
          </p:cNvPr>
          <p:cNvSpPr txBox="1"/>
          <p:nvPr/>
        </p:nvSpPr>
        <p:spPr>
          <a:xfrm>
            <a:off x="6400800" y="380524"/>
            <a:ext cx="10858500" cy="1095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199"/>
              </a:lnSpc>
            </a:pPr>
            <a:r>
              <a:rPr lang="en-US" sz="6571" b="1" spc="617" dirty="0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DATASETS COLLECTED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EB54E93-1708-D0D8-6D3D-2BF5CF94D371}"/>
              </a:ext>
            </a:extLst>
          </p:cNvPr>
          <p:cNvSpPr/>
          <p:nvPr/>
        </p:nvSpPr>
        <p:spPr>
          <a:xfrm rot="-10800000">
            <a:off x="12039600" y="2612760"/>
            <a:ext cx="4474715" cy="1033825"/>
          </a:xfrm>
          <a:custGeom>
            <a:avLst/>
            <a:gdLst/>
            <a:ahLst/>
            <a:cxnLst/>
            <a:rect l="l" t="t" r="r" b="b"/>
            <a:pathLst>
              <a:path w="4474715" h="103382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73620"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81D4254-7851-5371-CF47-B37D309E1F5E}"/>
              </a:ext>
            </a:extLst>
          </p:cNvPr>
          <p:cNvSpPr txBox="1"/>
          <p:nvPr/>
        </p:nvSpPr>
        <p:spPr>
          <a:xfrm>
            <a:off x="12518570" y="2933700"/>
            <a:ext cx="3709067" cy="92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Eight datasets</a:t>
            </a:r>
            <a:endParaRPr lang="en-US" sz="3600" dirty="0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lnSpc>
                <a:spcPts val="3688"/>
              </a:lnSpc>
            </a:pPr>
            <a:endParaRPr lang="en-US" sz="2800" dirty="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FC059AE-64C1-8FDB-7E22-7E2E17B49DE8}"/>
              </a:ext>
            </a:extLst>
          </p:cNvPr>
          <p:cNvSpPr txBox="1"/>
          <p:nvPr/>
        </p:nvSpPr>
        <p:spPr>
          <a:xfrm>
            <a:off x="12518571" y="3706418"/>
            <a:ext cx="3898551" cy="504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Information</a:t>
            </a:r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Admissions</a:t>
            </a:r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Doctors</a:t>
            </a:r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Departments</a:t>
            </a:r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Billing</a:t>
            </a:r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Surgeries</a:t>
            </a:r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Medications</a:t>
            </a:r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Laboratory Results</a:t>
            </a:r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algn="l">
              <a:lnSpc>
                <a:spcPts val="3756"/>
              </a:lnSpc>
            </a:pPr>
            <a:endParaRPr lang="en-US" sz="2800" u="none" strike="noStrike" spc="59" dirty="0">
              <a:solidFill>
                <a:schemeClr val="accent6">
                  <a:lumMod val="20000"/>
                  <a:lumOff val="80000"/>
                </a:schemeClr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A91349-3A34-5442-0121-405097984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943100"/>
            <a:ext cx="8937655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3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01515" y="0"/>
            <a:ext cx="7486485" cy="10287000"/>
          </a:xfrm>
          <a:custGeom>
            <a:avLst/>
            <a:gdLst/>
            <a:ahLst/>
            <a:cxnLst/>
            <a:rect l="l" t="t" r="r" b="b"/>
            <a:pathLst>
              <a:path w="7486485" h="10287000">
                <a:moveTo>
                  <a:pt x="0" y="0"/>
                </a:moveTo>
                <a:lnTo>
                  <a:pt x="7486485" y="0"/>
                </a:lnTo>
                <a:lnTo>
                  <a:pt x="74864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920" r="-12230" b="-12671"/>
            </a:stretch>
          </a:blipFill>
        </p:spPr>
      </p:sp>
      <p:sp>
        <p:nvSpPr>
          <p:cNvPr id="3" name="Freeform 3"/>
          <p:cNvSpPr/>
          <p:nvPr/>
        </p:nvSpPr>
        <p:spPr>
          <a:xfrm rot="-445925">
            <a:off x="3142738" y="-487580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8798399">
            <a:off x="8466276" y="-959053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3283157">
            <a:off x="-1501206" y="7329841"/>
            <a:ext cx="5624862" cy="7545546"/>
          </a:xfrm>
          <a:custGeom>
            <a:avLst/>
            <a:gdLst/>
            <a:ahLst/>
            <a:cxnLst/>
            <a:rect l="l" t="t" r="r" b="b"/>
            <a:pathLst>
              <a:path w="5624862" h="7545546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59983" y="1120545"/>
            <a:ext cx="8324690" cy="116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8"/>
              </a:lnSpc>
              <a:spcBef>
                <a:spcPct val="0"/>
              </a:spcBef>
            </a:pPr>
            <a:r>
              <a:rPr lang="en-US" sz="6827" b="1" spc="64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sz="6827" b="1" u="none" strike="noStrike" spc="64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ILESTONE 1</a:t>
            </a:r>
          </a:p>
        </p:txBody>
      </p:sp>
      <p:sp>
        <p:nvSpPr>
          <p:cNvPr id="7" name="Freeform 7"/>
          <p:cNvSpPr/>
          <p:nvPr/>
        </p:nvSpPr>
        <p:spPr>
          <a:xfrm rot="2770156">
            <a:off x="-2577184" y="-2165857"/>
            <a:ext cx="5154368" cy="4995052"/>
          </a:xfrm>
          <a:custGeom>
            <a:avLst/>
            <a:gdLst/>
            <a:ahLst/>
            <a:cxnLst/>
            <a:rect l="l" t="t" r="r" b="b"/>
            <a:pathLst>
              <a:path w="5154368" h="4995052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2770156">
            <a:off x="15710816" y="8522875"/>
            <a:ext cx="5154368" cy="4995052"/>
          </a:xfrm>
          <a:custGeom>
            <a:avLst/>
            <a:gdLst/>
            <a:ahLst/>
            <a:cxnLst/>
            <a:rect l="l" t="t" r="r" b="b"/>
            <a:pathLst>
              <a:path w="5154368" h="4995052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2186580" y="657330"/>
            <a:ext cx="5762478" cy="9376232"/>
          </a:xfrm>
          <a:custGeom>
            <a:avLst/>
            <a:gdLst/>
            <a:ahLst/>
            <a:cxnLst/>
            <a:rect l="l" t="t" r="r" b="b"/>
            <a:pathLst>
              <a:path w="5762478" h="9376232">
                <a:moveTo>
                  <a:pt x="0" y="0"/>
                </a:moveTo>
                <a:lnTo>
                  <a:pt x="5762478" y="0"/>
                </a:lnTo>
                <a:lnTo>
                  <a:pt x="5762478" y="9376232"/>
                </a:lnTo>
                <a:lnTo>
                  <a:pt x="0" y="9376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237" r="-4237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59983" y="4415628"/>
            <a:ext cx="7510737" cy="51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</a:t>
            </a: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work included :-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9983" y="5107352"/>
            <a:ext cx="8487694" cy="4233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</a:t>
            </a: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oring the available dataset and its features.</a:t>
            </a:r>
          </a:p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Checking the dataset structure and data types.</a:t>
            </a:r>
          </a:p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Checking for missing values.</a:t>
            </a:r>
          </a:p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Performing data cleaning.</a:t>
            </a:r>
          </a:p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Preparing the dataset for further analysis.</a:t>
            </a:r>
          </a:p>
          <a:p>
            <a:pPr algn="l">
              <a:lnSpc>
                <a:spcPts val="4192"/>
              </a:lnSpc>
            </a:pPr>
            <a:endParaRPr lang="en-US" sz="2994" u="none" strike="noStrike" spc="65">
              <a:solidFill>
                <a:srgbClr val="15254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59983" y="2563412"/>
            <a:ext cx="6954525" cy="60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2"/>
              </a:lnSpc>
            </a:pPr>
            <a:r>
              <a:rPr lang="en-US" sz="3552" spc="33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Preparation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9983" y="3192391"/>
            <a:ext cx="9633740" cy="104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During th</a:t>
            </a: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initial stage, the focus was on understanding and preparing the hospital dataset for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45925">
            <a:off x="2936074" y="-788182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8798399">
            <a:off x="8466276" y="-959053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3283157">
            <a:off x="-1501206" y="7329841"/>
            <a:ext cx="5624862" cy="7545546"/>
          </a:xfrm>
          <a:custGeom>
            <a:avLst/>
            <a:gdLst/>
            <a:ahLst/>
            <a:cxnLst/>
            <a:rect l="l" t="t" r="r" b="b"/>
            <a:pathLst>
              <a:path w="5624862" h="7545546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2770156">
            <a:off x="-2577184" y="-2165857"/>
            <a:ext cx="5154368" cy="4995052"/>
          </a:xfrm>
          <a:custGeom>
            <a:avLst/>
            <a:gdLst/>
            <a:ahLst/>
            <a:cxnLst/>
            <a:rect l="l" t="t" r="r" b="b"/>
            <a:pathLst>
              <a:path w="5154368" h="4995052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2770156">
            <a:off x="15710816" y="8522875"/>
            <a:ext cx="5154368" cy="4995052"/>
          </a:xfrm>
          <a:custGeom>
            <a:avLst/>
            <a:gdLst/>
            <a:ahLst/>
            <a:cxnLst/>
            <a:rect l="l" t="t" r="r" b="b"/>
            <a:pathLst>
              <a:path w="5154368" h="4995052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633263" y="3930876"/>
            <a:ext cx="7510737" cy="51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</a:t>
            </a: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main activities included: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3263" y="4643503"/>
            <a:ext cx="8487694" cy="476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Identify</a:t>
            </a: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 missing values.</a:t>
            </a:r>
          </a:p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Handling data quality issues where required.</a:t>
            </a:r>
          </a:p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Checking the data before further analysis.</a:t>
            </a:r>
          </a:p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Preparing the data for visualization.</a:t>
            </a:r>
          </a:p>
          <a:p>
            <a:pPr algn="l">
              <a:lnSpc>
                <a:spcPts val="4192"/>
              </a:lnSpc>
            </a:pPr>
            <a:endParaRPr lang="en-US" sz="2994" u="none" strike="noStrike" spc="65">
              <a:solidFill>
                <a:srgbClr val="15254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192"/>
              </a:lnSpc>
            </a:pP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Tools used:</a:t>
            </a:r>
          </a:p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Pandas</a:t>
            </a:r>
          </a:p>
          <a:p>
            <a:pPr marL="646512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NumPy</a:t>
            </a:r>
          </a:p>
          <a:p>
            <a:pPr algn="l">
              <a:lnSpc>
                <a:spcPts val="4192"/>
              </a:lnSpc>
            </a:pPr>
            <a:endParaRPr lang="en-US" sz="2994" u="none" strike="noStrike" spc="65">
              <a:solidFill>
                <a:srgbClr val="15254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93512" y="1678642"/>
            <a:ext cx="7932159" cy="5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394" b="1" spc="319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Cleaning Process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59983" y="2462990"/>
            <a:ext cx="14347316" cy="104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</a:t>
            </a:r>
            <a:r>
              <a:rPr lang="en-US" sz="2994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dataset was checked and prepared before moving to analysis and dashboard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501204">
            <a:off x="-4899086" y="-8147683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8798399">
            <a:off x="11434890" y="2417332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10301337">
            <a:off x="9883234" y="-2150579"/>
            <a:ext cx="12901483" cy="11165647"/>
          </a:xfrm>
          <a:custGeom>
            <a:avLst/>
            <a:gdLst/>
            <a:ahLst/>
            <a:cxnLst/>
            <a:rect l="l" t="t" r="r" b="b"/>
            <a:pathLst>
              <a:path w="12901483" h="11165647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58160">
            <a:off x="-3775194" y="6616870"/>
            <a:ext cx="8481393" cy="7340260"/>
          </a:xfrm>
          <a:custGeom>
            <a:avLst/>
            <a:gdLst/>
            <a:ahLst/>
            <a:cxnLst/>
            <a:rect l="l" t="t" r="r" b="b"/>
            <a:pathLst>
              <a:path w="8481393" h="7340260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2344704" y="942975"/>
            <a:ext cx="6431298" cy="71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3"/>
              </a:lnSpc>
            </a:pPr>
            <a:r>
              <a:rPr lang="en-US" sz="4159" b="1" spc="39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FEATURE ENGINEERING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44704" y="2971654"/>
            <a:ext cx="11140815" cy="569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</a:pPr>
            <a:endParaRPr/>
          </a:p>
          <a:p>
            <a:pPr marL="637473" lvl="1" indent="-318736" algn="l">
              <a:lnSpc>
                <a:spcPts val="4133"/>
              </a:lnSpc>
              <a:buFont typeface="Arial"/>
              <a:buChar char="•"/>
            </a:pPr>
            <a:r>
              <a:rPr lang="en-US" sz="2952" spc="6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Admission_Day</a:t>
            </a:r>
          </a:p>
          <a:p>
            <a:pPr marL="637473" lvl="1" indent="-318736" algn="l">
              <a:lnSpc>
                <a:spcPts val="4133"/>
              </a:lnSpc>
              <a:buFont typeface="Arial"/>
              <a:buChar char="•"/>
            </a:pPr>
            <a:r>
              <a:rPr lang="en-US" sz="2952" spc="6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Admi</a:t>
            </a:r>
            <a:r>
              <a:rPr lang="en-US" sz="2952" u="none" strike="noStrike" spc="6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ssion_Month</a:t>
            </a:r>
          </a:p>
          <a:p>
            <a:pPr marL="637473" lvl="1" indent="-318736" algn="l">
              <a:lnSpc>
                <a:spcPts val="4133"/>
              </a:lnSpc>
              <a:buFont typeface="Arial"/>
              <a:buChar char="•"/>
            </a:pPr>
            <a:r>
              <a:rPr lang="en-US" sz="2952" u="none" strike="noStrike" spc="6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Admission_Month_No</a:t>
            </a:r>
          </a:p>
          <a:p>
            <a:pPr marL="637473" lvl="1" indent="-318736" algn="l">
              <a:lnSpc>
                <a:spcPts val="4133"/>
              </a:lnSpc>
              <a:buFont typeface="Arial"/>
              <a:buChar char="•"/>
            </a:pPr>
            <a:r>
              <a:rPr lang="en-US" sz="2952" u="none" strike="noStrike" spc="6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Admission_Quarter</a:t>
            </a:r>
          </a:p>
          <a:p>
            <a:pPr marL="637473" lvl="1" indent="-318736" algn="l">
              <a:lnSpc>
                <a:spcPts val="4133"/>
              </a:lnSpc>
              <a:buFont typeface="Arial"/>
              <a:buChar char="•"/>
            </a:pPr>
            <a:r>
              <a:rPr lang="en-US" sz="2952" u="none" strike="noStrike" spc="6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Admission_Year</a:t>
            </a:r>
          </a:p>
          <a:p>
            <a:pPr marL="637473" lvl="1" indent="-318736" algn="l">
              <a:lnSpc>
                <a:spcPts val="4133"/>
              </a:lnSpc>
              <a:buFont typeface="Arial"/>
              <a:buChar char="•"/>
            </a:pPr>
            <a:r>
              <a:rPr lang="en-US" sz="2952" u="none" strike="noStrike" spc="6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Age_Group</a:t>
            </a:r>
          </a:p>
          <a:p>
            <a:pPr marL="637473" lvl="1" indent="-318736" algn="l">
              <a:lnSpc>
                <a:spcPts val="4133"/>
              </a:lnSpc>
              <a:buFont typeface="Arial"/>
              <a:buChar char="•"/>
            </a:pPr>
            <a:r>
              <a:rPr lang="en-US" sz="2952" u="none" strike="noStrike" spc="6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Weekend_Admission</a:t>
            </a:r>
          </a:p>
          <a:p>
            <a:pPr marL="637473" lvl="1" indent="-318736" algn="l">
              <a:lnSpc>
                <a:spcPts val="4133"/>
              </a:lnSpc>
              <a:buFont typeface="Arial"/>
              <a:buChar char="•"/>
            </a:pPr>
            <a:r>
              <a:rPr lang="en-US" sz="2952" u="none" strike="noStrike" spc="6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Stay_Category</a:t>
            </a:r>
          </a:p>
          <a:p>
            <a:pPr algn="l">
              <a:lnSpc>
                <a:spcPts val="4133"/>
              </a:lnSpc>
            </a:pPr>
            <a:endParaRPr lang="en-US" sz="2952" u="none" strike="noStrike" spc="64">
              <a:solidFill>
                <a:srgbClr val="15254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3713"/>
              </a:lnSpc>
            </a:pPr>
            <a:r>
              <a:rPr lang="en-US" sz="2652" u="none" strike="noStrike" spc="5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These features helped in analyzing the data from different perspectives.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44704" y="1950525"/>
            <a:ext cx="9418415" cy="96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1"/>
              </a:lnSpc>
              <a:spcBef>
                <a:spcPct val="0"/>
              </a:spcBef>
            </a:pPr>
            <a:r>
              <a:rPr lang="en-US" sz="3169">
                <a:solidFill>
                  <a:srgbClr val="152540"/>
                </a:solidFill>
                <a:latin typeface="Alice"/>
                <a:ea typeface="Alice"/>
                <a:cs typeface="Alice"/>
                <a:sym typeface="Alice"/>
              </a:rPr>
              <a:t>Additional features were created to support better analysis and visualization.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2873" y="3028804"/>
            <a:ext cx="9418415" cy="40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6"/>
              </a:lnSpc>
              <a:spcBef>
                <a:spcPct val="0"/>
              </a:spcBef>
            </a:pPr>
            <a:r>
              <a:rPr lang="en-US" sz="2669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Examples of features used in the project include:-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96701" y="3971697"/>
            <a:ext cx="8307816" cy="426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sz="3054" spc="6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</a:t>
            </a:r>
            <a:r>
              <a:rPr lang="en-US" sz="3054" u="none" strike="noStrike" spc="6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dashboard work focused on:</a:t>
            </a:r>
          </a:p>
          <a:p>
            <a:pPr marL="659548" lvl="1" indent="-329774" algn="l">
              <a:lnSpc>
                <a:spcPts val="4276"/>
              </a:lnSpc>
              <a:buFont typeface="Arial"/>
              <a:buChar char="•"/>
            </a:pPr>
            <a:r>
              <a:rPr lang="en-US" sz="3054" u="none" strike="noStrike" spc="6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Creating KPI cards.</a:t>
            </a:r>
          </a:p>
          <a:p>
            <a:pPr marL="659548" lvl="1" indent="-329774" algn="l">
              <a:lnSpc>
                <a:spcPts val="4276"/>
              </a:lnSpc>
              <a:buFont typeface="Arial"/>
              <a:buChar char="•"/>
            </a:pPr>
            <a:r>
              <a:rPr lang="en-US" sz="3054" u="none" strike="noStrike" spc="6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Adding charts for hospital analysis.</a:t>
            </a:r>
          </a:p>
          <a:p>
            <a:pPr marL="659548" lvl="1" indent="-329774" algn="l">
              <a:lnSpc>
                <a:spcPts val="4276"/>
              </a:lnSpc>
              <a:buFont typeface="Arial"/>
              <a:buChar char="•"/>
            </a:pPr>
            <a:r>
              <a:rPr lang="en-US" sz="3054" u="none" strike="noStrike" spc="6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Using filters and slicers.</a:t>
            </a:r>
          </a:p>
          <a:p>
            <a:pPr marL="659548" lvl="1" indent="-329774" algn="l">
              <a:lnSpc>
                <a:spcPts val="4276"/>
              </a:lnSpc>
              <a:buFont typeface="Arial"/>
              <a:buChar char="•"/>
            </a:pPr>
            <a:r>
              <a:rPr lang="en-US" sz="3054" u="none" strike="noStrike" spc="6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Analyzing admissions, departments, diagnosis, revenue, and other available hospital metrics.</a:t>
            </a:r>
          </a:p>
          <a:p>
            <a:pPr algn="l">
              <a:lnSpc>
                <a:spcPts val="3856"/>
              </a:lnSpc>
            </a:pPr>
            <a:endParaRPr lang="en-US" sz="3054" u="none" strike="noStrike" spc="67">
              <a:solidFill>
                <a:srgbClr val="15254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04222" y="827559"/>
            <a:ext cx="9623188" cy="151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1"/>
              </a:lnSpc>
            </a:pPr>
            <a:r>
              <a:rPr lang="en-US" sz="4287" b="1" spc="402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2 – DASHBOARD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04222" y="2581369"/>
            <a:ext cx="9581692" cy="913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608" spc="24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 Milestone 2, the prepared data was used to develop Power BI dashboards.</a:t>
            </a:r>
          </a:p>
        </p:txBody>
      </p:sp>
      <p:sp>
        <p:nvSpPr>
          <p:cNvPr id="5" name="Freeform 5"/>
          <p:cNvSpPr/>
          <p:nvPr/>
        </p:nvSpPr>
        <p:spPr>
          <a:xfrm rot="-6399961">
            <a:off x="11329998" y="-1574727"/>
            <a:ext cx="13805122" cy="17698875"/>
          </a:xfrm>
          <a:custGeom>
            <a:avLst/>
            <a:gdLst/>
            <a:ahLst/>
            <a:cxnLst/>
            <a:rect l="l" t="t" r="r" b="b"/>
            <a:pathLst>
              <a:path w="13805122" h="17698875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AutoShape 6"/>
          <p:cNvSpPr/>
          <p:nvPr/>
        </p:nvSpPr>
        <p:spPr>
          <a:xfrm flipV="1">
            <a:off x="2835837" y="4028847"/>
            <a:ext cx="0" cy="1470758"/>
          </a:xfrm>
          <a:prstGeom prst="line">
            <a:avLst/>
          </a:prstGeom>
          <a:ln w="152400" cap="flat">
            <a:solidFill>
              <a:srgbClr val="E3D8D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H="1" flipV="1">
            <a:off x="2835837" y="5752428"/>
            <a:ext cx="0" cy="1470758"/>
          </a:xfrm>
          <a:prstGeom prst="line">
            <a:avLst/>
          </a:prstGeom>
          <a:ln w="152400" cap="flat">
            <a:solidFill>
              <a:srgbClr val="E3D8D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5572246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7259300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659918">
            <a:off x="-364558" y="-3925046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1613136" y="1630363"/>
            <a:ext cx="5541950" cy="7031334"/>
          </a:xfrm>
          <a:custGeom>
            <a:avLst/>
            <a:gdLst/>
            <a:ahLst/>
            <a:cxnLst/>
            <a:rect l="l" t="t" r="r" b="b"/>
            <a:pathLst>
              <a:path w="5541950" h="7031334">
                <a:moveTo>
                  <a:pt x="0" y="0"/>
                </a:moveTo>
                <a:lnTo>
                  <a:pt x="5541950" y="0"/>
                </a:lnTo>
                <a:lnTo>
                  <a:pt x="5541950" y="7031334"/>
                </a:lnTo>
                <a:lnTo>
                  <a:pt x="0" y="70313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96" b="-696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98399">
            <a:off x="13156923" y="1016610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8798399">
            <a:off x="-2994864" y="-864598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961243">
            <a:off x="12217193" y="-3026777"/>
            <a:ext cx="10084214" cy="8727429"/>
          </a:xfrm>
          <a:custGeom>
            <a:avLst/>
            <a:gdLst/>
            <a:ahLst/>
            <a:cxnLst/>
            <a:rect l="l" t="t" r="r" b="b"/>
            <a:pathLst>
              <a:path w="10084214" h="8727429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-976001">
            <a:off x="-4614341" y="5979010"/>
            <a:ext cx="9228681" cy="7987004"/>
          </a:xfrm>
          <a:custGeom>
            <a:avLst/>
            <a:gdLst/>
            <a:ahLst/>
            <a:cxnLst/>
            <a:rect l="l" t="t" r="r" b="b"/>
            <a:pathLst>
              <a:path w="9228681" h="7987004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0532841" y="1930652"/>
            <a:ext cx="5534995" cy="7153847"/>
          </a:xfrm>
          <a:custGeom>
            <a:avLst/>
            <a:gdLst/>
            <a:ahLst/>
            <a:cxnLst/>
            <a:rect l="l" t="t" r="r" b="b"/>
            <a:pathLst>
              <a:path w="5534995" h="7153847">
                <a:moveTo>
                  <a:pt x="0" y="0"/>
                </a:moveTo>
                <a:lnTo>
                  <a:pt x="5534995" y="0"/>
                </a:lnTo>
                <a:lnTo>
                  <a:pt x="5534995" y="7153847"/>
                </a:lnTo>
                <a:lnTo>
                  <a:pt x="0" y="7153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" r="-21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806827"/>
            <a:ext cx="8324690" cy="108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58"/>
              </a:lnSpc>
            </a:pPr>
            <a:r>
              <a:rPr lang="en-US" sz="6327" b="1" spc="59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8504" y="4228832"/>
            <a:ext cx="5522143" cy="398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3254" b="1" spc="13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Power BI report included interactive elements such as:</a:t>
            </a:r>
          </a:p>
          <a:p>
            <a:pPr marL="702607" lvl="1" indent="-351304" algn="ctr">
              <a:lnSpc>
                <a:spcPts val="4556"/>
              </a:lnSpc>
              <a:buFont typeface="Arial"/>
              <a:buChar char="•"/>
            </a:pPr>
            <a:r>
              <a:rPr lang="en-US" sz="3254" b="1" spc="13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Department filters</a:t>
            </a:r>
          </a:p>
          <a:p>
            <a:pPr marL="702607" lvl="1" indent="-351304" algn="ctr">
              <a:lnSpc>
                <a:spcPts val="4556"/>
              </a:lnSpc>
              <a:buFont typeface="Arial"/>
              <a:buChar char="•"/>
            </a:pPr>
            <a:r>
              <a:rPr lang="en-US" sz="3254" b="1" spc="13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Diagnosis filters</a:t>
            </a:r>
          </a:p>
          <a:p>
            <a:pPr marL="702607" lvl="1" indent="-351304" algn="ctr">
              <a:lnSpc>
                <a:spcPts val="4556"/>
              </a:lnSpc>
              <a:buFont typeface="Arial"/>
              <a:buChar char="•"/>
            </a:pPr>
            <a:r>
              <a:rPr lang="en-US" sz="3254" b="1" spc="13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Admission Date filters</a:t>
            </a:r>
          </a:p>
          <a:p>
            <a:pPr algn="ctr">
              <a:lnSpc>
                <a:spcPts val="4556"/>
              </a:lnSpc>
            </a:pPr>
            <a:endParaRPr lang="en-US" sz="3254" b="1" spc="136">
              <a:solidFill>
                <a:srgbClr val="EDE8E4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939813"/>
            <a:ext cx="7061752" cy="58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4"/>
              </a:lnSpc>
              <a:spcBef>
                <a:spcPct val="0"/>
              </a:spcBef>
            </a:pPr>
            <a:r>
              <a:rPr lang="en-US" sz="3482" b="1" spc="7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Interactive Dashboard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5456" y="4066299"/>
            <a:ext cx="7376990" cy="324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8"/>
              </a:lnSpc>
              <a:spcBef>
                <a:spcPct val="0"/>
              </a:spcBef>
            </a:pPr>
            <a:r>
              <a:rPr lang="en-US" sz="2634" spc="57">
                <a:solidFill>
                  <a:srgbClr val="2537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Power BI report included interactive elements such as:</a:t>
            </a:r>
          </a:p>
          <a:p>
            <a:pPr marL="568760" lvl="1" indent="-284380" algn="l">
              <a:lnSpc>
                <a:spcPts val="3688"/>
              </a:lnSpc>
              <a:buFont typeface="Arial"/>
              <a:buChar char="•"/>
            </a:pPr>
            <a:r>
              <a:rPr lang="en-US" sz="2634" spc="57">
                <a:solidFill>
                  <a:srgbClr val="2537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Department filters</a:t>
            </a:r>
          </a:p>
          <a:p>
            <a:pPr marL="568760" lvl="1" indent="-284380" algn="l">
              <a:lnSpc>
                <a:spcPts val="3688"/>
              </a:lnSpc>
              <a:buFont typeface="Arial"/>
              <a:buChar char="•"/>
            </a:pPr>
            <a:r>
              <a:rPr lang="en-US" sz="2634" spc="57">
                <a:solidFill>
                  <a:srgbClr val="2537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Diagnosis filters</a:t>
            </a:r>
          </a:p>
          <a:p>
            <a:pPr marL="568760" lvl="1" indent="-284380" algn="l">
              <a:lnSpc>
                <a:spcPts val="3688"/>
              </a:lnSpc>
              <a:buFont typeface="Arial"/>
              <a:buChar char="•"/>
            </a:pPr>
            <a:r>
              <a:rPr lang="en-US" sz="2634" spc="57">
                <a:solidFill>
                  <a:srgbClr val="2537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Admission Date filters</a:t>
            </a:r>
          </a:p>
          <a:p>
            <a:pPr marL="568760" lvl="1" indent="-284380" algn="l">
              <a:lnSpc>
                <a:spcPts val="3688"/>
              </a:lnSpc>
              <a:buFont typeface="Arial"/>
              <a:buChar char="•"/>
            </a:pPr>
            <a:r>
              <a:rPr lang="en-US" sz="2634" spc="57">
                <a:solidFill>
                  <a:srgbClr val="2537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Additional filters based on each dashboard, such as Gender, Ward, Bed Type, and Floor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5456" y="7531405"/>
            <a:ext cx="8671458" cy="140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 b="1" spc="11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These filters allow users to interact with the dashboard and view insights based on selected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640243"/>
            <a:ext cx="7397737" cy="3782705"/>
          </a:xfrm>
          <a:custGeom>
            <a:avLst/>
            <a:gdLst/>
            <a:ahLst/>
            <a:cxnLst/>
            <a:rect l="l" t="t" r="r" b="b"/>
            <a:pathLst>
              <a:path w="7397737" h="3782705">
                <a:moveTo>
                  <a:pt x="0" y="0"/>
                </a:moveTo>
                <a:lnTo>
                  <a:pt x="7397737" y="0"/>
                </a:lnTo>
                <a:lnTo>
                  <a:pt x="7397737" y="3782704"/>
                </a:lnTo>
                <a:lnTo>
                  <a:pt x="0" y="378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26" b="-15026"/>
            </a:stretch>
          </a:blipFill>
        </p:spPr>
      </p:sp>
      <p:sp>
        <p:nvSpPr>
          <p:cNvPr id="3" name="Freeform 3"/>
          <p:cNvSpPr/>
          <p:nvPr/>
        </p:nvSpPr>
        <p:spPr>
          <a:xfrm rot="-8798399">
            <a:off x="13156923" y="1016610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8798399">
            <a:off x="-2994864" y="-864598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9144000" y="3640243"/>
            <a:ext cx="7397737" cy="3782705"/>
          </a:xfrm>
          <a:custGeom>
            <a:avLst/>
            <a:gdLst/>
            <a:ahLst/>
            <a:cxnLst/>
            <a:rect l="l" t="t" r="r" b="b"/>
            <a:pathLst>
              <a:path w="7397737" h="3782705">
                <a:moveTo>
                  <a:pt x="0" y="0"/>
                </a:moveTo>
                <a:lnTo>
                  <a:pt x="7397737" y="0"/>
                </a:lnTo>
                <a:lnTo>
                  <a:pt x="7397737" y="3782704"/>
                </a:lnTo>
                <a:lnTo>
                  <a:pt x="0" y="3782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148" b="-15148"/>
            </a:stretch>
          </a:blipFill>
          <a:ln cap="rnd">
            <a:noFill/>
            <a:prstDash val="solid"/>
            <a:round/>
          </a:ln>
        </p:spPr>
      </p:sp>
      <p:grpSp>
        <p:nvGrpSpPr>
          <p:cNvPr id="6" name="Group 6"/>
          <p:cNvGrpSpPr/>
          <p:nvPr/>
        </p:nvGrpSpPr>
        <p:grpSpPr>
          <a:xfrm>
            <a:off x="1611236" y="6518076"/>
            <a:ext cx="6232665" cy="2740224"/>
            <a:chOff x="0" y="0"/>
            <a:chExt cx="2019680" cy="8879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9680" cy="887963"/>
            </a:xfrm>
            <a:custGeom>
              <a:avLst/>
              <a:gdLst/>
              <a:ahLst/>
              <a:cxnLst/>
              <a:rect l="l" t="t" r="r" b="b"/>
              <a:pathLst>
                <a:path w="2019680" h="887963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839519"/>
                  </a:lnTo>
                  <a:cubicBezTo>
                    <a:pt x="2019680" y="866274"/>
                    <a:pt x="1997991" y="887963"/>
                    <a:pt x="1971236" y="887963"/>
                  </a:cubicBezTo>
                  <a:lnTo>
                    <a:pt x="48444" y="887963"/>
                  </a:lnTo>
                  <a:cubicBezTo>
                    <a:pt x="21689" y="887963"/>
                    <a:pt x="0" y="866274"/>
                    <a:pt x="0" y="839519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2019680" cy="878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26536" y="6608510"/>
            <a:ext cx="6232665" cy="2649790"/>
            <a:chOff x="0" y="0"/>
            <a:chExt cx="2019680" cy="8586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19680" cy="858658"/>
            </a:xfrm>
            <a:custGeom>
              <a:avLst/>
              <a:gdLst/>
              <a:ahLst/>
              <a:cxnLst/>
              <a:rect l="l" t="t" r="r" b="b"/>
              <a:pathLst>
                <a:path w="2019680" h="858658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810214"/>
                  </a:lnTo>
                  <a:cubicBezTo>
                    <a:pt x="2019680" y="836969"/>
                    <a:pt x="1997991" y="858658"/>
                    <a:pt x="1971236" y="858658"/>
                  </a:cubicBezTo>
                  <a:lnTo>
                    <a:pt x="48444" y="858658"/>
                  </a:lnTo>
                  <a:cubicBezTo>
                    <a:pt x="21689" y="858658"/>
                    <a:pt x="0" y="836969"/>
                    <a:pt x="0" y="810214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019680" cy="849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9961243">
            <a:off x="12217193" y="-3026777"/>
            <a:ext cx="10084214" cy="8727429"/>
          </a:xfrm>
          <a:custGeom>
            <a:avLst/>
            <a:gdLst/>
            <a:ahLst/>
            <a:cxnLst/>
            <a:rect l="l" t="t" r="r" b="b"/>
            <a:pathLst>
              <a:path w="10084214" h="8727429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976001">
            <a:off x="-4614341" y="5979010"/>
            <a:ext cx="9228681" cy="7987004"/>
          </a:xfrm>
          <a:custGeom>
            <a:avLst/>
            <a:gdLst/>
            <a:ahLst/>
            <a:cxnLst/>
            <a:rect l="l" t="t" r="r" b="b"/>
            <a:pathLst>
              <a:path w="9228681" h="7987004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030883" y="3051612"/>
            <a:ext cx="7397737" cy="4371335"/>
          </a:xfrm>
          <a:custGeom>
            <a:avLst/>
            <a:gdLst/>
            <a:ahLst/>
            <a:cxnLst/>
            <a:rect l="l" t="t" r="r" b="b"/>
            <a:pathLst>
              <a:path w="7397737" h="4371335">
                <a:moveTo>
                  <a:pt x="0" y="0"/>
                </a:moveTo>
                <a:lnTo>
                  <a:pt x="7397737" y="0"/>
                </a:lnTo>
                <a:lnTo>
                  <a:pt x="7397737" y="4371335"/>
                </a:lnTo>
                <a:lnTo>
                  <a:pt x="0" y="43713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383" b="-65214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784959" y="3051612"/>
            <a:ext cx="7756778" cy="4371335"/>
          </a:xfrm>
          <a:custGeom>
            <a:avLst/>
            <a:gdLst/>
            <a:ahLst/>
            <a:cxnLst/>
            <a:rect l="l" t="t" r="r" b="b"/>
            <a:pathLst>
              <a:path w="7756778" h="4371335">
                <a:moveTo>
                  <a:pt x="0" y="0"/>
                </a:moveTo>
                <a:lnTo>
                  <a:pt x="7756778" y="0"/>
                </a:lnTo>
                <a:lnTo>
                  <a:pt x="7756778" y="4371335"/>
                </a:lnTo>
                <a:lnTo>
                  <a:pt x="0" y="43713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6713" b="-7073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82149" y="171985"/>
            <a:ext cx="11786521" cy="167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7"/>
              </a:lnSpc>
            </a:pPr>
            <a:r>
              <a:rPr lang="en-US" sz="4848" b="1" spc="45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2: POWER BI DASHBOARD DEVELOPMENT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17339" y="7531405"/>
            <a:ext cx="5651059" cy="167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009" lvl="1" indent="-257504" algn="l">
              <a:lnSpc>
                <a:spcPts val="3339"/>
              </a:lnSpc>
              <a:buFont typeface="Arial"/>
              <a:buChar char="•"/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</a:t>
            </a:r>
            <a:r>
              <a:rPr lang="en-US" sz="2385" u="none" strike="noStrike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missions and discharges trend</a:t>
            </a:r>
          </a:p>
          <a:p>
            <a:pPr marL="515009" lvl="1" indent="-257504" algn="l">
              <a:lnSpc>
                <a:spcPts val="3339"/>
              </a:lnSpc>
              <a:buFont typeface="Arial"/>
              <a:buChar char="•"/>
            </a:pPr>
            <a:r>
              <a:rPr lang="en-US" sz="2385" u="none" strike="noStrike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Length of stay analysis</a:t>
            </a:r>
          </a:p>
          <a:p>
            <a:pPr marL="515009" lvl="1" indent="-257504" algn="l">
              <a:lnSpc>
                <a:spcPts val="3339"/>
              </a:lnSpc>
              <a:buFont typeface="Arial"/>
              <a:buChar char="•"/>
            </a:pPr>
            <a:r>
              <a:rPr lang="en-US" sz="2385" u="none" strike="noStrike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Weekend vs weekday admissions</a:t>
            </a:r>
          </a:p>
          <a:p>
            <a:pPr algn="l">
              <a:lnSpc>
                <a:spcPts val="3339"/>
              </a:lnSpc>
            </a:pPr>
            <a:endParaRPr lang="en-US" sz="2385" u="none" strike="noStrike" spc="52">
              <a:solidFill>
                <a:srgbClr val="EDE8E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637377" y="6686502"/>
            <a:ext cx="4184749" cy="55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3254" b="1" spc="136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1. Hospital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2149" y="1925263"/>
            <a:ext cx="8002810" cy="58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4"/>
              </a:lnSpc>
              <a:spcBef>
                <a:spcPct val="0"/>
              </a:spcBef>
            </a:pPr>
            <a:r>
              <a:rPr lang="en-US" sz="3482" b="1" spc="7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Four Interactive Dashboards Created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02333" y="7540930"/>
            <a:ext cx="5362443" cy="159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520" lvl="1" indent="-244760" algn="l">
              <a:lnSpc>
                <a:spcPts val="3174"/>
              </a:lnSpc>
              <a:buFont typeface="Arial"/>
              <a:buChar char="•"/>
            </a:pPr>
            <a:r>
              <a:rPr lang="en-US" sz="2267" spc="4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Overall hospital performance</a:t>
            </a:r>
          </a:p>
          <a:p>
            <a:pPr marL="489520" lvl="1" indent="-244760" algn="l">
              <a:lnSpc>
                <a:spcPts val="3174"/>
              </a:lnSpc>
              <a:buFont typeface="Arial"/>
              <a:buChar char="•"/>
            </a:pPr>
            <a:r>
              <a:rPr lang="en-US" sz="2267" spc="4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Admissions, occupancy, revenue, and diagnosis insights</a:t>
            </a:r>
          </a:p>
          <a:p>
            <a:pPr algn="l">
              <a:lnSpc>
                <a:spcPts val="3174"/>
              </a:lnSpc>
            </a:pPr>
            <a:endParaRPr lang="en-US" sz="2267" spc="49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151205" y="6795098"/>
            <a:ext cx="3024287" cy="55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3254" b="1" spc="136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Patient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640243"/>
            <a:ext cx="7397737" cy="3782705"/>
          </a:xfrm>
          <a:custGeom>
            <a:avLst/>
            <a:gdLst/>
            <a:ahLst/>
            <a:cxnLst/>
            <a:rect l="l" t="t" r="r" b="b"/>
            <a:pathLst>
              <a:path w="7397737" h="3782705">
                <a:moveTo>
                  <a:pt x="0" y="0"/>
                </a:moveTo>
                <a:lnTo>
                  <a:pt x="7397737" y="0"/>
                </a:lnTo>
                <a:lnTo>
                  <a:pt x="7397737" y="3782704"/>
                </a:lnTo>
                <a:lnTo>
                  <a:pt x="0" y="378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26" b="-15026"/>
            </a:stretch>
          </a:blipFill>
        </p:spPr>
      </p:sp>
      <p:sp>
        <p:nvSpPr>
          <p:cNvPr id="3" name="Freeform 3"/>
          <p:cNvSpPr/>
          <p:nvPr/>
        </p:nvSpPr>
        <p:spPr>
          <a:xfrm rot="-8798399">
            <a:off x="13156923" y="1016610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8798399">
            <a:off x="-2994864" y="-864598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9144000" y="3640243"/>
            <a:ext cx="7397737" cy="3782705"/>
          </a:xfrm>
          <a:custGeom>
            <a:avLst/>
            <a:gdLst/>
            <a:ahLst/>
            <a:cxnLst/>
            <a:rect l="l" t="t" r="r" b="b"/>
            <a:pathLst>
              <a:path w="7397737" h="3782705">
                <a:moveTo>
                  <a:pt x="0" y="0"/>
                </a:moveTo>
                <a:lnTo>
                  <a:pt x="7397737" y="0"/>
                </a:lnTo>
                <a:lnTo>
                  <a:pt x="7397737" y="3782704"/>
                </a:lnTo>
                <a:lnTo>
                  <a:pt x="0" y="3782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148" b="-15148"/>
            </a:stretch>
          </a:blipFill>
          <a:ln cap="rnd">
            <a:noFill/>
            <a:prstDash val="solid"/>
            <a:round/>
          </a:ln>
        </p:spPr>
      </p:sp>
      <p:grpSp>
        <p:nvGrpSpPr>
          <p:cNvPr id="6" name="Group 6"/>
          <p:cNvGrpSpPr/>
          <p:nvPr/>
        </p:nvGrpSpPr>
        <p:grpSpPr>
          <a:xfrm>
            <a:off x="1611236" y="6518076"/>
            <a:ext cx="6232665" cy="2740224"/>
            <a:chOff x="0" y="0"/>
            <a:chExt cx="2019680" cy="8879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9680" cy="887963"/>
            </a:xfrm>
            <a:custGeom>
              <a:avLst/>
              <a:gdLst/>
              <a:ahLst/>
              <a:cxnLst/>
              <a:rect l="l" t="t" r="r" b="b"/>
              <a:pathLst>
                <a:path w="2019680" h="887963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839519"/>
                  </a:lnTo>
                  <a:cubicBezTo>
                    <a:pt x="2019680" y="866274"/>
                    <a:pt x="1997991" y="887963"/>
                    <a:pt x="1971236" y="887963"/>
                  </a:cubicBezTo>
                  <a:lnTo>
                    <a:pt x="48444" y="887963"/>
                  </a:lnTo>
                  <a:cubicBezTo>
                    <a:pt x="21689" y="887963"/>
                    <a:pt x="0" y="866274"/>
                    <a:pt x="0" y="839519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2019680" cy="878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26536" y="6608510"/>
            <a:ext cx="6232665" cy="2649790"/>
            <a:chOff x="0" y="0"/>
            <a:chExt cx="2019680" cy="8586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19680" cy="858658"/>
            </a:xfrm>
            <a:custGeom>
              <a:avLst/>
              <a:gdLst/>
              <a:ahLst/>
              <a:cxnLst/>
              <a:rect l="l" t="t" r="r" b="b"/>
              <a:pathLst>
                <a:path w="2019680" h="858658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810214"/>
                  </a:lnTo>
                  <a:cubicBezTo>
                    <a:pt x="2019680" y="836969"/>
                    <a:pt x="1997991" y="858658"/>
                    <a:pt x="1971236" y="858658"/>
                  </a:cubicBezTo>
                  <a:lnTo>
                    <a:pt x="48444" y="858658"/>
                  </a:lnTo>
                  <a:cubicBezTo>
                    <a:pt x="21689" y="858658"/>
                    <a:pt x="0" y="836969"/>
                    <a:pt x="0" y="810214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019680" cy="849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9961243">
            <a:off x="12217193" y="-3026777"/>
            <a:ext cx="10084214" cy="8727429"/>
          </a:xfrm>
          <a:custGeom>
            <a:avLst/>
            <a:gdLst/>
            <a:ahLst/>
            <a:cxnLst/>
            <a:rect l="l" t="t" r="r" b="b"/>
            <a:pathLst>
              <a:path w="10084214" h="8727429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976001">
            <a:off x="-4614341" y="5979010"/>
            <a:ext cx="9228681" cy="7987004"/>
          </a:xfrm>
          <a:custGeom>
            <a:avLst/>
            <a:gdLst/>
            <a:ahLst/>
            <a:cxnLst/>
            <a:rect l="l" t="t" r="r" b="b"/>
            <a:pathLst>
              <a:path w="9228681" h="7987004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030883" y="3051612"/>
            <a:ext cx="7397737" cy="4371335"/>
          </a:xfrm>
          <a:custGeom>
            <a:avLst/>
            <a:gdLst/>
            <a:ahLst/>
            <a:cxnLst/>
            <a:rect l="l" t="t" r="r" b="b"/>
            <a:pathLst>
              <a:path w="7397737" h="4371335">
                <a:moveTo>
                  <a:pt x="0" y="0"/>
                </a:moveTo>
                <a:lnTo>
                  <a:pt x="7397737" y="0"/>
                </a:lnTo>
                <a:lnTo>
                  <a:pt x="7397737" y="4371335"/>
                </a:lnTo>
                <a:lnTo>
                  <a:pt x="0" y="43713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383" b="-65214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784959" y="3051612"/>
            <a:ext cx="7756778" cy="4371335"/>
          </a:xfrm>
          <a:custGeom>
            <a:avLst/>
            <a:gdLst/>
            <a:ahLst/>
            <a:cxnLst/>
            <a:rect l="l" t="t" r="r" b="b"/>
            <a:pathLst>
              <a:path w="7756778" h="4371335">
                <a:moveTo>
                  <a:pt x="0" y="0"/>
                </a:moveTo>
                <a:lnTo>
                  <a:pt x="7756778" y="0"/>
                </a:lnTo>
                <a:lnTo>
                  <a:pt x="7756778" y="4371335"/>
                </a:lnTo>
                <a:lnTo>
                  <a:pt x="0" y="43713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6713" b="-70732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85777" y="2807192"/>
            <a:ext cx="7395554" cy="4543422"/>
          </a:xfrm>
          <a:custGeom>
            <a:avLst/>
            <a:gdLst/>
            <a:ahLst/>
            <a:cxnLst/>
            <a:rect l="l" t="t" r="r" b="b"/>
            <a:pathLst>
              <a:path w="7395554" h="4543422">
                <a:moveTo>
                  <a:pt x="0" y="0"/>
                </a:moveTo>
                <a:lnTo>
                  <a:pt x="7395554" y="0"/>
                </a:lnTo>
                <a:lnTo>
                  <a:pt x="7395554" y="4543422"/>
                </a:lnTo>
                <a:lnTo>
                  <a:pt x="0" y="4543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4154" r="-121" b="-58819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784959" y="2807192"/>
            <a:ext cx="7936298" cy="4615755"/>
          </a:xfrm>
          <a:custGeom>
            <a:avLst/>
            <a:gdLst/>
            <a:ahLst/>
            <a:cxnLst/>
            <a:rect l="l" t="t" r="r" b="b"/>
            <a:pathLst>
              <a:path w="7936298" h="4615755">
                <a:moveTo>
                  <a:pt x="0" y="0"/>
                </a:moveTo>
                <a:lnTo>
                  <a:pt x="7936298" y="0"/>
                </a:lnTo>
                <a:lnTo>
                  <a:pt x="7936298" y="4615755"/>
                </a:lnTo>
                <a:lnTo>
                  <a:pt x="0" y="46157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4636" b="-67025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82149" y="171985"/>
            <a:ext cx="11786521" cy="167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7"/>
              </a:lnSpc>
            </a:pPr>
            <a:r>
              <a:rPr lang="en-US" sz="4848" b="1" spc="45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2: POWER BI DASHBOARD DEVELOPMENT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17339" y="7531405"/>
            <a:ext cx="5651059" cy="167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009" lvl="1" indent="-257504" algn="l">
              <a:lnSpc>
                <a:spcPts val="3339"/>
              </a:lnSpc>
              <a:buFont typeface="Arial"/>
              <a:buChar char="•"/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2385" u="none" strike="noStrike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otal, occupied, and available beds</a:t>
            </a:r>
          </a:p>
          <a:p>
            <a:pPr marL="515009" lvl="1" indent="-257504" algn="l">
              <a:lnSpc>
                <a:spcPts val="3339"/>
              </a:lnSpc>
              <a:buFont typeface="Arial"/>
              <a:buChar char="•"/>
            </a:pPr>
            <a:r>
              <a:rPr lang="en-US" sz="2385" u="none" strike="noStrike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Department resource matrix</a:t>
            </a:r>
          </a:p>
          <a:p>
            <a:pPr marL="515009" lvl="1" indent="-257504" algn="l">
              <a:lnSpc>
                <a:spcPts val="3339"/>
              </a:lnSpc>
              <a:buFont typeface="Arial"/>
              <a:buChar char="•"/>
            </a:pPr>
            <a:r>
              <a:rPr lang="en-US" sz="2385" u="none" strike="noStrike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Doctors and patient stay analysis</a:t>
            </a:r>
          </a:p>
          <a:p>
            <a:pPr algn="l">
              <a:lnSpc>
                <a:spcPts val="3339"/>
              </a:lnSpc>
            </a:pPr>
            <a:endParaRPr lang="en-US" sz="2385" u="none" strike="noStrike" spc="52">
              <a:solidFill>
                <a:srgbClr val="EDE8E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33011" y="6686502"/>
            <a:ext cx="4993481" cy="55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3254" b="1" spc="136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3. Department Analytics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2149" y="1925263"/>
            <a:ext cx="8002810" cy="58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4"/>
              </a:lnSpc>
              <a:spcBef>
                <a:spcPct val="0"/>
              </a:spcBef>
            </a:pPr>
            <a:r>
              <a:rPr lang="en-US" sz="3482" b="1" spc="7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Four Interactive Dashboards Created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02333" y="7540930"/>
            <a:ext cx="5362443" cy="159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520" lvl="1" indent="-244760" algn="l">
              <a:lnSpc>
                <a:spcPts val="3174"/>
              </a:lnSpc>
              <a:buFont typeface="Arial"/>
              <a:buChar char="•"/>
            </a:pPr>
            <a:r>
              <a:rPr lang="en-US" sz="2267" spc="4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Patient volume by department</a:t>
            </a:r>
          </a:p>
          <a:p>
            <a:pPr marL="489520" lvl="1" indent="-244760" algn="l">
              <a:lnSpc>
                <a:spcPts val="3174"/>
              </a:lnSpc>
              <a:buFont typeface="Arial"/>
              <a:buChar char="•"/>
            </a:pPr>
            <a:r>
              <a:rPr lang="en-US" sz="2267" spc="4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Department-wise revenue</a:t>
            </a:r>
          </a:p>
          <a:p>
            <a:pPr marL="489520" lvl="1" indent="-244760" algn="l">
              <a:lnSpc>
                <a:spcPts val="3174"/>
              </a:lnSpc>
              <a:buFont typeface="Arial"/>
              <a:buChar char="•"/>
            </a:pPr>
            <a:r>
              <a:rPr lang="en-US" sz="2267" spc="4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Stay profile analysis</a:t>
            </a:r>
          </a:p>
          <a:p>
            <a:pPr algn="l">
              <a:lnSpc>
                <a:spcPts val="3174"/>
              </a:lnSpc>
            </a:pPr>
            <a:endParaRPr lang="en-US" sz="2267" spc="49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327292" y="6795098"/>
            <a:ext cx="4672112" cy="55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3254" b="1" spc="136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4. Resource Utilization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6184" y="3724047"/>
            <a:ext cx="8307816" cy="5023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6369" lvl="1" indent="-308185" algn="l">
              <a:lnSpc>
                <a:spcPts val="3996"/>
              </a:lnSpc>
              <a:buFont typeface="Arial"/>
              <a:buChar char="•"/>
            </a:pPr>
            <a:r>
              <a:rPr lang="en-US" sz="2854" spc="6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</a:t>
            </a:r>
            <a:r>
              <a:rPr lang="en-US" sz="2854" u="none" strike="noStrike" spc="6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roved the dashboard layout and alignment.</a:t>
            </a:r>
          </a:p>
          <a:p>
            <a:pPr marL="616369" lvl="1" indent="-308185" algn="l">
              <a:lnSpc>
                <a:spcPts val="3996"/>
              </a:lnSpc>
              <a:buFont typeface="Arial"/>
              <a:buChar char="•"/>
            </a:pPr>
            <a:r>
              <a:rPr lang="en-US" sz="2854" u="none" strike="noStrike" spc="6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Added additional filters/slicers where required.</a:t>
            </a:r>
          </a:p>
          <a:p>
            <a:pPr marL="616369" lvl="1" indent="-308185" algn="l">
              <a:lnSpc>
                <a:spcPts val="3996"/>
              </a:lnSpc>
              <a:buFont typeface="Arial"/>
              <a:buChar char="•"/>
            </a:pPr>
            <a:r>
              <a:rPr lang="en-US" sz="2854" u="none" strike="noStrike" spc="6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Improved KPI card colors and formatting.</a:t>
            </a:r>
          </a:p>
          <a:p>
            <a:pPr marL="616369" lvl="1" indent="-308185" algn="l">
              <a:lnSpc>
                <a:spcPts val="3996"/>
              </a:lnSpc>
              <a:buFont typeface="Arial"/>
              <a:buChar char="•"/>
            </a:pPr>
            <a:r>
              <a:rPr lang="en-US" sz="2854" u="none" strike="noStrike" spc="6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Adjusted chart sizes and placement for better clarity.</a:t>
            </a:r>
          </a:p>
          <a:p>
            <a:pPr marL="616369" lvl="1" indent="-308185" algn="l">
              <a:lnSpc>
                <a:spcPts val="3996"/>
              </a:lnSpc>
              <a:buFont typeface="Arial"/>
              <a:buChar char="•"/>
            </a:pPr>
            <a:r>
              <a:rPr lang="en-US" sz="2854" u="none" strike="noStrike" spc="6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Made titles, labels, and colors more consistent.</a:t>
            </a:r>
          </a:p>
          <a:p>
            <a:pPr marL="616369" lvl="1" indent="-308185" algn="l">
              <a:lnSpc>
                <a:spcPts val="3996"/>
              </a:lnSpc>
              <a:buFont typeface="Arial"/>
              <a:buChar char="•"/>
            </a:pPr>
            <a:r>
              <a:rPr lang="en-US" sz="2854" u="none" strike="noStrike" spc="6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Improved the overall look and usability of all 4 dashboards.</a:t>
            </a:r>
          </a:p>
          <a:p>
            <a:pPr algn="l">
              <a:lnSpc>
                <a:spcPts val="3996"/>
              </a:lnSpc>
            </a:pPr>
            <a:endParaRPr lang="en-US" sz="2854" u="none" strike="noStrike" spc="62">
              <a:solidFill>
                <a:srgbClr val="15254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99798" y="243339"/>
            <a:ext cx="12550924" cy="180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61"/>
              </a:lnSpc>
            </a:pPr>
            <a:r>
              <a:rPr lang="en-US" sz="5187" b="1" spc="48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3 – DASHBOARD IMPROVEMENTS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9798" y="1978488"/>
            <a:ext cx="12107524" cy="118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6"/>
              </a:lnSpc>
            </a:pPr>
            <a:r>
              <a:rPr lang="en-US" sz="3418" spc="32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Main focus: Improving the design and presentation of the dashboards created in Milestone 2.</a:t>
            </a:r>
          </a:p>
        </p:txBody>
      </p:sp>
      <p:sp>
        <p:nvSpPr>
          <p:cNvPr id="5" name="Freeform 5"/>
          <p:cNvSpPr/>
          <p:nvPr/>
        </p:nvSpPr>
        <p:spPr>
          <a:xfrm rot="-6399961">
            <a:off x="11329998" y="-1574727"/>
            <a:ext cx="13805122" cy="17698875"/>
          </a:xfrm>
          <a:custGeom>
            <a:avLst/>
            <a:gdLst/>
            <a:ahLst/>
            <a:cxnLst/>
            <a:rect l="l" t="t" r="r" b="b"/>
            <a:pathLst>
              <a:path w="13805122" h="17698875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5572246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7259300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659918">
            <a:off x="-442221" y="-3550155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9"/>
                </a:lnTo>
                <a:lnTo>
                  <a:pt x="0" y="612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-24000">
            <a:off x="9119362" y="2875907"/>
            <a:ext cx="9387773" cy="7156059"/>
          </a:xfrm>
          <a:custGeom>
            <a:avLst/>
            <a:gdLst/>
            <a:ahLst/>
            <a:cxnLst/>
            <a:rect l="l" t="t" r="r" b="b"/>
            <a:pathLst>
              <a:path w="9387773" h="7156059">
                <a:moveTo>
                  <a:pt x="49504" y="0"/>
                </a:moveTo>
                <a:lnTo>
                  <a:pt x="9387772" y="65194"/>
                </a:lnTo>
                <a:lnTo>
                  <a:pt x="9338268" y="7156058"/>
                </a:lnTo>
                <a:lnTo>
                  <a:pt x="0" y="7090864"/>
                </a:lnTo>
                <a:lnTo>
                  <a:pt x="49504" y="0"/>
                </a:lnTo>
                <a:close/>
              </a:path>
            </a:pathLst>
          </a:custGeom>
          <a:blipFill>
            <a:blip r:embed="rId5"/>
            <a:stretch>
              <a:fillRect l="-818" t="-6" r="-818" b="5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950" y="-2033784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151301">
            <a:off x="11164674" y="6546853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2784585" y="4159659"/>
            <a:ext cx="4474715" cy="4186037"/>
            <a:chOff x="0" y="0"/>
            <a:chExt cx="997323" cy="9329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97323" cy="932983"/>
            </a:xfrm>
            <a:custGeom>
              <a:avLst/>
              <a:gdLst/>
              <a:ahLst/>
              <a:cxnLst/>
              <a:rect l="l" t="t" r="r" b="b"/>
              <a:pathLst>
                <a:path w="997323" h="93298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969870" y="4159659"/>
            <a:ext cx="4474715" cy="4186037"/>
            <a:chOff x="0" y="0"/>
            <a:chExt cx="997323" cy="9329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7323" cy="932983"/>
            </a:xfrm>
            <a:custGeom>
              <a:avLst/>
              <a:gdLst/>
              <a:ahLst/>
              <a:cxnLst/>
              <a:rect l="l" t="t" r="r" b="b"/>
              <a:pathLst>
                <a:path w="997323" h="93298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50526" y="4159659"/>
            <a:ext cx="4474715" cy="4186037"/>
            <a:chOff x="0" y="0"/>
            <a:chExt cx="997323" cy="9329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7323" cy="932983"/>
            </a:xfrm>
            <a:custGeom>
              <a:avLst/>
              <a:gdLst/>
              <a:ahLst/>
              <a:cxnLst/>
              <a:rect l="l" t="t" r="r" b="b"/>
              <a:pathLst>
                <a:path w="997323" h="93298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21414" y="2240596"/>
            <a:ext cx="10337886" cy="111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99"/>
              </a:lnSpc>
            </a:pPr>
            <a:r>
              <a:rPr lang="en-US" sz="6571" b="1" spc="617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LEARNING OUTCOMES</a:t>
            </a:r>
          </a:p>
        </p:txBody>
      </p:sp>
      <p:sp>
        <p:nvSpPr>
          <p:cNvPr id="14" name="Freeform 14"/>
          <p:cNvSpPr/>
          <p:nvPr/>
        </p:nvSpPr>
        <p:spPr>
          <a:xfrm rot="-10800000">
            <a:off x="12784585" y="4159659"/>
            <a:ext cx="4474715" cy="1033825"/>
          </a:xfrm>
          <a:custGeom>
            <a:avLst/>
            <a:gdLst/>
            <a:ahLst/>
            <a:cxnLst/>
            <a:rect l="l" t="t" r="r" b="b"/>
            <a:pathLst>
              <a:path w="4474715" h="103382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73620"/>
            </a:stretch>
          </a:blipFill>
        </p:spPr>
      </p:sp>
      <p:sp>
        <p:nvSpPr>
          <p:cNvPr id="15" name="Freeform 15"/>
          <p:cNvSpPr/>
          <p:nvPr/>
        </p:nvSpPr>
        <p:spPr>
          <a:xfrm rot="-10800000">
            <a:off x="7969870" y="4159659"/>
            <a:ext cx="4474715" cy="1033825"/>
          </a:xfrm>
          <a:custGeom>
            <a:avLst/>
            <a:gdLst/>
            <a:ahLst/>
            <a:cxnLst/>
            <a:rect l="l" t="t" r="r" b="b"/>
            <a:pathLst>
              <a:path w="4474715" h="103382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73620"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3150526" y="4159659"/>
            <a:ext cx="4474715" cy="1033825"/>
          </a:xfrm>
          <a:custGeom>
            <a:avLst/>
            <a:gdLst/>
            <a:ahLst/>
            <a:cxnLst/>
            <a:rect l="l" t="t" r="r" b="b"/>
            <a:pathLst>
              <a:path w="4474715" h="103382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73620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842512" y="4237441"/>
            <a:ext cx="3203944" cy="914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2634" b="1" spc="110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1 – Data Preparation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29268" y="5476477"/>
            <a:ext cx="3898551" cy="305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161" lvl="1" indent="-268081" algn="l">
              <a:lnSpc>
                <a:spcPts val="3476"/>
              </a:lnSpc>
              <a:buFont typeface="Arial"/>
              <a:buChar char="•"/>
            </a:pPr>
            <a:r>
              <a:rPr lang="en-US" sz="2483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</a:t>
            </a:r>
            <a:r>
              <a:rPr lang="en-US" sz="2483" u="none" strike="noStrike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etter layout &amp; alignment</a:t>
            </a:r>
          </a:p>
          <a:p>
            <a:pPr marL="536161" lvl="1" indent="-268081" algn="l">
              <a:lnSpc>
                <a:spcPts val="3476"/>
              </a:lnSpc>
              <a:buFont typeface="Arial"/>
              <a:buChar char="•"/>
            </a:pPr>
            <a:r>
              <a:rPr lang="en-US" sz="2483" u="none" strike="noStrike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Improved colors &amp; formatting</a:t>
            </a:r>
          </a:p>
          <a:p>
            <a:pPr marL="536161" lvl="1" indent="-268081" algn="l">
              <a:lnSpc>
                <a:spcPts val="3476"/>
              </a:lnSpc>
              <a:buFont typeface="Arial"/>
              <a:buChar char="•"/>
            </a:pPr>
            <a:r>
              <a:rPr lang="en-US" sz="2483" u="none" strike="noStrike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Visual consistency &amp; readability</a:t>
            </a:r>
          </a:p>
          <a:p>
            <a:pPr algn="l">
              <a:lnSpc>
                <a:spcPts val="3476"/>
              </a:lnSpc>
            </a:pPr>
            <a:endParaRPr lang="en-US" sz="2483" u="none" strike="noStrike" spc="54">
              <a:solidFill>
                <a:srgbClr val="EDE8E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244652" y="5476477"/>
            <a:ext cx="3968452" cy="176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5775" lvl="1" indent="-272887" algn="l">
              <a:lnSpc>
                <a:spcPts val="3539"/>
              </a:lnSpc>
              <a:buFont typeface="Arial"/>
              <a:buChar char="•"/>
            </a:pPr>
            <a:r>
              <a:rPr lang="en-US" sz="2527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KPI</a:t>
            </a:r>
            <a:r>
              <a:rPr lang="en-US" sz="2527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and DAX creation</a:t>
            </a:r>
          </a:p>
          <a:p>
            <a:pPr marL="545775" lvl="1" indent="-272887" algn="l">
              <a:lnSpc>
                <a:spcPts val="3539"/>
              </a:lnSpc>
              <a:buFont typeface="Arial"/>
              <a:buChar char="•"/>
            </a:pPr>
            <a:r>
              <a:rPr lang="en-US" sz="2527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Interactive dashboards</a:t>
            </a:r>
          </a:p>
          <a:p>
            <a:pPr marL="545775" lvl="1" indent="-272887" algn="l">
              <a:lnSpc>
                <a:spcPts val="3539"/>
              </a:lnSpc>
              <a:buFont typeface="Arial"/>
              <a:buChar char="•"/>
            </a:pPr>
            <a:r>
              <a:rPr lang="en-US" sz="2527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Charts, filters &amp; slicers</a:t>
            </a:r>
          </a:p>
          <a:p>
            <a:pPr algn="l">
              <a:lnSpc>
                <a:spcPts val="3539"/>
              </a:lnSpc>
            </a:pPr>
            <a:endParaRPr lang="en-US" sz="2527" u="none" strike="noStrike" spc="55">
              <a:solidFill>
                <a:srgbClr val="EDE8E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495208" y="5466952"/>
            <a:ext cx="3898551" cy="237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340" lvl="1" indent="-289670" algn="l">
              <a:lnSpc>
                <a:spcPts val="3756"/>
              </a:lnSpc>
              <a:buFont typeface="Arial"/>
              <a:buChar char="•"/>
            </a:pPr>
            <a:r>
              <a:rPr lang="en-US" sz="2683" spc="59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</a:t>
            </a:r>
            <a:r>
              <a:rPr lang="en-US" sz="2683" u="none" strike="noStrike" spc="59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understanding</a:t>
            </a:r>
          </a:p>
          <a:p>
            <a:pPr marL="579340" lvl="1" indent="-289670" algn="l">
              <a:lnSpc>
                <a:spcPts val="3756"/>
              </a:lnSpc>
              <a:buFont typeface="Arial"/>
              <a:buChar char="•"/>
            </a:pPr>
            <a:r>
              <a:rPr lang="en-US" sz="2683" u="none" strike="noStrike" spc="59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Missing value analysis</a:t>
            </a:r>
          </a:p>
          <a:p>
            <a:pPr marL="579340" lvl="1" indent="-289670" algn="l">
              <a:lnSpc>
                <a:spcPts val="3756"/>
              </a:lnSpc>
              <a:buFont typeface="Arial"/>
              <a:buChar char="•"/>
            </a:pPr>
            <a:r>
              <a:rPr lang="en-US" sz="2683" u="none" strike="noStrike" spc="59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cleaning</a:t>
            </a:r>
          </a:p>
          <a:p>
            <a:pPr algn="l">
              <a:lnSpc>
                <a:spcPts val="3756"/>
              </a:lnSpc>
            </a:pPr>
            <a:endParaRPr lang="en-US" sz="2683" u="none" strike="noStrike" spc="59">
              <a:solidFill>
                <a:srgbClr val="EDE8E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244652" y="4274395"/>
            <a:ext cx="3968452" cy="84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9"/>
              </a:lnSpc>
            </a:pPr>
            <a:r>
              <a:rPr lang="en-US" sz="2420" b="1" spc="101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2 – Dashboard Development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87485" y="4190963"/>
            <a:ext cx="4471815" cy="886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sz="2524" b="1" spc="106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3 – Dashboard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4302" y="2611846"/>
            <a:ext cx="694498" cy="848831"/>
          </a:xfrm>
          <a:custGeom>
            <a:avLst/>
            <a:gdLst/>
            <a:ahLst/>
            <a:cxnLst/>
            <a:rect l="l" t="t" r="r" b="b"/>
            <a:pathLst>
              <a:path w="694498" h="848831">
                <a:moveTo>
                  <a:pt x="0" y="0"/>
                </a:moveTo>
                <a:lnTo>
                  <a:pt x="694498" y="0"/>
                </a:lnTo>
                <a:lnTo>
                  <a:pt x="694498" y="848831"/>
                </a:lnTo>
                <a:lnTo>
                  <a:pt x="0" y="848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954301" y="3979990"/>
            <a:ext cx="9454117" cy="1532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88"/>
              </a:lnSpc>
            </a:pPr>
            <a:r>
              <a:rPr lang="en-US" sz="9600" b="1" spc="845" dirty="0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478627" y="2466073"/>
            <a:ext cx="0" cy="6135204"/>
          </a:xfrm>
          <a:prstGeom prst="line">
            <a:avLst/>
          </a:prstGeom>
          <a:ln w="66675" cap="flat">
            <a:solidFill>
              <a:srgbClr val="E3D8D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5400000">
            <a:off x="8502801" y="331078"/>
            <a:ext cx="10116277" cy="9454121"/>
          </a:xfrm>
          <a:custGeom>
            <a:avLst/>
            <a:gdLst/>
            <a:ahLst/>
            <a:cxnLst/>
            <a:rect l="l" t="t" r="r" b="b"/>
            <a:pathLst>
              <a:path w="10116277" h="9454121">
                <a:moveTo>
                  <a:pt x="0" y="0"/>
                </a:moveTo>
                <a:lnTo>
                  <a:pt x="10116277" y="0"/>
                </a:lnTo>
                <a:lnTo>
                  <a:pt x="10116277" y="9454121"/>
                </a:lnTo>
                <a:lnTo>
                  <a:pt x="0" y="94541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576</Words>
  <Application>Microsoft Office PowerPoint</Application>
  <PresentationFormat>Custom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Fraunces ExtraBold</vt:lpstr>
      <vt:lpstr>Alice</vt:lpstr>
      <vt:lpstr>Arial</vt:lpstr>
      <vt:lpstr>Open Sans</vt:lpstr>
      <vt:lpstr>Glacial Indifference</vt:lpstr>
      <vt:lpstr>Calibri</vt:lpstr>
      <vt:lpstr>Nobile</vt:lpstr>
      <vt:lpstr>Glacial Indifference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MEDTRACK DV</dc:title>
  <dc:creator>keerthi kallumane</dc:creator>
  <cp:lastModifiedBy>keerthi kallumane</cp:lastModifiedBy>
  <cp:revision>2</cp:revision>
  <dcterms:created xsi:type="dcterms:W3CDTF">2006-08-16T00:00:00Z</dcterms:created>
  <dcterms:modified xsi:type="dcterms:W3CDTF">2026-09-09T06:59:23Z</dcterms:modified>
  <dc:identifier>DAHUDE_Lg2w</dc:identifier>
</cp:coreProperties>
</file>