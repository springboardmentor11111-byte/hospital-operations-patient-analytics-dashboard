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Good [morning/afternoon] everyone. My project is called MedTrack DV — a Hospital Operations and Patient Analytics Dashboard. In short, it's a Power BI dashboard suite that gives hospital administrators one place to see how the hospital is actually running — admissions, occupancy, patient flow, and department performance — instead of piecing it together from separate reports.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Here's what I'll walk through: the problem this solves, how I approached building it, the key results across the four dashboards, and then a couple of real challenges I ran into — because I think that's usually the most useful part to talk about.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 here's the problem. In most hospitals, admissions data, occupancy numbers, and department performance all live in separate systems, and get pulled together manually into reports. That means by the time an administrator sees the numbers, they're already outdated. There's no single, real-time view — and no easy way to compare how different departments are performing against each other. That's the gap this project is built to close.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objective was simple to state, harder to build: create one unified, interactive dashboard suite that lets administrators monitor patient flow and department efficiency without waiting on manual reports. What I ended up with is four interconnected dashboards, tracking ten hospital KPIs, built on just over sixty-one thousand patient admission records across two years of data. The four pages are Hospital Overview, Patient Flow, Department Analytics, and Resource Utilization — each one answers a different question an administrator would actually ask.</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 terms of how it was built — the data moves through five stages. It starts as raw admission records, gets cleaned using Python and pandas in Google Colab, then I engineered ten KPI measures using DAX inside Power BI. From there, I built out the four dashboard pages, and finally validated every KPI against the source data to make sure the numbers were accurate before calling it done.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On the tools side — Power BI Desktop for the dashboard itself and the DAX measures, Power Query for shaping the data on load, Python and pandas for cleaning, and Google Colab so the cleaning process is documented and reproducible, not just something that happened once on my laptop.</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Hospital Overview page — the main landing view. Total admissions, occupancy, average length of stay, readmission rate, bed utilization, and discharge count, all filterable by date, hospital, department, and region, with admission and readmission trends underneath.</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Patient Flow breaks admissions down by region — you can see Asia and North America together make up more than half of all admissions, which is useful for regional resourcing decisions.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one's my favorite result — Department Analytics. The scatter chart in the bottom right compares average length of stay against readmission rate for every department, and ICU sits off on its own — longest stay, highest readmission. That's not something you'd catch easily in a table of numbers; the chart makes it immediately obvious.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And finally, Resource Utilization — bed capacity and occupancy side by side across all five hospitals, so planners can see at a glance where capacity is tightest.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few real challenges along the way. Fitting six KPI cards and eight charts on one page simply didn't work, so I split the content into a dedicated Patient Flow page instead of cramming it in. The dark theme initially made some axis labels unreadable, so I went back and explicitly set text colors instead of relying on Power BI's defaults. And the raw admission dates came in three different formats — solved with pandas' mixed-format date parser, and I verified the cleaned output matched the source exactly, row for row.</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 to sum up — MedTrack DV takes hospital data that used to be scattered across systems and manual reports, and puts it in one live view, so administrators can act on patient flow and department efficiency in minutes instead of days. If I kept building this, the next steps would be connecting it to a real hospital data feed, wiring the staffing and equipment data to a live source, and layering in a simple forecast for next month's admissions.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Thank you — happy to answer any questions, and I'm glad to walk through the live dashboard now if that's useful.</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420"/>
        </a:solidFill>
      </p:bgPr>
    </p:bg>
    <p:spTree>
      <p:nvGrpSpPr>
        <p:cNvPr id="1" name=""/>
        <p:cNvGrpSpPr/>
        <p:nvPr/>
      </p:nvGrpSpPr>
      <p:grpSpPr>
        <a:xfrm>
          <a:off x="0" y="0"/>
          <a:ext cx="0" cy="0"/>
          <a:chOff x="0" y="0"/>
          <a:chExt cx="0" cy="0"/>
        </a:xfrm>
      </p:grpSpPr>
      <p:sp>
        <p:nvSpPr>
          <p:cNvPr id="2" name="Shape 0"/>
          <p:cNvSpPr/>
          <p:nvPr/>
        </p:nvSpPr>
        <p:spPr>
          <a:xfrm>
            <a:off x="9692640" y="-1371600"/>
            <a:ext cx="4206240" cy="4206240"/>
          </a:xfrm>
          <a:prstGeom prst="ellipse">
            <a:avLst/>
          </a:prstGeom>
          <a:solidFill>
            <a:srgbClr val="101D2B">
              <a:alpha val="70000"/>
            </a:srgbClr>
          </a:solidFill>
          <a:ln/>
        </p:spPr>
      </p:sp>
      <p:sp>
        <p:nvSpPr>
          <p:cNvPr id="3" name="Shape 1"/>
          <p:cNvSpPr/>
          <p:nvPr/>
        </p:nvSpPr>
        <p:spPr>
          <a:xfrm>
            <a:off x="-1463040" y="4754880"/>
            <a:ext cx="3474720" cy="3474720"/>
          </a:xfrm>
          <a:prstGeom prst="ellipse">
            <a:avLst/>
          </a:prstGeom>
          <a:solidFill>
            <a:srgbClr val="101D2B">
              <a:alpha val="70000"/>
            </a:srgbClr>
          </a:solidFill>
          <a:ln/>
        </p:spPr>
      </p:sp>
      <p:pic>
        <p:nvPicPr>
          <p:cNvPr id="4" name="Image 0" descr="/home/claude/medtrack_badge_only.png">    </p:cNvPr>
          <p:cNvPicPr>
            <a:picLocks noChangeAspect="1"/>
          </p:cNvPicPr>
          <p:nvPr/>
        </p:nvPicPr>
        <p:blipFill>
          <a:blip r:embed="rId1"/>
          <a:srcRect l="0" r="0" t="0" b="0"/>
          <a:stretch/>
        </p:blipFill>
        <p:spPr>
          <a:xfrm>
            <a:off x="5175504" y="1463040"/>
            <a:ext cx="1828800" cy="1828800"/>
          </a:xfrm>
          <a:prstGeom prst="rect">
            <a:avLst/>
          </a:prstGeom>
        </p:spPr>
      </p:pic>
      <p:sp>
        <p:nvSpPr>
          <p:cNvPr id="5" name="Text 2"/>
          <p:cNvSpPr/>
          <p:nvPr/>
        </p:nvSpPr>
        <p:spPr>
          <a:xfrm>
            <a:off x="1371600" y="3520440"/>
            <a:ext cx="9418320" cy="822960"/>
          </a:xfrm>
          <a:prstGeom prst="rect">
            <a:avLst/>
          </a:prstGeom>
          <a:noFill/>
          <a:ln/>
        </p:spPr>
        <p:txBody>
          <a:bodyPr wrap="square" rtlCol="0" anchor="ctr"/>
          <a:lstStyle/>
          <a:p>
            <a:pPr algn="ctr" indent="0" marL="0">
              <a:buNone/>
            </a:pPr>
            <a:r>
              <a:rPr lang="en-US" sz="4200" b="1" dirty="0">
                <a:solidFill>
                  <a:srgbClr val="FFFFFF"/>
                </a:solidFill>
                <a:latin typeface="Cambria" pitchFamily="34" charset="0"/>
                <a:ea typeface="Cambria" pitchFamily="34" charset="-122"/>
                <a:cs typeface="Cambria" pitchFamily="34" charset="-120"/>
              </a:rPr>
              <a:t>MedTrack DV</a:t>
            </a:r>
            <a:endParaRPr lang="en-US" sz="4200" dirty="0"/>
          </a:p>
        </p:txBody>
      </p:sp>
      <p:sp>
        <p:nvSpPr>
          <p:cNvPr id="6" name="Text 3"/>
          <p:cNvSpPr/>
          <p:nvPr/>
        </p:nvSpPr>
        <p:spPr>
          <a:xfrm>
            <a:off x="1371600" y="4206240"/>
            <a:ext cx="9418320" cy="411480"/>
          </a:xfrm>
          <a:prstGeom prst="rect">
            <a:avLst/>
          </a:prstGeom>
          <a:noFill/>
          <a:ln/>
        </p:spPr>
        <p:txBody>
          <a:bodyPr wrap="square" rtlCol="0" anchor="ctr"/>
          <a:lstStyle/>
          <a:p>
            <a:pPr algn="ctr" indent="0" marL="0">
              <a:buNone/>
            </a:pPr>
            <a:r>
              <a:rPr lang="en-US" sz="1500" dirty="0">
                <a:solidFill>
                  <a:srgbClr val="4CB8C4"/>
                </a:solidFill>
                <a:latin typeface="Calibri" pitchFamily="34" charset="0"/>
                <a:ea typeface="Calibri" pitchFamily="34" charset="-122"/>
                <a:cs typeface="Calibri" pitchFamily="34" charset="-120"/>
              </a:rPr>
              <a:t>Hospital Operations &amp; Patient Analytics Dashboard</a:t>
            </a:r>
            <a:endParaRPr lang="en-US" sz="1500" dirty="0"/>
          </a:p>
        </p:txBody>
      </p:sp>
      <p:sp>
        <p:nvSpPr>
          <p:cNvPr id="7" name="Text 4"/>
          <p:cNvSpPr/>
          <p:nvPr/>
        </p:nvSpPr>
        <p:spPr>
          <a:xfrm>
            <a:off x="1965960" y="4709160"/>
            <a:ext cx="8229600" cy="365760"/>
          </a:xfrm>
          <a:prstGeom prst="rect">
            <a:avLst/>
          </a:prstGeom>
          <a:noFill/>
          <a:ln/>
        </p:spPr>
        <p:txBody>
          <a:bodyPr wrap="square" rtlCol="0" anchor="ctr"/>
          <a:lstStyle/>
          <a:p>
            <a:pPr algn="ctr" indent="0" marL="0">
              <a:buNone/>
            </a:pPr>
            <a:r>
              <a:rPr lang="en-US" sz="1150" i="1" dirty="0">
                <a:solidFill>
                  <a:srgbClr val="C8D2DC"/>
                </a:solidFill>
                <a:latin typeface="Calibri" pitchFamily="34" charset="0"/>
                <a:ea typeface="Calibri" pitchFamily="34" charset="-122"/>
                <a:cs typeface="Calibri" pitchFamily="34" charset="-120"/>
              </a:rPr>
              <a:t>A 4-page Power BI dashboard suite for hospital administrators, built on 61,619 patient admission records</a:t>
            </a:r>
            <a:endParaRPr lang="en-US" sz="1150" dirty="0"/>
          </a:p>
        </p:txBody>
      </p:sp>
      <p:sp>
        <p:nvSpPr>
          <p:cNvPr id="8" name="Text 5"/>
          <p:cNvSpPr/>
          <p:nvPr/>
        </p:nvSpPr>
        <p:spPr>
          <a:xfrm>
            <a:off x="1371600" y="5943600"/>
            <a:ext cx="9418320" cy="320040"/>
          </a:xfrm>
          <a:prstGeom prst="rect">
            <a:avLst/>
          </a:prstGeom>
          <a:noFill/>
          <a:ln/>
        </p:spPr>
        <p:txBody>
          <a:bodyPr wrap="square" rtlCol="0" anchor="ctr"/>
          <a:lstStyle/>
          <a:p>
            <a:pPr algn="ctr" indent="0" marL="0">
              <a:buNone/>
            </a:pPr>
            <a:r>
              <a:rPr lang="en-US" sz="1100" dirty="0">
                <a:solidFill>
                  <a:srgbClr val="8A96A3"/>
                </a:solidFill>
                <a:latin typeface="Calibri" pitchFamily="34" charset="0"/>
                <a:ea typeface="Calibri" pitchFamily="34" charset="-122"/>
                <a:cs typeface="Calibri" pitchFamily="34" charset="-120"/>
              </a:rPr>
              <a:t>Presented by: [Your Name]   |   Batch/Team: [Your Batch]</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420"/>
        </a:solidFill>
      </p:bgPr>
    </p:bg>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01D2B"/>
          </a:solidFill>
          <a:ln/>
        </p:spPr>
      </p:sp>
      <p:sp>
        <p:nvSpPr>
          <p:cNvPr id="3" name="Shape 1"/>
          <p:cNvSpPr/>
          <p:nvPr/>
        </p:nvSpPr>
        <p:spPr>
          <a:xfrm>
            <a:off x="0" y="960120"/>
            <a:ext cx="12188952" cy="27432"/>
          </a:xfrm>
          <a:prstGeom prst="rect">
            <a:avLst/>
          </a:prstGeom>
          <a:solidFill>
            <a:srgbClr val="4CB8C4"/>
          </a:solidFill>
          <a:ln/>
        </p:spPr>
      </p:sp>
      <p:sp>
        <p:nvSpPr>
          <p:cNvPr id="4" name="Text 2"/>
          <p:cNvSpPr/>
          <p:nvPr/>
        </p:nvSpPr>
        <p:spPr>
          <a:xfrm>
            <a:off x="548640" y="137160"/>
            <a:ext cx="10515600" cy="548640"/>
          </a:xfrm>
          <a:prstGeom prst="rect">
            <a:avLst/>
          </a:prstGeom>
          <a:noFill/>
          <a:ln/>
        </p:spPr>
        <p:txBody>
          <a:bodyPr wrap="square"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Agenda</a:t>
            </a:r>
            <a:endParaRPr lang="en-US" sz="2600" dirty="0"/>
          </a:p>
        </p:txBody>
      </p:sp>
      <p:sp>
        <p:nvSpPr>
          <p:cNvPr id="5" name="Text 3"/>
          <p:cNvSpPr/>
          <p:nvPr/>
        </p:nvSpPr>
        <p:spPr>
          <a:xfrm>
            <a:off x="548640" y="566928"/>
            <a:ext cx="10515600" cy="320040"/>
          </a:xfrm>
          <a:prstGeom prst="rect">
            <a:avLst/>
          </a:prstGeom>
          <a:noFill/>
          <a:ln/>
        </p:spPr>
        <p:txBody>
          <a:bodyPr wrap="square" rtlCol="0" anchor="ctr"/>
          <a:lstStyle/>
          <a:p>
            <a:pPr indent="0" marL="0">
              <a:buNone/>
            </a:pPr>
            <a:r>
              <a:rPr lang="en-US" sz="1200" i="1" dirty="0">
                <a:solidFill>
                  <a:srgbClr val="C8D2DC"/>
                </a:solidFill>
                <a:latin typeface="Calibri" pitchFamily="34" charset="0"/>
                <a:ea typeface="Calibri" pitchFamily="34" charset="-122"/>
                <a:cs typeface="Calibri" pitchFamily="34" charset="-120"/>
              </a:rPr>
              <a:t>What we'll cover in the next 5 minutes</a:t>
            </a:r>
            <a:endParaRPr lang="en-US" sz="1200" dirty="0"/>
          </a:p>
        </p:txBody>
      </p:sp>
      <p:sp>
        <p:nvSpPr>
          <p:cNvPr id="6" name="Shape 4"/>
          <p:cNvSpPr/>
          <p:nvPr/>
        </p:nvSpPr>
        <p:spPr>
          <a:xfrm>
            <a:off x="640080" y="1417320"/>
            <a:ext cx="10881360" cy="1051560"/>
          </a:xfrm>
          <a:prstGeom prst="roundRect">
            <a:avLst>
              <a:gd name="adj" fmla="val 6957"/>
            </a:avLst>
          </a:prstGeom>
          <a:solidFill>
            <a:srgbClr val="101D2B"/>
          </a:solidFill>
          <a:ln w="12700">
            <a:solidFill>
              <a:srgbClr val="22303F"/>
            </a:solidFill>
            <a:prstDash val="solid"/>
          </a:ln>
        </p:spPr>
      </p:sp>
      <p:sp>
        <p:nvSpPr>
          <p:cNvPr id="7" name="Text 5"/>
          <p:cNvSpPr/>
          <p:nvPr/>
        </p:nvSpPr>
        <p:spPr>
          <a:xfrm>
            <a:off x="868680" y="1554480"/>
            <a:ext cx="914400" cy="777240"/>
          </a:xfrm>
          <a:prstGeom prst="rect">
            <a:avLst/>
          </a:prstGeom>
          <a:noFill/>
          <a:ln/>
        </p:spPr>
        <p:txBody>
          <a:bodyPr wrap="square" rtlCol="0" anchor="ctr"/>
          <a:lstStyle/>
          <a:p>
            <a:pPr algn="ctr" indent="0" marL="0">
              <a:buNone/>
            </a:pPr>
            <a:r>
              <a:rPr lang="en-US" sz="3000" b="1" dirty="0">
                <a:solidFill>
                  <a:srgbClr val="4CB8C4"/>
                </a:solidFill>
                <a:latin typeface="Cambria" pitchFamily="34" charset="0"/>
                <a:ea typeface="Cambria" pitchFamily="34" charset="-122"/>
                <a:cs typeface="Cambria" pitchFamily="34" charset="-120"/>
              </a:rPr>
              <a:t>01</a:t>
            </a:r>
            <a:endParaRPr lang="en-US" sz="3000" dirty="0"/>
          </a:p>
        </p:txBody>
      </p:sp>
      <p:sp>
        <p:nvSpPr>
          <p:cNvPr id="8" name="Text 6"/>
          <p:cNvSpPr/>
          <p:nvPr/>
        </p:nvSpPr>
        <p:spPr>
          <a:xfrm>
            <a:off x="1920240" y="1554480"/>
            <a:ext cx="8869680" cy="36576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Problem &amp; Objective</a:t>
            </a:r>
            <a:endParaRPr lang="en-US" sz="1500" dirty="0"/>
          </a:p>
        </p:txBody>
      </p:sp>
      <p:sp>
        <p:nvSpPr>
          <p:cNvPr id="9" name="Text 7"/>
          <p:cNvSpPr/>
          <p:nvPr/>
        </p:nvSpPr>
        <p:spPr>
          <a:xfrm>
            <a:off x="1920240" y="1920240"/>
            <a:ext cx="8869680" cy="411480"/>
          </a:xfrm>
          <a:prstGeom prst="rect">
            <a:avLst/>
          </a:prstGeom>
          <a:noFill/>
          <a:ln/>
        </p:spPr>
        <p:txBody>
          <a:bodyPr wrap="square" rtlCol="0" anchor="ctr"/>
          <a:lstStyle/>
          <a:p>
            <a:pPr indent="0" marL="0">
              <a:buNone/>
            </a:pPr>
            <a:r>
              <a:rPr lang="en-US" sz="1100" dirty="0">
                <a:solidFill>
                  <a:srgbClr val="C8D2DC"/>
                </a:solidFill>
                <a:latin typeface="Calibri" pitchFamily="34" charset="0"/>
                <a:ea typeface="Calibri" pitchFamily="34" charset="-122"/>
                <a:cs typeface="Calibri" pitchFamily="34" charset="-120"/>
              </a:rPr>
              <a:t>What hospitals struggle with, and what this project sets out to fix</a:t>
            </a:r>
            <a:endParaRPr lang="en-US" sz="1100" dirty="0"/>
          </a:p>
        </p:txBody>
      </p:sp>
      <p:sp>
        <p:nvSpPr>
          <p:cNvPr id="10" name="Shape 8"/>
          <p:cNvSpPr/>
          <p:nvPr/>
        </p:nvSpPr>
        <p:spPr>
          <a:xfrm>
            <a:off x="640080" y="2624328"/>
            <a:ext cx="10881360" cy="1051560"/>
          </a:xfrm>
          <a:prstGeom prst="roundRect">
            <a:avLst>
              <a:gd name="adj" fmla="val 6957"/>
            </a:avLst>
          </a:prstGeom>
          <a:solidFill>
            <a:srgbClr val="101D2B"/>
          </a:solidFill>
          <a:ln w="12700">
            <a:solidFill>
              <a:srgbClr val="22303F"/>
            </a:solidFill>
            <a:prstDash val="solid"/>
          </a:ln>
        </p:spPr>
      </p:sp>
      <p:sp>
        <p:nvSpPr>
          <p:cNvPr id="11" name="Text 9"/>
          <p:cNvSpPr/>
          <p:nvPr/>
        </p:nvSpPr>
        <p:spPr>
          <a:xfrm>
            <a:off x="868680" y="2761488"/>
            <a:ext cx="914400" cy="777240"/>
          </a:xfrm>
          <a:prstGeom prst="rect">
            <a:avLst/>
          </a:prstGeom>
          <a:noFill/>
          <a:ln/>
        </p:spPr>
        <p:txBody>
          <a:bodyPr wrap="square" rtlCol="0" anchor="ctr"/>
          <a:lstStyle/>
          <a:p>
            <a:pPr algn="ctr" indent="0" marL="0">
              <a:buNone/>
            </a:pPr>
            <a:r>
              <a:rPr lang="en-US" sz="3000" b="1" dirty="0">
                <a:solidFill>
                  <a:srgbClr val="4CB8C4"/>
                </a:solidFill>
                <a:latin typeface="Cambria" pitchFamily="34" charset="0"/>
                <a:ea typeface="Cambria" pitchFamily="34" charset="-122"/>
                <a:cs typeface="Cambria" pitchFamily="34" charset="-120"/>
              </a:rPr>
              <a:t>02</a:t>
            </a:r>
            <a:endParaRPr lang="en-US" sz="3000" dirty="0"/>
          </a:p>
        </p:txBody>
      </p:sp>
      <p:sp>
        <p:nvSpPr>
          <p:cNvPr id="12" name="Text 10"/>
          <p:cNvSpPr/>
          <p:nvPr/>
        </p:nvSpPr>
        <p:spPr>
          <a:xfrm>
            <a:off x="1920240" y="2761488"/>
            <a:ext cx="8869680" cy="36576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Approach &amp; Tools</a:t>
            </a:r>
            <a:endParaRPr lang="en-US" sz="1500" dirty="0"/>
          </a:p>
        </p:txBody>
      </p:sp>
      <p:sp>
        <p:nvSpPr>
          <p:cNvPr id="13" name="Text 11"/>
          <p:cNvSpPr/>
          <p:nvPr/>
        </p:nvSpPr>
        <p:spPr>
          <a:xfrm>
            <a:off x="1920240" y="3127248"/>
            <a:ext cx="8869680" cy="411480"/>
          </a:xfrm>
          <a:prstGeom prst="rect">
            <a:avLst/>
          </a:prstGeom>
          <a:noFill/>
          <a:ln/>
        </p:spPr>
        <p:txBody>
          <a:bodyPr wrap="square" rtlCol="0" anchor="ctr"/>
          <a:lstStyle/>
          <a:p>
            <a:pPr indent="0" marL="0">
              <a:buNone/>
            </a:pPr>
            <a:r>
              <a:rPr lang="en-US" sz="1100" dirty="0">
                <a:solidFill>
                  <a:srgbClr val="C8D2DC"/>
                </a:solidFill>
                <a:latin typeface="Calibri" pitchFamily="34" charset="0"/>
                <a:ea typeface="Calibri" pitchFamily="34" charset="-122"/>
                <a:cs typeface="Calibri" pitchFamily="34" charset="-120"/>
              </a:rPr>
              <a:t>How the data moved from raw records to a live dashboard</a:t>
            </a:r>
            <a:endParaRPr lang="en-US" sz="1100" dirty="0"/>
          </a:p>
        </p:txBody>
      </p:sp>
      <p:sp>
        <p:nvSpPr>
          <p:cNvPr id="14" name="Shape 12"/>
          <p:cNvSpPr/>
          <p:nvPr/>
        </p:nvSpPr>
        <p:spPr>
          <a:xfrm>
            <a:off x="640080" y="3831336"/>
            <a:ext cx="10881360" cy="1051560"/>
          </a:xfrm>
          <a:prstGeom prst="roundRect">
            <a:avLst>
              <a:gd name="adj" fmla="val 6957"/>
            </a:avLst>
          </a:prstGeom>
          <a:solidFill>
            <a:srgbClr val="101D2B"/>
          </a:solidFill>
          <a:ln w="12700">
            <a:solidFill>
              <a:srgbClr val="22303F"/>
            </a:solidFill>
            <a:prstDash val="solid"/>
          </a:ln>
        </p:spPr>
      </p:sp>
      <p:sp>
        <p:nvSpPr>
          <p:cNvPr id="15" name="Text 13"/>
          <p:cNvSpPr/>
          <p:nvPr/>
        </p:nvSpPr>
        <p:spPr>
          <a:xfrm>
            <a:off x="868680" y="3968496"/>
            <a:ext cx="914400" cy="777240"/>
          </a:xfrm>
          <a:prstGeom prst="rect">
            <a:avLst/>
          </a:prstGeom>
          <a:noFill/>
          <a:ln/>
        </p:spPr>
        <p:txBody>
          <a:bodyPr wrap="square" rtlCol="0" anchor="ctr"/>
          <a:lstStyle/>
          <a:p>
            <a:pPr algn="ctr" indent="0" marL="0">
              <a:buNone/>
            </a:pPr>
            <a:r>
              <a:rPr lang="en-US" sz="3000" b="1" dirty="0">
                <a:solidFill>
                  <a:srgbClr val="4CB8C4"/>
                </a:solidFill>
                <a:latin typeface="Cambria" pitchFamily="34" charset="0"/>
                <a:ea typeface="Cambria" pitchFamily="34" charset="-122"/>
                <a:cs typeface="Cambria" pitchFamily="34" charset="-120"/>
              </a:rPr>
              <a:t>03</a:t>
            </a:r>
            <a:endParaRPr lang="en-US" sz="3000" dirty="0"/>
          </a:p>
        </p:txBody>
      </p:sp>
      <p:sp>
        <p:nvSpPr>
          <p:cNvPr id="16" name="Text 14"/>
          <p:cNvSpPr/>
          <p:nvPr/>
        </p:nvSpPr>
        <p:spPr>
          <a:xfrm>
            <a:off x="1920240" y="3968496"/>
            <a:ext cx="8869680" cy="36576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Key Results</a:t>
            </a:r>
            <a:endParaRPr lang="en-US" sz="1500" dirty="0"/>
          </a:p>
        </p:txBody>
      </p:sp>
      <p:sp>
        <p:nvSpPr>
          <p:cNvPr id="17" name="Text 15"/>
          <p:cNvSpPr/>
          <p:nvPr/>
        </p:nvSpPr>
        <p:spPr>
          <a:xfrm>
            <a:off x="1920240" y="4334256"/>
            <a:ext cx="8869680" cy="411480"/>
          </a:xfrm>
          <a:prstGeom prst="rect">
            <a:avLst/>
          </a:prstGeom>
          <a:noFill/>
          <a:ln/>
        </p:spPr>
        <p:txBody>
          <a:bodyPr wrap="square" rtlCol="0" anchor="ctr"/>
          <a:lstStyle/>
          <a:p>
            <a:pPr indent="0" marL="0">
              <a:buNone/>
            </a:pPr>
            <a:r>
              <a:rPr lang="en-US" sz="1100" dirty="0">
                <a:solidFill>
                  <a:srgbClr val="C8D2DC"/>
                </a:solidFill>
                <a:latin typeface="Calibri" pitchFamily="34" charset="0"/>
                <a:ea typeface="Calibri" pitchFamily="34" charset="-122"/>
                <a:cs typeface="Calibri" pitchFamily="34" charset="-120"/>
              </a:rPr>
              <a:t>The 4 dashboards and the KPIs they surface</a:t>
            </a:r>
            <a:endParaRPr lang="en-US" sz="1100" dirty="0"/>
          </a:p>
        </p:txBody>
      </p:sp>
      <p:sp>
        <p:nvSpPr>
          <p:cNvPr id="18" name="Shape 16"/>
          <p:cNvSpPr/>
          <p:nvPr/>
        </p:nvSpPr>
        <p:spPr>
          <a:xfrm>
            <a:off x="640080" y="5038344"/>
            <a:ext cx="10881360" cy="1051560"/>
          </a:xfrm>
          <a:prstGeom prst="roundRect">
            <a:avLst>
              <a:gd name="adj" fmla="val 6957"/>
            </a:avLst>
          </a:prstGeom>
          <a:solidFill>
            <a:srgbClr val="101D2B"/>
          </a:solidFill>
          <a:ln w="12700">
            <a:solidFill>
              <a:srgbClr val="22303F"/>
            </a:solidFill>
            <a:prstDash val="solid"/>
          </a:ln>
        </p:spPr>
      </p:sp>
      <p:sp>
        <p:nvSpPr>
          <p:cNvPr id="19" name="Text 17"/>
          <p:cNvSpPr/>
          <p:nvPr/>
        </p:nvSpPr>
        <p:spPr>
          <a:xfrm>
            <a:off x="868680" y="5175504"/>
            <a:ext cx="914400" cy="777240"/>
          </a:xfrm>
          <a:prstGeom prst="rect">
            <a:avLst/>
          </a:prstGeom>
          <a:noFill/>
          <a:ln/>
        </p:spPr>
        <p:txBody>
          <a:bodyPr wrap="square" rtlCol="0" anchor="ctr"/>
          <a:lstStyle/>
          <a:p>
            <a:pPr algn="ctr" indent="0" marL="0">
              <a:buNone/>
            </a:pPr>
            <a:r>
              <a:rPr lang="en-US" sz="3000" b="1" dirty="0">
                <a:solidFill>
                  <a:srgbClr val="4CB8C4"/>
                </a:solidFill>
                <a:latin typeface="Cambria" pitchFamily="34" charset="0"/>
                <a:ea typeface="Cambria" pitchFamily="34" charset="-122"/>
                <a:cs typeface="Cambria" pitchFamily="34" charset="-120"/>
              </a:rPr>
              <a:t>04</a:t>
            </a:r>
            <a:endParaRPr lang="en-US" sz="3000" dirty="0"/>
          </a:p>
        </p:txBody>
      </p:sp>
      <p:sp>
        <p:nvSpPr>
          <p:cNvPr id="20" name="Text 18"/>
          <p:cNvSpPr/>
          <p:nvPr/>
        </p:nvSpPr>
        <p:spPr>
          <a:xfrm>
            <a:off x="1920240" y="5175504"/>
            <a:ext cx="8869680" cy="36576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Challenges, Learnings &amp; What's Next</a:t>
            </a:r>
            <a:endParaRPr lang="en-US" sz="1500" dirty="0"/>
          </a:p>
        </p:txBody>
      </p:sp>
      <p:sp>
        <p:nvSpPr>
          <p:cNvPr id="21" name="Text 19"/>
          <p:cNvSpPr/>
          <p:nvPr/>
        </p:nvSpPr>
        <p:spPr>
          <a:xfrm>
            <a:off x="1920240" y="5541264"/>
            <a:ext cx="8869680" cy="411480"/>
          </a:xfrm>
          <a:prstGeom prst="rect">
            <a:avLst/>
          </a:prstGeom>
          <a:noFill/>
          <a:ln/>
        </p:spPr>
        <p:txBody>
          <a:bodyPr wrap="square" rtlCol="0" anchor="ctr"/>
          <a:lstStyle/>
          <a:p>
            <a:pPr indent="0" marL="0">
              <a:buNone/>
            </a:pPr>
            <a:r>
              <a:rPr lang="en-US" sz="1100" dirty="0">
                <a:solidFill>
                  <a:srgbClr val="C8D2DC"/>
                </a:solidFill>
                <a:latin typeface="Calibri" pitchFamily="34" charset="0"/>
                <a:ea typeface="Calibri" pitchFamily="34" charset="-122"/>
                <a:cs typeface="Calibri" pitchFamily="34" charset="-120"/>
              </a:rPr>
              <a:t>What was hard, what I'd add with more time</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420"/>
        </a:solidFill>
      </p:bgPr>
    </p:bg>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01D2B"/>
          </a:solidFill>
          <a:ln/>
        </p:spPr>
      </p:sp>
      <p:sp>
        <p:nvSpPr>
          <p:cNvPr id="3" name="Shape 1"/>
          <p:cNvSpPr/>
          <p:nvPr/>
        </p:nvSpPr>
        <p:spPr>
          <a:xfrm>
            <a:off x="0" y="960120"/>
            <a:ext cx="12188952" cy="27432"/>
          </a:xfrm>
          <a:prstGeom prst="rect">
            <a:avLst/>
          </a:prstGeom>
          <a:solidFill>
            <a:srgbClr val="4CB8C4"/>
          </a:solidFill>
          <a:ln/>
        </p:spPr>
      </p:sp>
      <p:sp>
        <p:nvSpPr>
          <p:cNvPr id="4" name="Text 2"/>
          <p:cNvSpPr/>
          <p:nvPr/>
        </p:nvSpPr>
        <p:spPr>
          <a:xfrm>
            <a:off x="548640" y="137160"/>
            <a:ext cx="10515600" cy="548640"/>
          </a:xfrm>
          <a:prstGeom prst="rect">
            <a:avLst/>
          </a:prstGeom>
          <a:noFill/>
          <a:ln/>
        </p:spPr>
        <p:txBody>
          <a:bodyPr wrap="square"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Problem Statement</a:t>
            </a:r>
            <a:endParaRPr lang="en-US" sz="2600" dirty="0"/>
          </a:p>
        </p:txBody>
      </p:sp>
      <p:sp>
        <p:nvSpPr>
          <p:cNvPr id="5" name="Text 3"/>
          <p:cNvSpPr/>
          <p:nvPr/>
        </p:nvSpPr>
        <p:spPr>
          <a:xfrm>
            <a:off x="548640" y="566928"/>
            <a:ext cx="10515600" cy="320040"/>
          </a:xfrm>
          <a:prstGeom prst="rect">
            <a:avLst/>
          </a:prstGeom>
          <a:noFill/>
          <a:ln/>
        </p:spPr>
        <p:txBody>
          <a:bodyPr wrap="square" rtlCol="0" anchor="ctr"/>
          <a:lstStyle/>
          <a:p>
            <a:pPr indent="0" marL="0">
              <a:buNone/>
            </a:pPr>
            <a:r>
              <a:rPr lang="en-US" sz="1200" i="1" dirty="0">
                <a:solidFill>
                  <a:srgbClr val="C8D2DC"/>
                </a:solidFill>
                <a:latin typeface="Calibri" pitchFamily="34" charset="0"/>
                <a:ea typeface="Calibri" pitchFamily="34" charset="-122"/>
                <a:cs typeface="Calibri" pitchFamily="34" charset="-120"/>
              </a:rPr>
              <a:t>Why hospitals need this</a:t>
            </a:r>
            <a:endParaRPr lang="en-US" sz="1200" dirty="0"/>
          </a:p>
        </p:txBody>
      </p:sp>
      <p:sp>
        <p:nvSpPr>
          <p:cNvPr id="6" name="Text 4"/>
          <p:cNvSpPr/>
          <p:nvPr/>
        </p:nvSpPr>
        <p:spPr>
          <a:xfrm>
            <a:off x="640080" y="1417320"/>
            <a:ext cx="6400800" cy="2377440"/>
          </a:xfrm>
          <a:prstGeom prst="rect">
            <a:avLst/>
          </a:prstGeom>
          <a:noFill/>
          <a:ln/>
        </p:spPr>
        <p:txBody>
          <a:bodyPr wrap="square" rtlCol="0" anchor="t"/>
          <a:lstStyle/>
          <a:p>
            <a:pPr indent="0" marL="0">
              <a:lnSpc>
                <a:spcPct val="135000"/>
              </a:lnSpc>
              <a:buNone/>
            </a:pPr>
            <a:r>
              <a:rPr lang="en-US" sz="1500" dirty="0">
                <a:solidFill>
                  <a:srgbClr val="C8D2DC"/>
                </a:solidFill>
                <a:latin typeface="Calibri" pitchFamily="34" charset="0"/>
                <a:ea typeface="Calibri" pitchFamily="34" charset="-122"/>
                <a:cs typeface="Calibri" pitchFamily="34" charset="-120"/>
              </a:rPr>
              <a:t>Hospital admissions, occupancy, department performance, and resource data typically live in separate systems and separate manual reports. Administrators can't see a unified, real-time picture of how the hospital is performing — so decisions on staffing, capacity, and department efficiency lag behind what's actually happening on the floor.</a:t>
            </a:r>
            <a:endParaRPr lang="en-US" sz="1500" dirty="0"/>
          </a:p>
        </p:txBody>
      </p:sp>
      <p:sp>
        <p:nvSpPr>
          <p:cNvPr id="7" name="Shape 5"/>
          <p:cNvSpPr/>
          <p:nvPr/>
        </p:nvSpPr>
        <p:spPr>
          <a:xfrm>
            <a:off x="7315200" y="1417320"/>
            <a:ext cx="4206240" cy="777240"/>
          </a:xfrm>
          <a:prstGeom prst="roundRect">
            <a:avLst>
              <a:gd name="adj" fmla="val 9412"/>
            </a:avLst>
          </a:prstGeom>
          <a:solidFill>
            <a:srgbClr val="101D2B"/>
          </a:solidFill>
          <a:ln w="12700">
            <a:solidFill>
              <a:srgbClr val="E85D8A"/>
            </a:solidFill>
            <a:prstDash val="solid"/>
          </a:ln>
        </p:spPr>
      </p:sp>
      <p:sp>
        <p:nvSpPr>
          <p:cNvPr id="8" name="Text 6"/>
          <p:cNvSpPr/>
          <p:nvPr/>
        </p:nvSpPr>
        <p:spPr>
          <a:xfrm>
            <a:off x="7543800" y="1490472"/>
            <a:ext cx="3749040" cy="274320"/>
          </a:xfrm>
          <a:prstGeom prst="rect">
            <a:avLst/>
          </a:prstGeom>
          <a:noFill/>
          <a:ln/>
        </p:spPr>
        <p:txBody>
          <a:bodyPr wrap="square" rtlCol="0" anchor="ctr"/>
          <a:lstStyle/>
          <a:p>
            <a:pPr indent="0" marL="0">
              <a:buNone/>
            </a:pPr>
            <a:r>
              <a:rPr lang="en-US" sz="1250" b="1" dirty="0">
                <a:solidFill>
                  <a:srgbClr val="E85D8A"/>
                </a:solidFill>
                <a:latin typeface="Calibri" pitchFamily="34" charset="0"/>
                <a:ea typeface="Calibri" pitchFamily="34" charset="-122"/>
                <a:cs typeface="Calibri" pitchFamily="34" charset="-120"/>
              </a:rPr>
              <a:t>No single view</a:t>
            </a:r>
            <a:endParaRPr lang="en-US" sz="1250" dirty="0"/>
          </a:p>
        </p:txBody>
      </p:sp>
      <p:sp>
        <p:nvSpPr>
          <p:cNvPr id="9" name="Text 7"/>
          <p:cNvSpPr/>
          <p:nvPr/>
        </p:nvSpPr>
        <p:spPr>
          <a:xfrm>
            <a:off x="7543800" y="1764792"/>
            <a:ext cx="3749040" cy="384048"/>
          </a:xfrm>
          <a:prstGeom prst="rect">
            <a:avLst/>
          </a:prstGeom>
          <a:noFill/>
          <a:ln/>
        </p:spPr>
        <p:txBody>
          <a:bodyPr wrap="square" rtlCol="0" anchor="ctr"/>
          <a:lstStyle/>
          <a:p>
            <a:pPr indent="0" marL="0">
              <a:buNone/>
            </a:pPr>
            <a:r>
              <a:rPr lang="en-US" sz="1000" dirty="0">
                <a:solidFill>
                  <a:srgbClr val="C8D2DC"/>
                </a:solidFill>
                <a:latin typeface="Calibri" pitchFamily="34" charset="0"/>
                <a:ea typeface="Calibri" pitchFamily="34" charset="-122"/>
                <a:cs typeface="Calibri" pitchFamily="34" charset="-120"/>
              </a:rPr>
              <a:t>Admissions, occupancy, and department data sit in disconnected reports</a:t>
            </a:r>
            <a:endParaRPr lang="en-US" sz="1000" dirty="0"/>
          </a:p>
        </p:txBody>
      </p:sp>
      <p:sp>
        <p:nvSpPr>
          <p:cNvPr id="10" name="Shape 8"/>
          <p:cNvSpPr/>
          <p:nvPr/>
        </p:nvSpPr>
        <p:spPr>
          <a:xfrm>
            <a:off x="7315200" y="2331720"/>
            <a:ext cx="4206240" cy="777240"/>
          </a:xfrm>
          <a:prstGeom prst="roundRect">
            <a:avLst>
              <a:gd name="adj" fmla="val 9412"/>
            </a:avLst>
          </a:prstGeom>
          <a:solidFill>
            <a:srgbClr val="101D2B"/>
          </a:solidFill>
          <a:ln w="12700">
            <a:solidFill>
              <a:srgbClr val="E85D8A"/>
            </a:solidFill>
            <a:prstDash val="solid"/>
          </a:ln>
        </p:spPr>
      </p:sp>
      <p:sp>
        <p:nvSpPr>
          <p:cNvPr id="11" name="Text 9"/>
          <p:cNvSpPr/>
          <p:nvPr/>
        </p:nvSpPr>
        <p:spPr>
          <a:xfrm>
            <a:off x="7543800" y="2404872"/>
            <a:ext cx="3749040" cy="274320"/>
          </a:xfrm>
          <a:prstGeom prst="rect">
            <a:avLst/>
          </a:prstGeom>
          <a:noFill/>
          <a:ln/>
        </p:spPr>
        <p:txBody>
          <a:bodyPr wrap="square" rtlCol="0" anchor="ctr"/>
          <a:lstStyle/>
          <a:p>
            <a:pPr indent="0" marL="0">
              <a:buNone/>
            </a:pPr>
            <a:r>
              <a:rPr lang="en-US" sz="1250" b="1" dirty="0">
                <a:solidFill>
                  <a:srgbClr val="E85D8A"/>
                </a:solidFill>
                <a:latin typeface="Calibri" pitchFamily="34" charset="0"/>
                <a:ea typeface="Calibri" pitchFamily="34" charset="-122"/>
                <a:cs typeface="Calibri" pitchFamily="34" charset="-120"/>
              </a:rPr>
              <a:t>Delayed decisions</a:t>
            </a:r>
            <a:endParaRPr lang="en-US" sz="1250" dirty="0"/>
          </a:p>
        </p:txBody>
      </p:sp>
      <p:sp>
        <p:nvSpPr>
          <p:cNvPr id="12" name="Text 10"/>
          <p:cNvSpPr/>
          <p:nvPr/>
        </p:nvSpPr>
        <p:spPr>
          <a:xfrm>
            <a:off x="7543800" y="2679192"/>
            <a:ext cx="3749040" cy="384048"/>
          </a:xfrm>
          <a:prstGeom prst="rect">
            <a:avLst/>
          </a:prstGeom>
          <a:noFill/>
          <a:ln/>
        </p:spPr>
        <p:txBody>
          <a:bodyPr wrap="square" rtlCol="0" anchor="ctr"/>
          <a:lstStyle/>
          <a:p>
            <a:pPr indent="0" marL="0">
              <a:buNone/>
            </a:pPr>
            <a:r>
              <a:rPr lang="en-US" sz="1000" dirty="0">
                <a:solidFill>
                  <a:srgbClr val="C8D2DC"/>
                </a:solidFill>
                <a:latin typeface="Calibri" pitchFamily="34" charset="0"/>
                <a:ea typeface="Calibri" pitchFamily="34" charset="-122"/>
                <a:cs typeface="Calibri" pitchFamily="34" charset="-120"/>
              </a:rPr>
              <a:t>Manual reporting means insights arrive days after the fact</a:t>
            </a:r>
            <a:endParaRPr lang="en-US" sz="1000" dirty="0"/>
          </a:p>
        </p:txBody>
      </p:sp>
      <p:sp>
        <p:nvSpPr>
          <p:cNvPr id="13" name="Shape 11"/>
          <p:cNvSpPr/>
          <p:nvPr/>
        </p:nvSpPr>
        <p:spPr>
          <a:xfrm>
            <a:off x="7315200" y="3246120"/>
            <a:ext cx="4206240" cy="777240"/>
          </a:xfrm>
          <a:prstGeom prst="roundRect">
            <a:avLst>
              <a:gd name="adj" fmla="val 9412"/>
            </a:avLst>
          </a:prstGeom>
          <a:solidFill>
            <a:srgbClr val="101D2B"/>
          </a:solidFill>
          <a:ln w="12700">
            <a:solidFill>
              <a:srgbClr val="E85D8A"/>
            </a:solidFill>
            <a:prstDash val="solid"/>
          </a:ln>
        </p:spPr>
      </p:sp>
      <p:sp>
        <p:nvSpPr>
          <p:cNvPr id="14" name="Text 12"/>
          <p:cNvSpPr/>
          <p:nvPr/>
        </p:nvSpPr>
        <p:spPr>
          <a:xfrm>
            <a:off x="7543800" y="3319272"/>
            <a:ext cx="3749040" cy="274320"/>
          </a:xfrm>
          <a:prstGeom prst="rect">
            <a:avLst/>
          </a:prstGeom>
          <a:noFill/>
          <a:ln/>
        </p:spPr>
        <p:txBody>
          <a:bodyPr wrap="square" rtlCol="0" anchor="ctr"/>
          <a:lstStyle/>
          <a:p>
            <a:pPr indent="0" marL="0">
              <a:buNone/>
            </a:pPr>
            <a:r>
              <a:rPr lang="en-US" sz="1250" b="1" dirty="0">
                <a:solidFill>
                  <a:srgbClr val="E85D8A"/>
                </a:solidFill>
                <a:latin typeface="Calibri" pitchFamily="34" charset="0"/>
                <a:ea typeface="Calibri" pitchFamily="34" charset="-122"/>
                <a:cs typeface="Calibri" pitchFamily="34" charset="-120"/>
              </a:rPr>
              <a:t>No department comparison</a:t>
            </a:r>
            <a:endParaRPr lang="en-US" sz="1250" dirty="0"/>
          </a:p>
        </p:txBody>
      </p:sp>
      <p:sp>
        <p:nvSpPr>
          <p:cNvPr id="15" name="Text 13"/>
          <p:cNvSpPr/>
          <p:nvPr/>
        </p:nvSpPr>
        <p:spPr>
          <a:xfrm>
            <a:off x="7543800" y="3593592"/>
            <a:ext cx="3749040" cy="384048"/>
          </a:xfrm>
          <a:prstGeom prst="rect">
            <a:avLst/>
          </a:prstGeom>
          <a:noFill/>
          <a:ln/>
        </p:spPr>
        <p:txBody>
          <a:bodyPr wrap="square" rtlCol="0" anchor="ctr"/>
          <a:lstStyle/>
          <a:p>
            <a:pPr indent="0" marL="0">
              <a:buNone/>
            </a:pPr>
            <a:r>
              <a:rPr lang="en-US" sz="1000" dirty="0">
                <a:solidFill>
                  <a:srgbClr val="C8D2DC"/>
                </a:solidFill>
                <a:latin typeface="Calibri" pitchFamily="34" charset="0"/>
                <a:ea typeface="Calibri" pitchFamily="34" charset="-122"/>
                <a:cs typeface="Calibri" pitchFamily="34" charset="-120"/>
              </a:rPr>
              <a:t>Hard to see which departments are efficient vs. strained</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420"/>
        </a:solidFill>
      </p:bgPr>
    </p:bg>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01D2B"/>
          </a:solidFill>
          <a:ln/>
        </p:spPr>
      </p:sp>
      <p:sp>
        <p:nvSpPr>
          <p:cNvPr id="3" name="Shape 1"/>
          <p:cNvSpPr/>
          <p:nvPr/>
        </p:nvSpPr>
        <p:spPr>
          <a:xfrm>
            <a:off x="0" y="960120"/>
            <a:ext cx="12188952" cy="27432"/>
          </a:xfrm>
          <a:prstGeom prst="rect">
            <a:avLst/>
          </a:prstGeom>
          <a:solidFill>
            <a:srgbClr val="4CB8C4"/>
          </a:solidFill>
          <a:ln/>
        </p:spPr>
      </p:sp>
      <p:sp>
        <p:nvSpPr>
          <p:cNvPr id="4" name="Text 2"/>
          <p:cNvSpPr/>
          <p:nvPr/>
        </p:nvSpPr>
        <p:spPr>
          <a:xfrm>
            <a:off x="548640" y="137160"/>
            <a:ext cx="10515600" cy="548640"/>
          </a:xfrm>
          <a:prstGeom prst="rect">
            <a:avLst/>
          </a:prstGeom>
          <a:noFill/>
          <a:ln/>
        </p:spPr>
        <p:txBody>
          <a:bodyPr wrap="square"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Objective &amp; Outcomes</a:t>
            </a:r>
            <a:endParaRPr lang="en-US" sz="2600" dirty="0"/>
          </a:p>
        </p:txBody>
      </p:sp>
      <p:sp>
        <p:nvSpPr>
          <p:cNvPr id="5" name="Text 3"/>
          <p:cNvSpPr/>
          <p:nvPr/>
        </p:nvSpPr>
        <p:spPr>
          <a:xfrm>
            <a:off x="548640" y="566928"/>
            <a:ext cx="10515600" cy="320040"/>
          </a:xfrm>
          <a:prstGeom prst="rect">
            <a:avLst/>
          </a:prstGeom>
          <a:noFill/>
          <a:ln/>
        </p:spPr>
        <p:txBody>
          <a:bodyPr wrap="square" rtlCol="0" anchor="ctr"/>
          <a:lstStyle/>
          <a:p>
            <a:pPr indent="0" marL="0">
              <a:buNone/>
            </a:pPr>
            <a:r>
              <a:rPr lang="en-US" sz="1200" i="1" dirty="0">
                <a:solidFill>
                  <a:srgbClr val="C8D2DC"/>
                </a:solidFill>
                <a:latin typeface="Calibri" pitchFamily="34" charset="0"/>
                <a:ea typeface="Calibri" pitchFamily="34" charset="-122"/>
                <a:cs typeface="Calibri" pitchFamily="34" charset="-120"/>
              </a:rPr>
              <a:t>What this project set out to build, and what it delivers</a:t>
            </a:r>
            <a:endParaRPr lang="en-US" sz="1200" dirty="0"/>
          </a:p>
        </p:txBody>
      </p:sp>
      <p:sp>
        <p:nvSpPr>
          <p:cNvPr id="6" name="Text 4"/>
          <p:cNvSpPr/>
          <p:nvPr/>
        </p:nvSpPr>
        <p:spPr>
          <a:xfrm>
            <a:off x="640080" y="1371600"/>
            <a:ext cx="5212080" cy="274320"/>
          </a:xfrm>
          <a:prstGeom prst="rect">
            <a:avLst/>
          </a:prstGeom>
          <a:noFill/>
          <a:ln/>
        </p:spPr>
        <p:txBody>
          <a:bodyPr wrap="square" rtlCol="0" anchor="ctr"/>
          <a:lstStyle/>
          <a:p>
            <a:pPr indent="0" marL="0">
              <a:buNone/>
            </a:pPr>
            <a:r>
              <a:rPr lang="en-US" sz="1100" b="1" spc="200" kern="0" dirty="0">
                <a:solidFill>
                  <a:srgbClr val="4CB8C4"/>
                </a:solidFill>
                <a:latin typeface="Calibri" pitchFamily="34" charset="0"/>
                <a:ea typeface="Calibri" pitchFamily="34" charset="-122"/>
                <a:cs typeface="Calibri" pitchFamily="34" charset="-120"/>
              </a:rPr>
              <a:t>OBJECTIVE</a:t>
            </a:r>
            <a:endParaRPr lang="en-US" sz="1100" dirty="0"/>
          </a:p>
        </p:txBody>
      </p:sp>
      <p:sp>
        <p:nvSpPr>
          <p:cNvPr id="7" name="Text 5"/>
          <p:cNvSpPr/>
          <p:nvPr/>
        </p:nvSpPr>
        <p:spPr>
          <a:xfrm>
            <a:off x="640080" y="1691640"/>
            <a:ext cx="5212080" cy="1371600"/>
          </a:xfrm>
          <a:prstGeom prst="rect">
            <a:avLst/>
          </a:prstGeom>
          <a:noFill/>
          <a:ln/>
        </p:spPr>
        <p:txBody>
          <a:bodyPr wrap="square" rtlCol="0" anchor="ctr"/>
          <a:lstStyle/>
          <a:p>
            <a:pPr indent="0" marL="0">
              <a:lnSpc>
                <a:spcPct val="130000"/>
              </a:lnSpc>
              <a:buNone/>
            </a:pPr>
            <a:r>
              <a:rPr lang="en-US" sz="1300" dirty="0">
                <a:solidFill>
                  <a:srgbClr val="C8D2DC"/>
                </a:solidFill>
                <a:latin typeface="Calibri" pitchFamily="34" charset="0"/>
                <a:ea typeface="Calibri" pitchFamily="34" charset="-122"/>
                <a:cs typeface="Calibri" pitchFamily="34" charset="-120"/>
              </a:rPr>
              <a:t>Build a unified, interactive Power BI dashboard suite that lets hospital administrators monitor patient flow, department efficiency, and resource utilization — without waiting on manual reports.</a:t>
            </a:r>
            <a:endParaRPr lang="en-US" sz="1300" dirty="0"/>
          </a:p>
        </p:txBody>
      </p:sp>
      <p:sp>
        <p:nvSpPr>
          <p:cNvPr id="8" name="Shape 6"/>
          <p:cNvSpPr/>
          <p:nvPr/>
        </p:nvSpPr>
        <p:spPr>
          <a:xfrm>
            <a:off x="6309360" y="1371600"/>
            <a:ext cx="2606040" cy="914400"/>
          </a:xfrm>
          <a:prstGeom prst="roundRect">
            <a:avLst>
              <a:gd name="adj" fmla="val 8000"/>
            </a:avLst>
          </a:prstGeom>
          <a:solidFill>
            <a:srgbClr val="101D2B"/>
          </a:solidFill>
          <a:ln w="12700">
            <a:solidFill>
              <a:srgbClr val="22303F"/>
            </a:solidFill>
            <a:prstDash val="solid"/>
          </a:ln>
        </p:spPr>
      </p:sp>
      <p:sp>
        <p:nvSpPr>
          <p:cNvPr id="9" name="Text 7"/>
          <p:cNvSpPr/>
          <p:nvPr/>
        </p:nvSpPr>
        <p:spPr>
          <a:xfrm>
            <a:off x="6309360" y="1444752"/>
            <a:ext cx="2606040" cy="457200"/>
          </a:xfrm>
          <a:prstGeom prst="rect">
            <a:avLst/>
          </a:prstGeom>
          <a:noFill/>
          <a:ln/>
        </p:spPr>
        <p:txBody>
          <a:bodyPr wrap="square" rtlCol="0" anchor="ctr"/>
          <a:lstStyle/>
          <a:p>
            <a:pPr algn="ctr" indent="0" marL="0">
              <a:buNone/>
            </a:pPr>
            <a:r>
              <a:rPr lang="en-US" sz="2200" b="1" dirty="0">
                <a:solidFill>
                  <a:srgbClr val="7FC957"/>
                </a:solidFill>
                <a:latin typeface="Cambria" pitchFamily="34" charset="0"/>
                <a:ea typeface="Cambria" pitchFamily="34" charset="-122"/>
                <a:cs typeface="Cambria" pitchFamily="34" charset="-120"/>
              </a:rPr>
              <a:t>4</a:t>
            </a:r>
            <a:endParaRPr lang="en-US" sz="2200" dirty="0"/>
          </a:p>
        </p:txBody>
      </p:sp>
      <p:sp>
        <p:nvSpPr>
          <p:cNvPr id="10" name="Text 8"/>
          <p:cNvSpPr/>
          <p:nvPr/>
        </p:nvSpPr>
        <p:spPr>
          <a:xfrm>
            <a:off x="6309360" y="1920240"/>
            <a:ext cx="2606040" cy="274320"/>
          </a:xfrm>
          <a:prstGeom prst="rect">
            <a:avLst/>
          </a:prstGeom>
          <a:noFill/>
          <a:ln/>
        </p:spPr>
        <p:txBody>
          <a:bodyPr wrap="square" rtlCol="0" anchor="ctr"/>
          <a:lstStyle/>
          <a:p>
            <a:pPr algn="ctr" indent="0" marL="0">
              <a:buNone/>
            </a:pPr>
            <a:r>
              <a:rPr lang="en-US" sz="950" dirty="0">
                <a:solidFill>
                  <a:srgbClr val="C8D2DC"/>
                </a:solidFill>
                <a:latin typeface="Calibri" pitchFamily="34" charset="0"/>
                <a:ea typeface="Calibri" pitchFamily="34" charset="-122"/>
                <a:cs typeface="Calibri" pitchFamily="34" charset="-120"/>
              </a:rPr>
              <a:t>Interconnected dashboards</a:t>
            </a:r>
            <a:endParaRPr lang="en-US" sz="950" dirty="0"/>
          </a:p>
        </p:txBody>
      </p:sp>
      <p:sp>
        <p:nvSpPr>
          <p:cNvPr id="11" name="Shape 9"/>
          <p:cNvSpPr/>
          <p:nvPr/>
        </p:nvSpPr>
        <p:spPr>
          <a:xfrm>
            <a:off x="9098280" y="1371600"/>
            <a:ext cx="2606040" cy="914400"/>
          </a:xfrm>
          <a:prstGeom prst="roundRect">
            <a:avLst>
              <a:gd name="adj" fmla="val 8000"/>
            </a:avLst>
          </a:prstGeom>
          <a:solidFill>
            <a:srgbClr val="101D2B"/>
          </a:solidFill>
          <a:ln w="12700">
            <a:solidFill>
              <a:srgbClr val="22303F"/>
            </a:solidFill>
            <a:prstDash val="solid"/>
          </a:ln>
        </p:spPr>
      </p:sp>
      <p:sp>
        <p:nvSpPr>
          <p:cNvPr id="12" name="Text 10"/>
          <p:cNvSpPr/>
          <p:nvPr/>
        </p:nvSpPr>
        <p:spPr>
          <a:xfrm>
            <a:off x="9098280" y="1444752"/>
            <a:ext cx="2606040" cy="457200"/>
          </a:xfrm>
          <a:prstGeom prst="rect">
            <a:avLst/>
          </a:prstGeom>
          <a:noFill/>
          <a:ln/>
        </p:spPr>
        <p:txBody>
          <a:bodyPr wrap="square" rtlCol="0" anchor="ctr"/>
          <a:lstStyle/>
          <a:p>
            <a:pPr algn="ctr" indent="0" marL="0">
              <a:buNone/>
            </a:pPr>
            <a:r>
              <a:rPr lang="en-US" sz="2200" b="1" dirty="0">
                <a:solidFill>
                  <a:srgbClr val="7FC957"/>
                </a:solidFill>
                <a:latin typeface="Cambria" pitchFamily="34" charset="0"/>
                <a:ea typeface="Cambria" pitchFamily="34" charset="-122"/>
                <a:cs typeface="Cambria" pitchFamily="34" charset="-120"/>
              </a:rPr>
              <a:t>10</a:t>
            </a:r>
            <a:endParaRPr lang="en-US" sz="2200" dirty="0"/>
          </a:p>
        </p:txBody>
      </p:sp>
      <p:sp>
        <p:nvSpPr>
          <p:cNvPr id="13" name="Text 11"/>
          <p:cNvSpPr/>
          <p:nvPr/>
        </p:nvSpPr>
        <p:spPr>
          <a:xfrm>
            <a:off x="9098280" y="1920240"/>
            <a:ext cx="2606040" cy="274320"/>
          </a:xfrm>
          <a:prstGeom prst="rect">
            <a:avLst/>
          </a:prstGeom>
          <a:noFill/>
          <a:ln/>
        </p:spPr>
        <p:txBody>
          <a:bodyPr wrap="square" rtlCol="0" anchor="ctr"/>
          <a:lstStyle/>
          <a:p>
            <a:pPr algn="ctr" indent="0" marL="0">
              <a:buNone/>
            </a:pPr>
            <a:r>
              <a:rPr lang="en-US" sz="950" dirty="0">
                <a:solidFill>
                  <a:srgbClr val="C8D2DC"/>
                </a:solidFill>
                <a:latin typeface="Calibri" pitchFamily="34" charset="0"/>
                <a:ea typeface="Calibri" pitchFamily="34" charset="-122"/>
                <a:cs typeface="Calibri" pitchFamily="34" charset="-120"/>
              </a:rPr>
              <a:t>Hospital KPIs tracked</a:t>
            </a:r>
            <a:endParaRPr lang="en-US" sz="950" dirty="0"/>
          </a:p>
        </p:txBody>
      </p:sp>
      <p:sp>
        <p:nvSpPr>
          <p:cNvPr id="14" name="Shape 12"/>
          <p:cNvSpPr/>
          <p:nvPr/>
        </p:nvSpPr>
        <p:spPr>
          <a:xfrm>
            <a:off x="6309360" y="2468880"/>
            <a:ext cx="2606040" cy="914400"/>
          </a:xfrm>
          <a:prstGeom prst="roundRect">
            <a:avLst>
              <a:gd name="adj" fmla="val 8000"/>
            </a:avLst>
          </a:prstGeom>
          <a:solidFill>
            <a:srgbClr val="101D2B"/>
          </a:solidFill>
          <a:ln w="12700">
            <a:solidFill>
              <a:srgbClr val="22303F"/>
            </a:solidFill>
            <a:prstDash val="solid"/>
          </a:ln>
        </p:spPr>
      </p:sp>
      <p:sp>
        <p:nvSpPr>
          <p:cNvPr id="15" name="Text 13"/>
          <p:cNvSpPr/>
          <p:nvPr/>
        </p:nvSpPr>
        <p:spPr>
          <a:xfrm>
            <a:off x="6309360" y="2542032"/>
            <a:ext cx="2606040" cy="457200"/>
          </a:xfrm>
          <a:prstGeom prst="rect">
            <a:avLst/>
          </a:prstGeom>
          <a:noFill/>
          <a:ln/>
        </p:spPr>
        <p:txBody>
          <a:bodyPr wrap="square" rtlCol="0" anchor="ctr"/>
          <a:lstStyle/>
          <a:p>
            <a:pPr algn="ctr" indent="0" marL="0">
              <a:buNone/>
            </a:pPr>
            <a:r>
              <a:rPr lang="en-US" sz="2200" b="1" dirty="0">
                <a:solidFill>
                  <a:srgbClr val="7FC957"/>
                </a:solidFill>
                <a:latin typeface="Cambria" pitchFamily="34" charset="0"/>
                <a:ea typeface="Cambria" pitchFamily="34" charset="-122"/>
                <a:cs typeface="Cambria" pitchFamily="34" charset="-120"/>
              </a:rPr>
              <a:t>61,619</a:t>
            </a:r>
            <a:endParaRPr lang="en-US" sz="2200" dirty="0"/>
          </a:p>
        </p:txBody>
      </p:sp>
      <p:sp>
        <p:nvSpPr>
          <p:cNvPr id="16" name="Text 14"/>
          <p:cNvSpPr/>
          <p:nvPr/>
        </p:nvSpPr>
        <p:spPr>
          <a:xfrm>
            <a:off x="6309360" y="3017520"/>
            <a:ext cx="2606040" cy="274320"/>
          </a:xfrm>
          <a:prstGeom prst="rect">
            <a:avLst/>
          </a:prstGeom>
          <a:noFill/>
          <a:ln/>
        </p:spPr>
        <p:txBody>
          <a:bodyPr wrap="square" rtlCol="0" anchor="ctr"/>
          <a:lstStyle/>
          <a:p>
            <a:pPr algn="ctr" indent="0" marL="0">
              <a:buNone/>
            </a:pPr>
            <a:r>
              <a:rPr lang="en-US" sz="950" dirty="0">
                <a:solidFill>
                  <a:srgbClr val="C8D2DC"/>
                </a:solidFill>
                <a:latin typeface="Calibri" pitchFamily="34" charset="0"/>
                <a:ea typeface="Calibri" pitchFamily="34" charset="-122"/>
                <a:cs typeface="Calibri" pitchFamily="34" charset="-120"/>
              </a:rPr>
              <a:t>Admission records analyzed</a:t>
            </a:r>
            <a:endParaRPr lang="en-US" sz="950" dirty="0"/>
          </a:p>
        </p:txBody>
      </p:sp>
      <p:sp>
        <p:nvSpPr>
          <p:cNvPr id="17" name="Shape 15"/>
          <p:cNvSpPr/>
          <p:nvPr/>
        </p:nvSpPr>
        <p:spPr>
          <a:xfrm>
            <a:off x="9098280" y="2468880"/>
            <a:ext cx="2606040" cy="914400"/>
          </a:xfrm>
          <a:prstGeom prst="roundRect">
            <a:avLst>
              <a:gd name="adj" fmla="val 8000"/>
            </a:avLst>
          </a:prstGeom>
          <a:solidFill>
            <a:srgbClr val="101D2B"/>
          </a:solidFill>
          <a:ln w="12700">
            <a:solidFill>
              <a:srgbClr val="22303F"/>
            </a:solidFill>
            <a:prstDash val="solid"/>
          </a:ln>
        </p:spPr>
      </p:sp>
      <p:sp>
        <p:nvSpPr>
          <p:cNvPr id="18" name="Text 16"/>
          <p:cNvSpPr/>
          <p:nvPr/>
        </p:nvSpPr>
        <p:spPr>
          <a:xfrm>
            <a:off x="9098280" y="2542032"/>
            <a:ext cx="2606040" cy="457200"/>
          </a:xfrm>
          <a:prstGeom prst="rect">
            <a:avLst/>
          </a:prstGeom>
          <a:noFill/>
          <a:ln/>
        </p:spPr>
        <p:txBody>
          <a:bodyPr wrap="square" rtlCol="0" anchor="ctr"/>
          <a:lstStyle/>
          <a:p>
            <a:pPr algn="ctr" indent="0" marL="0">
              <a:buNone/>
            </a:pPr>
            <a:r>
              <a:rPr lang="en-US" sz="2200" b="1" dirty="0">
                <a:solidFill>
                  <a:srgbClr val="7FC957"/>
                </a:solidFill>
                <a:latin typeface="Cambria" pitchFamily="34" charset="0"/>
                <a:ea typeface="Cambria" pitchFamily="34" charset="-122"/>
                <a:cs typeface="Cambria" pitchFamily="34" charset="-120"/>
              </a:rPr>
              <a:t>2</a:t>
            </a:r>
            <a:endParaRPr lang="en-US" sz="2200" dirty="0"/>
          </a:p>
        </p:txBody>
      </p:sp>
      <p:sp>
        <p:nvSpPr>
          <p:cNvPr id="19" name="Text 17"/>
          <p:cNvSpPr/>
          <p:nvPr/>
        </p:nvSpPr>
        <p:spPr>
          <a:xfrm>
            <a:off x="9098280" y="3017520"/>
            <a:ext cx="2606040" cy="274320"/>
          </a:xfrm>
          <a:prstGeom prst="rect">
            <a:avLst/>
          </a:prstGeom>
          <a:noFill/>
          <a:ln/>
        </p:spPr>
        <p:txBody>
          <a:bodyPr wrap="square" rtlCol="0" anchor="ctr"/>
          <a:lstStyle/>
          <a:p>
            <a:pPr algn="ctr" indent="0" marL="0">
              <a:buNone/>
            </a:pPr>
            <a:r>
              <a:rPr lang="en-US" sz="950" dirty="0">
                <a:solidFill>
                  <a:srgbClr val="C8D2DC"/>
                </a:solidFill>
                <a:latin typeface="Calibri" pitchFamily="34" charset="0"/>
                <a:ea typeface="Calibri" pitchFamily="34" charset="-122"/>
                <a:cs typeface="Calibri" pitchFamily="34" charset="-120"/>
              </a:rPr>
              <a:t>Years of data (2024–25)</a:t>
            </a:r>
            <a:endParaRPr lang="en-US" sz="950" dirty="0"/>
          </a:p>
        </p:txBody>
      </p:sp>
      <p:sp>
        <p:nvSpPr>
          <p:cNvPr id="20" name="Text 18"/>
          <p:cNvSpPr/>
          <p:nvPr/>
        </p:nvSpPr>
        <p:spPr>
          <a:xfrm>
            <a:off x="640080" y="3749040"/>
            <a:ext cx="10881360" cy="274320"/>
          </a:xfrm>
          <a:prstGeom prst="rect">
            <a:avLst/>
          </a:prstGeom>
          <a:noFill/>
          <a:ln/>
        </p:spPr>
        <p:txBody>
          <a:bodyPr wrap="square" rtlCol="0" anchor="ctr"/>
          <a:lstStyle/>
          <a:p>
            <a:pPr indent="0" marL="0">
              <a:buNone/>
            </a:pPr>
            <a:r>
              <a:rPr lang="en-US" sz="1100" b="1" spc="200" kern="0" dirty="0">
                <a:solidFill>
                  <a:srgbClr val="4CB8C4"/>
                </a:solidFill>
                <a:latin typeface="Calibri" pitchFamily="34" charset="0"/>
                <a:ea typeface="Calibri" pitchFamily="34" charset="-122"/>
                <a:cs typeface="Calibri" pitchFamily="34" charset="-120"/>
              </a:rPr>
              <a:t>THE 4 DASHBOARDS</a:t>
            </a:r>
            <a:endParaRPr lang="en-US" sz="1100" dirty="0"/>
          </a:p>
        </p:txBody>
      </p:sp>
      <p:sp>
        <p:nvSpPr>
          <p:cNvPr id="21" name="Shape 19"/>
          <p:cNvSpPr/>
          <p:nvPr/>
        </p:nvSpPr>
        <p:spPr>
          <a:xfrm>
            <a:off x="640080" y="4069080"/>
            <a:ext cx="2651760" cy="1371600"/>
          </a:xfrm>
          <a:prstGeom prst="roundRect">
            <a:avLst>
              <a:gd name="adj" fmla="val 5333"/>
            </a:avLst>
          </a:prstGeom>
          <a:solidFill>
            <a:srgbClr val="101D2B"/>
          </a:solidFill>
          <a:ln w="12700">
            <a:solidFill>
              <a:srgbClr val="4CB8C4"/>
            </a:solidFill>
            <a:prstDash val="solid"/>
          </a:ln>
        </p:spPr>
      </p:sp>
      <p:sp>
        <p:nvSpPr>
          <p:cNvPr id="22" name="Text 20"/>
          <p:cNvSpPr/>
          <p:nvPr/>
        </p:nvSpPr>
        <p:spPr>
          <a:xfrm>
            <a:off x="777240" y="4206240"/>
            <a:ext cx="2377440" cy="45720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Hospital Overview</a:t>
            </a:r>
            <a:endParaRPr lang="en-US" sz="1300" dirty="0"/>
          </a:p>
        </p:txBody>
      </p:sp>
      <p:sp>
        <p:nvSpPr>
          <p:cNvPr id="23" name="Text 21"/>
          <p:cNvSpPr/>
          <p:nvPr/>
        </p:nvSpPr>
        <p:spPr>
          <a:xfrm>
            <a:off x="777240" y="4663440"/>
            <a:ext cx="2377440" cy="685800"/>
          </a:xfrm>
          <a:prstGeom prst="rect">
            <a:avLst/>
          </a:prstGeom>
          <a:noFill/>
          <a:ln/>
        </p:spPr>
        <p:txBody>
          <a:bodyPr wrap="square" rtlCol="0" anchor="ctr"/>
          <a:lstStyle/>
          <a:p>
            <a:pPr indent="0" marL="0">
              <a:lnSpc>
                <a:spcPct val="120000"/>
              </a:lnSpc>
              <a:buNone/>
            </a:pPr>
            <a:r>
              <a:rPr lang="en-US" sz="950" dirty="0">
                <a:solidFill>
                  <a:srgbClr val="C8D2DC"/>
                </a:solidFill>
                <a:latin typeface="Calibri" pitchFamily="34" charset="0"/>
                <a:ea typeface="Calibri" pitchFamily="34" charset="-122"/>
                <a:cs typeface="Calibri" pitchFamily="34" charset="-120"/>
              </a:rPr>
              <a:t>Admissions, occupancy &amp; readmission trends</a:t>
            </a:r>
            <a:endParaRPr lang="en-US" sz="950" dirty="0"/>
          </a:p>
        </p:txBody>
      </p:sp>
      <p:sp>
        <p:nvSpPr>
          <p:cNvPr id="24" name="Shape 22"/>
          <p:cNvSpPr/>
          <p:nvPr/>
        </p:nvSpPr>
        <p:spPr>
          <a:xfrm>
            <a:off x="3429000" y="4069080"/>
            <a:ext cx="2651760" cy="1371600"/>
          </a:xfrm>
          <a:prstGeom prst="roundRect">
            <a:avLst>
              <a:gd name="adj" fmla="val 5333"/>
            </a:avLst>
          </a:prstGeom>
          <a:solidFill>
            <a:srgbClr val="101D2B"/>
          </a:solidFill>
          <a:ln w="12700">
            <a:solidFill>
              <a:srgbClr val="4CB8C4"/>
            </a:solidFill>
            <a:prstDash val="solid"/>
          </a:ln>
        </p:spPr>
      </p:sp>
      <p:sp>
        <p:nvSpPr>
          <p:cNvPr id="25" name="Text 23"/>
          <p:cNvSpPr/>
          <p:nvPr/>
        </p:nvSpPr>
        <p:spPr>
          <a:xfrm>
            <a:off x="3566160" y="4206240"/>
            <a:ext cx="2377440" cy="45720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Patient Flow</a:t>
            </a:r>
            <a:endParaRPr lang="en-US" sz="1300" dirty="0"/>
          </a:p>
        </p:txBody>
      </p:sp>
      <p:sp>
        <p:nvSpPr>
          <p:cNvPr id="26" name="Text 24"/>
          <p:cNvSpPr/>
          <p:nvPr/>
        </p:nvSpPr>
        <p:spPr>
          <a:xfrm>
            <a:off x="3566160" y="4663440"/>
            <a:ext cx="2377440" cy="685800"/>
          </a:xfrm>
          <a:prstGeom prst="rect">
            <a:avLst/>
          </a:prstGeom>
          <a:noFill/>
          <a:ln/>
        </p:spPr>
        <p:txBody>
          <a:bodyPr wrap="square" rtlCol="0" anchor="ctr"/>
          <a:lstStyle/>
          <a:p>
            <a:pPr indent="0" marL="0">
              <a:lnSpc>
                <a:spcPct val="120000"/>
              </a:lnSpc>
              <a:buNone/>
            </a:pPr>
            <a:r>
              <a:rPr lang="en-US" sz="950" dirty="0">
                <a:solidFill>
                  <a:srgbClr val="C8D2DC"/>
                </a:solidFill>
                <a:latin typeface="Calibri" pitchFamily="34" charset="0"/>
                <a:ea typeface="Calibri" pitchFamily="34" charset="-122"/>
                <a:cs typeface="Calibri" pitchFamily="34" charset="-120"/>
              </a:rPr>
              <a:t>Admission/discharge tracking &amp; peak load</a:t>
            </a:r>
            <a:endParaRPr lang="en-US" sz="950" dirty="0"/>
          </a:p>
        </p:txBody>
      </p:sp>
      <p:sp>
        <p:nvSpPr>
          <p:cNvPr id="27" name="Shape 25"/>
          <p:cNvSpPr/>
          <p:nvPr/>
        </p:nvSpPr>
        <p:spPr>
          <a:xfrm>
            <a:off x="6217920" y="4069080"/>
            <a:ext cx="2651760" cy="1371600"/>
          </a:xfrm>
          <a:prstGeom prst="roundRect">
            <a:avLst>
              <a:gd name="adj" fmla="val 5333"/>
            </a:avLst>
          </a:prstGeom>
          <a:solidFill>
            <a:srgbClr val="101D2B"/>
          </a:solidFill>
          <a:ln w="12700">
            <a:solidFill>
              <a:srgbClr val="4CB8C4"/>
            </a:solidFill>
            <a:prstDash val="solid"/>
          </a:ln>
        </p:spPr>
      </p:sp>
      <p:sp>
        <p:nvSpPr>
          <p:cNvPr id="28" name="Text 26"/>
          <p:cNvSpPr/>
          <p:nvPr/>
        </p:nvSpPr>
        <p:spPr>
          <a:xfrm>
            <a:off x="6355080" y="4206240"/>
            <a:ext cx="2377440" cy="45720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Department Analytics</a:t>
            </a:r>
            <a:endParaRPr lang="en-US" sz="1300" dirty="0"/>
          </a:p>
        </p:txBody>
      </p:sp>
      <p:sp>
        <p:nvSpPr>
          <p:cNvPr id="29" name="Text 27"/>
          <p:cNvSpPr/>
          <p:nvPr/>
        </p:nvSpPr>
        <p:spPr>
          <a:xfrm>
            <a:off x="6355080" y="4663440"/>
            <a:ext cx="2377440" cy="685800"/>
          </a:xfrm>
          <a:prstGeom prst="rect">
            <a:avLst/>
          </a:prstGeom>
          <a:noFill/>
          <a:ln/>
        </p:spPr>
        <p:txBody>
          <a:bodyPr wrap="square" rtlCol="0" anchor="ctr"/>
          <a:lstStyle/>
          <a:p>
            <a:pPr indent="0" marL="0">
              <a:lnSpc>
                <a:spcPct val="120000"/>
              </a:lnSpc>
              <a:buNone/>
            </a:pPr>
            <a:r>
              <a:rPr lang="en-US" sz="950" dirty="0">
                <a:solidFill>
                  <a:srgbClr val="C8D2DC"/>
                </a:solidFill>
                <a:latin typeface="Calibri" pitchFamily="34" charset="0"/>
                <a:ea typeface="Calibri" pitchFamily="34" charset="-122"/>
                <a:cs typeface="Calibri" pitchFamily="34" charset="-120"/>
              </a:rPr>
              <a:t>Efficiency comparison across 7 departments</a:t>
            </a:r>
            <a:endParaRPr lang="en-US" sz="950" dirty="0"/>
          </a:p>
        </p:txBody>
      </p:sp>
      <p:sp>
        <p:nvSpPr>
          <p:cNvPr id="30" name="Shape 28"/>
          <p:cNvSpPr/>
          <p:nvPr/>
        </p:nvSpPr>
        <p:spPr>
          <a:xfrm>
            <a:off x="9006840" y="4069080"/>
            <a:ext cx="2651760" cy="1371600"/>
          </a:xfrm>
          <a:prstGeom prst="roundRect">
            <a:avLst>
              <a:gd name="adj" fmla="val 5333"/>
            </a:avLst>
          </a:prstGeom>
          <a:solidFill>
            <a:srgbClr val="101D2B"/>
          </a:solidFill>
          <a:ln w="12700">
            <a:solidFill>
              <a:srgbClr val="4CB8C4"/>
            </a:solidFill>
            <a:prstDash val="solid"/>
          </a:ln>
        </p:spPr>
      </p:sp>
      <p:sp>
        <p:nvSpPr>
          <p:cNvPr id="31" name="Text 29"/>
          <p:cNvSpPr/>
          <p:nvPr/>
        </p:nvSpPr>
        <p:spPr>
          <a:xfrm>
            <a:off x="9144000" y="4206240"/>
            <a:ext cx="2377440" cy="45720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Resource Utilization</a:t>
            </a:r>
            <a:endParaRPr lang="en-US" sz="1300" dirty="0"/>
          </a:p>
        </p:txBody>
      </p:sp>
      <p:sp>
        <p:nvSpPr>
          <p:cNvPr id="32" name="Text 30"/>
          <p:cNvSpPr/>
          <p:nvPr/>
        </p:nvSpPr>
        <p:spPr>
          <a:xfrm>
            <a:off x="9144000" y="4663440"/>
            <a:ext cx="2377440" cy="685800"/>
          </a:xfrm>
          <a:prstGeom prst="rect">
            <a:avLst/>
          </a:prstGeom>
          <a:noFill/>
          <a:ln/>
        </p:spPr>
        <p:txBody>
          <a:bodyPr wrap="square" rtlCol="0" anchor="ctr"/>
          <a:lstStyle/>
          <a:p>
            <a:pPr indent="0" marL="0">
              <a:lnSpc>
                <a:spcPct val="120000"/>
              </a:lnSpc>
              <a:buNone/>
            </a:pPr>
            <a:r>
              <a:rPr lang="en-US" sz="950" dirty="0">
                <a:solidFill>
                  <a:srgbClr val="C8D2DC"/>
                </a:solidFill>
                <a:latin typeface="Calibri" pitchFamily="34" charset="0"/>
                <a:ea typeface="Calibri" pitchFamily="34" charset="-122"/>
                <a:cs typeface="Calibri" pitchFamily="34" charset="-120"/>
              </a:rPr>
              <a:t>Bed capacity &amp; availability planning</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420"/>
        </a:solidFill>
      </p:bgPr>
    </p:bg>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01D2B"/>
          </a:solidFill>
          <a:ln/>
        </p:spPr>
      </p:sp>
      <p:sp>
        <p:nvSpPr>
          <p:cNvPr id="3" name="Shape 1"/>
          <p:cNvSpPr/>
          <p:nvPr/>
        </p:nvSpPr>
        <p:spPr>
          <a:xfrm>
            <a:off x="0" y="960120"/>
            <a:ext cx="12188952" cy="27432"/>
          </a:xfrm>
          <a:prstGeom prst="rect">
            <a:avLst/>
          </a:prstGeom>
          <a:solidFill>
            <a:srgbClr val="4CB8C4"/>
          </a:solidFill>
          <a:ln/>
        </p:spPr>
      </p:sp>
      <p:sp>
        <p:nvSpPr>
          <p:cNvPr id="4" name="Text 2"/>
          <p:cNvSpPr/>
          <p:nvPr/>
        </p:nvSpPr>
        <p:spPr>
          <a:xfrm>
            <a:off x="548640" y="137160"/>
            <a:ext cx="10515600" cy="548640"/>
          </a:xfrm>
          <a:prstGeom prst="rect">
            <a:avLst/>
          </a:prstGeom>
          <a:noFill/>
          <a:ln/>
        </p:spPr>
        <p:txBody>
          <a:bodyPr wrap="square"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Approach &amp; Architecture</a:t>
            </a:r>
            <a:endParaRPr lang="en-US" sz="2600" dirty="0"/>
          </a:p>
        </p:txBody>
      </p:sp>
      <p:sp>
        <p:nvSpPr>
          <p:cNvPr id="5" name="Text 3"/>
          <p:cNvSpPr/>
          <p:nvPr/>
        </p:nvSpPr>
        <p:spPr>
          <a:xfrm>
            <a:off x="548640" y="566928"/>
            <a:ext cx="10515600" cy="320040"/>
          </a:xfrm>
          <a:prstGeom prst="rect">
            <a:avLst/>
          </a:prstGeom>
          <a:noFill/>
          <a:ln/>
        </p:spPr>
        <p:txBody>
          <a:bodyPr wrap="square" rtlCol="0" anchor="ctr"/>
          <a:lstStyle/>
          <a:p>
            <a:pPr indent="0" marL="0">
              <a:buNone/>
            </a:pPr>
            <a:r>
              <a:rPr lang="en-US" sz="1200" i="1" dirty="0">
                <a:solidFill>
                  <a:srgbClr val="C8D2DC"/>
                </a:solidFill>
                <a:latin typeface="Calibri" pitchFamily="34" charset="0"/>
                <a:ea typeface="Calibri" pitchFamily="34" charset="-122"/>
                <a:cs typeface="Calibri" pitchFamily="34" charset="-120"/>
              </a:rPr>
              <a:t>From raw data to a live dashboard</a:t>
            </a:r>
            <a:endParaRPr lang="en-US" sz="1200" dirty="0"/>
          </a:p>
        </p:txBody>
      </p:sp>
      <p:sp>
        <p:nvSpPr>
          <p:cNvPr id="6" name="Shape 4"/>
          <p:cNvSpPr/>
          <p:nvPr/>
        </p:nvSpPr>
        <p:spPr>
          <a:xfrm>
            <a:off x="548640" y="2377440"/>
            <a:ext cx="1965960" cy="1371600"/>
          </a:xfrm>
          <a:prstGeom prst="roundRect">
            <a:avLst>
              <a:gd name="adj" fmla="val 6667"/>
            </a:avLst>
          </a:prstGeom>
          <a:solidFill>
            <a:srgbClr val="101D2B"/>
          </a:solidFill>
          <a:ln w="25400">
            <a:solidFill>
              <a:srgbClr val="4CB8C4"/>
            </a:solidFill>
            <a:prstDash val="solid"/>
          </a:ln>
        </p:spPr>
      </p:sp>
      <p:sp>
        <p:nvSpPr>
          <p:cNvPr id="7" name="Text 5"/>
          <p:cNvSpPr/>
          <p:nvPr/>
        </p:nvSpPr>
        <p:spPr>
          <a:xfrm>
            <a:off x="640080" y="2514600"/>
            <a:ext cx="1783080" cy="365760"/>
          </a:xfrm>
          <a:prstGeom prst="rect">
            <a:avLst/>
          </a:prstGeom>
          <a:noFill/>
          <a:ln/>
        </p:spPr>
        <p:txBody>
          <a:bodyPr wrap="square" rtlCol="0" anchor="ctr"/>
          <a:lstStyle/>
          <a:p>
            <a:pPr algn="ctr" indent="0" marL="0">
              <a:buNone/>
            </a:pPr>
            <a:r>
              <a:rPr lang="en-US" sz="1300" b="1" dirty="0">
                <a:solidFill>
                  <a:srgbClr val="4CB8C4"/>
                </a:solidFill>
                <a:latin typeface="Calibri" pitchFamily="34" charset="0"/>
                <a:ea typeface="Calibri" pitchFamily="34" charset="-122"/>
                <a:cs typeface="Calibri" pitchFamily="34" charset="-120"/>
              </a:rPr>
              <a:t>Raw Data</a:t>
            </a:r>
            <a:endParaRPr lang="en-US" sz="1300" dirty="0"/>
          </a:p>
        </p:txBody>
      </p:sp>
      <p:sp>
        <p:nvSpPr>
          <p:cNvPr id="8" name="Text 6"/>
          <p:cNvSpPr/>
          <p:nvPr/>
        </p:nvSpPr>
        <p:spPr>
          <a:xfrm>
            <a:off x="640080" y="2926080"/>
            <a:ext cx="1783080" cy="685800"/>
          </a:xfrm>
          <a:prstGeom prst="rect">
            <a:avLst/>
          </a:prstGeom>
          <a:noFill/>
          <a:ln/>
        </p:spPr>
        <p:txBody>
          <a:bodyPr wrap="square" rtlCol="0" anchor="ctr"/>
          <a:lstStyle/>
          <a:p>
            <a:pPr algn="ctr" indent="0" marL="0">
              <a:lnSpc>
                <a:spcPct val="115000"/>
              </a:lnSpc>
              <a:buNone/>
            </a:pPr>
            <a:r>
              <a:rPr lang="en-US" sz="1000" dirty="0">
                <a:solidFill>
                  <a:srgbClr val="C8D2DC"/>
                </a:solidFill>
                <a:latin typeface="Calibri" pitchFamily="34" charset="0"/>
                <a:ea typeface="Calibri" pitchFamily="34" charset="-122"/>
                <a:cs typeface="Calibri" pitchFamily="34" charset="-120"/>
              </a:rPr>
              <a:t>Hospital admission</a:t>
            </a:r>
            <a:endParaRPr lang="en-US" sz="1000" dirty="0"/>
          </a:p>
          <a:p>
            <a:pPr algn="ctr" indent="0" marL="0">
              <a:lnSpc>
                <a:spcPct val="115000"/>
              </a:lnSpc>
              <a:buNone/>
            </a:pPr>
            <a:r>
              <a:rPr lang="en-US" sz="1000" dirty="0">
                <a:solidFill>
                  <a:srgbClr val="C8D2DC"/>
                </a:solidFill>
                <a:latin typeface="Calibri" pitchFamily="34" charset="0"/>
                <a:ea typeface="Calibri" pitchFamily="34" charset="-122"/>
                <a:cs typeface="Calibri" pitchFamily="34" charset="-120"/>
              </a:rPr>
              <a:t>records (.csv)</a:t>
            </a:r>
            <a:endParaRPr lang="en-US" sz="1000" dirty="0"/>
          </a:p>
        </p:txBody>
      </p:sp>
      <p:sp>
        <p:nvSpPr>
          <p:cNvPr id="9" name="Text 7"/>
          <p:cNvSpPr/>
          <p:nvPr/>
        </p:nvSpPr>
        <p:spPr>
          <a:xfrm>
            <a:off x="2514600" y="2377440"/>
            <a:ext cx="256032" cy="1371600"/>
          </a:xfrm>
          <a:prstGeom prst="rect">
            <a:avLst/>
          </a:prstGeom>
          <a:noFill/>
          <a:ln/>
        </p:spPr>
        <p:txBody>
          <a:bodyPr wrap="square" rtlCol="0" anchor="ctr"/>
          <a:lstStyle/>
          <a:p>
            <a:pPr algn="ctr" indent="0" marL="0">
              <a:buNone/>
            </a:pPr>
            <a:r>
              <a:rPr lang="en-US" sz="2200" b="1" dirty="0">
                <a:solidFill>
                  <a:srgbClr val="8A96A3"/>
                </a:solidFill>
                <a:latin typeface="Cambria" pitchFamily="34" charset="0"/>
                <a:ea typeface="Cambria" pitchFamily="34" charset="-122"/>
                <a:cs typeface="Cambria" pitchFamily="34" charset="-120"/>
              </a:rPr>
              <a:t>→</a:t>
            </a:r>
            <a:endParaRPr lang="en-US" sz="2200" dirty="0"/>
          </a:p>
        </p:txBody>
      </p:sp>
      <p:sp>
        <p:nvSpPr>
          <p:cNvPr id="10" name="Shape 8"/>
          <p:cNvSpPr/>
          <p:nvPr/>
        </p:nvSpPr>
        <p:spPr>
          <a:xfrm>
            <a:off x="2770632" y="2377440"/>
            <a:ext cx="1965960" cy="1371600"/>
          </a:xfrm>
          <a:prstGeom prst="roundRect">
            <a:avLst>
              <a:gd name="adj" fmla="val 6667"/>
            </a:avLst>
          </a:prstGeom>
          <a:solidFill>
            <a:srgbClr val="101D2B"/>
          </a:solidFill>
          <a:ln w="25400">
            <a:solidFill>
              <a:srgbClr val="7FC957"/>
            </a:solidFill>
            <a:prstDash val="solid"/>
          </a:ln>
        </p:spPr>
      </p:sp>
      <p:sp>
        <p:nvSpPr>
          <p:cNvPr id="11" name="Text 9"/>
          <p:cNvSpPr/>
          <p:nvPr/>
        </p:nvSpPr>
        <p:spPr>
          <a:xfrm>
            <a:off x="2862072" y="2514600"/>
            <a:ext cx="1783080" cy="365760"/>
          </a:xfrm>
          <a:prstGeom prst="rect">
            <a:avLst/>
          </a:prstGeom>
          <a:noFill/>
          <a:ln/>
        </p:spPr>
        <p:txBody>
          <a:bodyPr wrap="square" rtlCol="0" anchor="ctr"/>
          <a:lstStyle/>
          <a:p>
            <a:pPr algn="ctr" indent="0" marL="0">
              <a:buNone/>
            </a:pPr>
            <a:r>
              <a:rPr lang="en-US" sz="1300" b="1" dirty="0">
                <a:solidFill>
                  <a:srgbClr val="7FC957"/>
                </a:solidFill>
                <a:latin typeface="Calibri" pitchFamily="34" charset="0"/>
                <a:ea typeface="Calibri" pitchFamily="34" charset="-122"/>
                <a:cs typeface="Calibri" pitchFamily="34" charset="-120"/>
              </a:rPr>
              <a:t>Cleaning</a:t>
            </a:r>
            <a:endParaRPr lang="en-US" sz="1300" dirty="0"/>
          </a:p>
        </p:txBody>
      </p:sp>
      <p:sp>
        <p:nvSpPr>
          <p:cNvPr id="12" name="Text 10"/>
          <p:cNvSpPr/>
          <p:nvPr/>
        </p:nvSpPr>
        <p:spPr>
          <a:xfrm>
            <a:off x="2862072" y="2926080"/>
            <a:ext cx="1783080" cy="685800"/>
          </a:xfrm>
          <a:prstGeom prst="rect">
            <a:avLst/>
          </a:prstGeom>
          <a:noFill/>
          <a:ln/>
        </p:spPr>
        <p:txBody>
          <a:bodyPr wrap="square" rtlCol="0" anchor="ctr"/>
          <a:lstStyle/>
          <a:p>
            <a:pPr algn="ctr" indent="0" marL="0">
              <a:lnSpc>
                <a:spcPct val="115000"/>
              </a:lnSpc>
              <a:buNone/>
            </a:pPr>
            <a:r>
              <a:rPr lang="en-US" sz="1000" dirty="0">
                <a:solidFill>
                  <a:srgbClr val="C8D2DC"/>
                </a:solidFill>
                <a:latin typeface="Calibri" pitchFamily="34" charset="0"/>
                <a:ea typeface="Calibri" pitchFamily="34" charset="-122"/>
                <a:cs typeface="Calibri" pitchFamily="34" charset="-120"/>
              </a:rPr>
              <a:t>Python + pandas</a:t>
            </a:r>
            <a:endParaRPr lang="en-US" sz="1000" dirty="0"/>
          </a:p>
          <a:p>
            <a:pPr algn="ctr" indent="0" marL="0">
              <a:lnSpc>
                <a:spcPct val="115000"/>
              </a:lnSpc>
              <a:buNone/>
            </a:pPr>
            <a:r>
              <a:rPr lang="en-US" sz="1000" dirty="0">
                <a:solidFill>
                  <a:srgbClr val="C8D2DC"/>
                </a:solidFill>
                <a:latin typeface="Calibri" pitchFamily="34" charset="0"/>
                <a:ea typeface="Calibri" pitchFamily="34" charset="-122"/>
                <a:cs typeface="Calibri" pitchFamily="34" charset="-120"/>
              </a:rPr>
              <a:t>(Google Colab)</a:t>
            </a:r>
            <a:endParaRPr lang="en-US" sz="1000" dirty="0"/>
          </a:p>
        </p:txBody>
      </p:sp>
      <p:sp>
        <p:nvSpPr>
          <p:cNvPr id="13" name="Text 11"/>
          <p:cNvSpPr/>
          <p:nvPr/>
        </p:nvSpPr>
        <p:spPr>
          <a:xfrm>
            <a:off x="4736592" y="2377440"/>
            <a:ext cx="256032" cy="1371600"/>
          </a:xfrm>
          <a:prstGeom prst="rect">
            <a:avLst/>
          </a:prstGeom>
          <a:noFill/>
          <a:ln/>
        </p:spPr>
        <p:txBody>
          <a:bodyPr wrap="square" rtlCol="0" anchor="ctr"/>
          <a:lstStyle/>
          <a:p>
            <a:pPr algn="ctr" indent="0" marL="0">
              <a:buNone/>
            </a:pPr>
            <a:r>
              <a:rPr lang="en-US" sz="2200" b="1" dirty="0">
                <a:solidFill>
                  <a:srgbClr val="8A96A3"/>
                </a:solidFill>
                <a:latin typeface="Cambria" pitchFamily="34" charset="0"/>
                <a:ea typeface="Cambria" pitchFamily="34" charset="-122"/>
                <a:cs typeface="Cambria" pitchFamily="34" charset="-120"/>
              </a:rPr>
              <a:t>→</a:t>
            </a:r>
            <a:endParaRPr lang="en-US" sz="2200" dirty="0"/>
          </a:p>
        </p:txBody>
      </p:sp>
      <p:sp>
        <p:nvSpPr>
          <p:cNvPr id="14" name="Shape 12"/>
          <p:cNvSpPr/>
          <p:nvPr/>
        </p:nvSpPr>
        <p:spPr>
          <a:xfrm>
            <a:off x="4992624" y="2377440"/>
            <a:ext cx="1965960" cy="1371600"/>
          </a:xfrm>
          <a:prstGeom prst="roundRect">
            <a:avLst>
              <a:gd name="adj" fmla="val 6667"/>
            </a:avLst>
          </a:prstGeom>
          <a:solidFill>
            <a:srgbClr val="101D2B"/>
          </a:solidFill>
          <a:ln w="25400">
            <a:solidFill>
              <a:srgbClr val="F0A94E"/>
            </a:solidFill>
            <a:prstDash val="solid"/>
          </a:ln>
        </p:spPr>
      </p:sp>
      <p:sp>
        <p:nvSpPr>
          <p:cNvPr id="15" name="Text 13"/>
          <p:cNvSpPr/>
          <p:nvPr/>
        </p:nvSpPr>
        <p:spPr>
          <a:xfrm>
            <a:off x="5084064" y="2514600"/>
            <a:ext cx="1783080" cy="365760"/>
          </a:xfrm>
          <a:prstGeom prst="rect">
            <a:avLst/>
          </a:prstGeom>
          <a:noFill/>
          <a:ln/>
        </p:spPr>
        <p:txBody>
          <a:bodyPr wrap="square" rtlCol="0" anchor="ctr"/>
          <a:lstStyle/>
          <a:p>
            <a:pPr algn="ctr" indent="0" marL="0">
              <a:buNone/>
            </a:pPr>
            <a:r>
              <a:rPr lang="en-US" sz="1300" b="1" dirty="0">
                <a:solidFill>
                  <a:srgbClr val="F0A94E"/>
                </a:solidFill>
                <a:latin typeface="Calibri" pitchFamily="34" charset="0"/>
                <a:ea typeface="Calibri" pitchFamily="34" charset="-122"/>
                <a:cs typeface="Calibri" pitchFamily="34" charset="-120"/>
              </a:rPr>
              <a:t>KPI Engineering</a:t>
            </a:r>
            <a:endParaRPr lang="en-US" sz="1300" dirty="0"/>
          </a:p>
        </p:txBody>
      </p:sp>
      <p:sp>
        <p:nvSpPr>
          <p:cNvPr id="16" name="Text 14"/>
          <p:cNvSpPr/>
          <p:nvPr/>
        </p:nvSpPr>
        <p:spPr>
          <a:xfrm>
            <a:off x="5084064" y="2926080"/>
            <a:ext cx="1783080" cy="685800"/>
          </a:xfrm>
          <a:prstGeom prst="rect">
            <a:avLst/>
          </a:prstGeom>
          <a:noFill/>
          <a:ln/>
        </p:spPr>
        <p:txBody>
          <a:bodyPr wrap="square" rtlCol="0" anchor="ctr"/>
          <a:lstStyle/>
          <a:p>
            <a:pPr algn="ctr" indent="0" marL="0">
              <a:lnSpc>
                <a:spcPct val="115000"/>
              </a:lnSpc>
              <a:buNone/>
            </a:pPr>
            <a:r>
              <a:rPr lang="en-US" sz="1000" dirty="0">
                <a:solidFill>
                  <a:srgbClr val="C8D2DC"/>
                </a:solidFill>
                <a:latin typeface="Calibri" pitchFamily="34" charset="0"/>
                <a:ea typeface="Calibri" pitchFamily="34" charset="-122"/>
                <a:cs typeface="Calibri" pitchFamily="34" charset="-120"/>
              </a:rPr>
              <a:t>DAX measures in</a:t>
            </a:r>
            <a:endParaRPr lang="en-US" sz="1000" dirty="0"/>
          </a:p>
          <a:p>
            <a:pPr algn="ctr" indent="0" marL="0">
              <a:lnSpc>
                <a:spcPct val="115000"/>
              </a:lnSpc>
              <a:buNone/>
            </a:pPr>
            <a:r>
              <a:rPr lang="en-US" sz="1000" dirty="0">
                <a:solidFill>
                  <a:srgbClr val="C8D2DC"/>
                </a:solidFill>
                <a:latin typeface="Calibri" pitchFamily="34" charset="0"/>
                <a:ea typeface="Calibri" pitchFamily="34" charset="-122"/>
                <a:cs typeface="Calibri" pitchFamily="34" charset="-120"/>
              </a:rPr>
              <a:t>Power BI</a:t>
            </a:r>
            <a:endParaRPr lang="en-US" sz="1000" dirty="0"/>
          </a:p>
        </p:txBody>
      </p:sp>
      <p:sp>
        <p:nvSpPr>
          <p:cNvPr id="17" name="Text 15"/>
          <p:cNvSpPr/>
          <p:nvPr/>
        </p:nvSpPr>
        <p:spPr>
          <a:xfrm>
            <a:off x="6958584" y="2377440"/>
            <a:ext cx="256032" cy="1371600"/>
          </a:xfrm>
          <a:prstGeom prst="rect">
            <a:avLst/>
          </a:prstGeom>
          <a:noFill/>
          <a:ln/>
        </p:spPr>
        <p:txBody>
          <a:bodyPr wrap="square" rtlCol="0" anchor="ctr"/>
          <a:lstStyle/>
          <a:p>
            <a:pPr algn="ctr" indent="0" marL="0">
              <a:buNone/>
            </a:pPr>
            <a:r>
              <a:rPr lang="en-US" sz="2200" b="1" dirty="0">
                <a:solidFill>
                  <a:srgbClr val="8A96A3"/>
                </a:solidFill>
                <a:latin typeface="Cambria" pitchFamily="34" charset="0"/>
                <a:ea typeface="Cambria" pitchFamily="34" charset="-122"/>
                <a:cs typeface="Cambria" pitchFamily="34" charset="-120"/>
              </a:rPr>
              <a:t>→</a:t>
            </a:r>
            <a:endParaRPr lang="en-US" sz="2200" dirty="0"/>
          </a:p>
        </p:txBody>
      </p:sp>
      <p:sp>
        <p:nvSpPr>
          <p:cNvPr id="18" name="Shape 16"/>
          <p:cNvSpPr/>
          <p:nvPr/>
        </p:nvSpPr>
        <p:spPr>
          <a:xfrm>
            <a:off x="7214616" y="2377440"/>
            <a:ext cx="1965960" cy="1371600"/>
          </a:xfrm>
          <a:prstGeom prst="roundRect">
            <a:avLst>
              <a:gd name="adj" fmla="val 6667"/>
            </a:avLst>
          </a:prstGeom>
          <a:solidFill>
            <a:srgbClr val="101D2B"/>
          </a:solidFill>
          <a:ln w="25400">
            <a:solidFill>
              <a:srgbClr val="9B7FE8"/>
            </a:solidFill>
            <a:prstDash val="solid"/>
          </a:ln>
        </p:spPr>
      </p:sp>
      <p:sp>
        <p:nvSpPr>
          <p:cNvPr id="19" name="Text 17"/>
          <p:cNvSpPr/>
          <p:nvPr/>
        </p:nvSpPr>
        <p:spPr>
          <a:xfrm>
            <a:off x="7306056" y="2514600"/>
            <a:ext cx="1783080" cy="365760"/>
          </a:xfrm>
          <a:prstGeom prst="rect">
            <a:avLst/>
          </a:prstGeom>
          <a:noFill/>
          <a:ln/>
        </p:spPr>
        <p:txBody>
          <a:bodyPr wrap="square" rtlCol="0" anchor="ctr"/>
          <a:lstStyle/>
          <a:p>
            <a:pPr algn="ctr" indent="0" marL="0">
              <a:buNone/>
            </a:pPr>
            <a:r>
              <a:rPr lang="en-US" sz="1300" b="1" dirty="0">
                <a:solidFill>
                  <a:srgbClr val="9B7FE8"/>
                </a:solidFill>
                <a:latin typeface="Calibri" pitchFamily="34" charset="0"/>
                <a:ea typeface="Calibri" pitchFamily="34" charset="-122"/>
                <a:cs typeface="Calibri" pitchFamily="34" charset="-120"/>
              </a:rPr>
              <a:t>Dashboard Build</a:t>
            </a:r>
            <a:endParaRPr lang="en-US" sz="1300" dirty="0"/>
          </a:p>
        </p:txBody>
      </p:sp>
      <p:sp>
        <p:nvSpPr>
          <p:cNvPr id="20" name="Text 18"/>
          <p:cNvSpPr/>
          <p:nvPr/>
        </p:nvSpPr>
        <p:spPr>
          <a:xfrm>
            <a:off x="7306056" y="2926080"/>
            <a:ext cx="1783080" cy="685800"/>
          </a:xfrm>
          <a:prstGeom prst="rect">
            <a:avLst/>
          </a:prstGeom>
          <a:noFill/>
          <a:ln/>
        </p:spPr>
        <p:txBody>
          <a:bodyPr wrap="square" rtlCol="0" anchor="ctr"/>
          <a:lstStyle/>
          <a:p>
            <a:pPr algn="ctr" indent="0" marL="0">
              <a:lnSpc>
                <a:spcPct val="115000"/>
              </a:lnSpc>
              <a:buNone/>
            </a:pPr>
            <a:r>
              <a:rPr lang="en-US" sz="1000" dirty="0">
                <a:solidFill>
                  <a:srgbClr val="C8D2DC"/>
                </a:solidFill>
                <a:latin typeface="Calibri" pitchFamily="34" charset="0"/>
                <a:ea typeface="Calibri" pitchFamily="34" charset="-122"/>
                <a:cs typeface="Calibri" pitchFamily="34" charset="-120"/>
              </a:rPr>
              <a:t>4 interactive</a:t>
            </a:r>
            <a:endParaRPr lang="en-US" sz="1000" dirty="0"/>
          </a:p>
          <a:p>
            <a:pPr algn="ctr" indent="0" marL="0">
              <a:lnSpc>
                <a:spcPct val="115000"/>
              </a:lnSpc>
              <a:buNone/>
            </a:pPr>
            <a:r>
              <a:rPr lang="en-US" sz="1000" dirty="0">
                <a:solidFill>
                  <a:srgbClr val="C8D2DC"/>
                </a:solidFill>
                <a:latin typeface="Calibri" pitchFamily="34" charset="0"/>
                <a:ea typeface="Calibri" pitchFamily="34" charset="-122"/>
                <a:cs typeface="Calibri" pitchFamily="34" charset="-120"/>
              </a:rPr>
              <a:t>Power BI pages</a:t>
            </a:r>
            <a:endParaRPr lang="en-US" sz="1000" dirty="0"/>
          </a:p>
        </p:txBody>
      </p:sp>
      <p:sp>
        <p:nvSpPr>
          <p:cNvPr id="21" name="Text 19"/>
          <p:cNvSpPr/>
          <p:nvPr/>
        </p:nvSpPr>
        <p:spPr>
          <a:xfrm>
            <a:off x="9180576" y="2377440"/>
            <a:ext cx="256032" cy="1371600"/>
          </a:xfrm>
          <a:prstGeom prst="rect">
            <a:avLst/>
          </a:prstGeom>
          <a:noFill/>
          <a:ln/>
        </p:spPr>
        <p:txBody>
          <a:bodyPr wrap="square" rtlCol="0" anchor="ctr"/>
          <a:lstStyle/>
          <a:p>
            <a:pPr algn="ctr" indent="0" marL="0">
              <a:buNone/>
            </a:pPr>
            <a:r>
              <a:rPr lang="en-US" sz="2200" b="1" dirty="0">
                <a:solidFill>
                  <a:srgbClr val="8A96A3"/>
                </a:solidFill>
                <a:latin typeface="Cambria" pitchFamily="34" charset="0"/>
                <a:ea typeface="Cambria" pitchFamily="34" charset="-122"/>
                <a:cs typeface="Cambria" pitchFamily="34" charset="-120"/>
              </a:rPr>
              <a:t>→</a:t>
            </a:r>
            <a:endParaRPr lang="en-US" sz="2200" dirty="0"/>
          </a:p>
        </p:txBody>
      </p:sp>
      <p:sp>
        <p:nvSpPr>
          <p:cNvPr id="22" name="Shape 20"/>
          <p:cNvSpPr/>
          <p:nvPr/>
        </p:nvSpPr>
        <p:spPr>
          <a:xfrm>
            <a:off x="9436608" y="2377440"/>
            <a:ext cx="1965960" cy="1371600"/>
          </a:xfrm>
          <a:prstGeom prst="roundRect">
            <a:avLst>
              <a:gd name="adj" fmla="val 6667"/>
            </a:avLst>
          </a:prstGeom>
          <a:solidFill>
            <a:srgbClr val="101D2B"/>
          </a:solidFill>
          <a:ln w="25400">
            <a:solidFill>
              <a:srgbClr val="E85D8A"/>
            </a:solidFill>
            <a:prstDash val="solid"/>
          </a:ln>
        </p:spPr>
      </p:sp>
      <p:sp>
        <p:nvSpPr>
          <p:cNvPr id="23" name="Text 21"/>
          <p:cNvSpPr/>
          <p:nvPr/>
        </p:nvSpPr>
        <p:spPr>
          <a:xfrm>
            <a:off x="9528048" y="2514600"/>
            <a:ext cx="1783080" cy="365760"/>
          </a:xfrm>
          <a:prstGeom prst="rect">
            <a:avLst/>
          </a:prstGeom>
          <a:noFill/>
          <a:ln/>
        </p:spPr>
        <p:txBody>
          <a:bodyPr wrap="square" rtlCol="0" anchor="ctr"/>
          <a:lstStyle/>
          <a:p>
            <a:pPr algn="ctr" indent="0" marL="0">
              <a:buNone/>
            </a:pPr>
            <a:r>
              <a:rPr lang="en-US" sz="1300" b="1" dirty="0">
                <a:solidFill>
                  <a:srgbClr val="E85D8A"/>
                </a:solidFill>
                <a:latin typeface="Calibri" pitchFamily="34" charset="0"/>
                <a:ea typeface="Calibri" pitchFamily="34" charset="-122"/>
                <a:cs typeface="Calibri" pitchFamily="34" charset="-120"/>
              </a:rPr>
              <a:t>Validation</a:t>
            </a:r>
            <a:endParaRPr lang="en-US" sz="1300" dirty="0"/>
          </a:p>
        </p:txBody>
      </p:sp>
      <p:sp>
        <p:nvSpPr>
          <p:cNvPr id="24" name="Text 22"/>
          <p:cNvSpPr/>
          <p:nvPr/>
        </p:nvSpPr>
        <p:spPr>
          <a:xfrm>
            <a:off x="9528048" y="2926080"/>
            <a:ext cx="1783080" cy="685800"/>
          </a:xfrm>
          <a:prstGeom prst="rect">
            <a:avLst/>
          </a:prstGeom>
          <a:noFill/>
          <a:ln/>
        </p:spPr>
        <p:txBody>
          <a:bodyPr wrap="square" rtlCol="0" anchor="ctr"/>
          <a:lstStyle/>
          <a:p>
            <a:pPr algn="ctr" indent="0" marL="0">
              <a:lnSpc>
                <a:spcPct val="115000"/>
              </a:lnSpc>
              <a:buNone/>
            </a:pPr>
            <a:r>
              <a:rPr lang="en-US" sz="1000" dirty="0">
                <a:solidFill>
                  <a:srgbClr val="C8D2DC"/>
                </a:solidFill>
                <a:latin typeface="Calibri" pitchFamily="34" charset="0"/>
                <a:ea typeface="Calibri" pitchFamily="34" charset="-122"/>
                <a:cs typeface="Calibri" pitchFamily="34" charset="-120"/>
              </a:rPr>
              <a:t>KPI accuracy</a:t>
            </a:r>
            <a:endParaRPr lang="en-US" sz="1000" dirty="0"/>
          </a:p>
          <a:p>
            <a:pPr algn="ctr" indent="0" marL="0">
              <a:lnSpc>
                <a:spcPct val="115000"/>
              </a:lnSpc>
              <a:buNone/>
            </a:pPr>
            <a:r>
              <a:rPr lang="en-US" sz="1000" dirty="0">
                <a:solidFill>
                  <a:srgbClr val="C8D2DC"/>
                </a:solidFill>
                <a:latin typeface="Calibri" pitchFamily="34" charset="0"/>
                <a:ea typeface="Calibri" pitchFamily="34" charset="-122"/>
                <a:cs typeface="Calibri" pitchFamily="34" charset="-120"/>
              </a:rPr>
              <a:t>checked vs. source</a:t>
            </a:r>
            <a:endParaRPr lang="en-US" sz="1000" dirty="0"/>
          </a:p>
        </p:txBody>
      </p:sp>
      <p:sp>
        <p:nvSpPr>
          <p:cNvPr id="25" name="Text 23"/>
          <p:cNvSpPr/>
          <p:nvPr/>
        </p:nvSpPr>
        <p:spPr>
          <a:xfrm>
            <a:off x="640080" y="4297680"/>
            <a:ext cx="10881360" cy="548640"/>
          </a:xfrm>
          <a:prstGeom prst="rect">
            <a:avLst/>
          </a:prstGeom>
          <a:noFill/>
          <a:ln/>
        </p:spPr>
        <p:txBody>
          <a:bodyPr wrap="square" rtlCol="0" anchor="ctr"/>
          <a:lstStyle/>
          <a:p>
            <a:pPr algn="ctr" indent="0" marL="0">
              <a:buNone/>
            </a:pPr>
            <a:r>
              <a:rPr lang="en-US" sz="1200" i="1" dirty="0">
                <a:solidFill>
                  <a:srgbClr val="C8D2DC"/>
                </a:solidFill>
                <a:latin typeface="Calibri" pitchFamily="34" charset="0"/>
                <a:ea typeface="Calibri" pitchFamily="34" charset="-122"/>
                <a:cs typeface="Calibri" pitchFamily="34" charset="-120"/>
              </a:rPr>
              <a:t>Each stage feeds the next: cleaned data grounds the KPI measures, the measures drive every visual, and validation confirms the numbers match the source before delivery.</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420"/>
        </a:solidFill>
      </p:bgPr>
    </p:bg>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01D2B"/>
          </a:solidFill>
          <a:ln/>
        </p:spPr>
      </p:sp>
      <p:sp>
        <p:nvSpPr>
          <p:cNvPr id="3" name="Shape 1"/>
          <p:cNvSpPr/>
          <p:nvPr/>
        </p:nvSpPr>
        <p:spPr>
          <a:xfrm>
            <a:off x="0" y="960120"/>
            <a:ext cx="12188952" cy="27432"/>
          </a:xfrm>
          <a:prstGeom prst="rect">
            <a:avLst/>
          </a:prstGeom>
          <a:solidFill>
            <a:srgbClr val="4CB8C4"/>
          </a:solidFill>
          <a:ln/>
        </p:spPr>
      </p:sp>
      <p:sp>
        <p:nvSpPr>
          <p:cNvPr id="4" name="Text 2"/>
          <p:cNvSpPr/>
          <p:nvPr/>
        </p:nvSpPr>
        <p:spPr>
          <a:xfrm>
            <a:off x="548640" y="137160"/>
            <a:ext cx="10515600" cy="548640"/>
          </a:xfrm>
          <a:prstGeom prst="rect">
            <a:avLst/>
          </a:prstGeom>
          <a:noFill/>
          <a:ln/>
        </p:spPr>
        <p:txBody>
          <a:bodyPr wrap="square"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Tools &amp; Tech Stack</a:t>
            </a:r>
            <a:endParaRPr lang="en-US" sz="2600" dirty="0"/>
          </a:p>
        </p:txBody>
      </p:sp>
      <p:sp>
        <p:nvSpPr>
          <p:cNvPr id="5" name="Text 3"/>
          <p:cNvSpPr/>
          <p:nvPr/>
        </p:nvSpPr>
        <p:spPr>
          <a:xfrm>
            <a:off x="548640" y="566928"/>
            <a:ext cx="10515600" cy="320040"/>
          </a:xfrm>
          <a:prstGeom prst="rect">
            <a:avLst/>
          </a:prstGeom>
          <a:noFill/>
          <a:ln/>
        </p:spPr>
        <p:txBody>
          <a:bodyPr wrap="square" rtlCol="0" anchor="ctr"/>
          <a:lstStyle/>
          <a:p>
            <a:pPr indent="0" marL="0">
              <a:buNone/>
            </a:pPr>
            <a:r>
              <a:rPr lang="en-US" sz="1200" i="1" dirty="0">
                <a:solidFill>
                  <a:srgbClr val="C8D2DC"/>
                </a:solidFill>
                <a:latin typeface="Calibri" pitchFamily="34" charset="0"/>
                <a:ea typeface="Calibri" pitchFamily="34" charset="-122"/>
                <a:cs typeface="Calibri" pitchFamily="34" charset="-120"/>
              </a:rPr>
              <a:t>What was used to build this, end to end</a:t>
            </a:r>
            <a:endParaRPr lang="en-US" sz="1200" dirty="0"/>
          </a:p>
        </p:txBody>
      </p:sp>
      <p:sp>
        <p:nvSpPr>
          <p:cNvPr id="6" name="Shape 4"/>
          <p:cNvSpPr/>
          <p:nvPr/>
        </p:nvSpPr>
        <p:spPr>
          <a:xfrm>
            <a:off x="640080" y="1554480"/>
            <a:ext cx="3520440" cy="1691640"/>
          </a:xfrm>
          <a:prstGeom prst="roundRect">
            <a:avLst>
              <a:gd name="adj" fmla="val 5405"/>
            </a:avLst>
          </a:prstGeom>
          <a:solidFill>
            <a:srgbClr val="101D2B"/>
          </a:solidFill>
          <a:ln w="19050">
            <a:solidFill>
              <a:srgbClr val="4CB8C4"/>
            </a:solidFill>
            <a:prstDash val="solid"/>
          </a:ln>
        </p:spPr>
      </p:sp>
      <p:sp>
        <p:nvSpPr>
          <p:cNvPr id="7" name="Shape 5"/>
          <p:cNvSpPr/>
          <p:nvPr/>
        </p:nvSpPr>
        <p:spPr>
          <a:xfrm>
            <a:off x="868680" y="1755648"/>
            <a:ext cx="320040" cy="320040"/>
          </a:xfrm>
          <a:prstGeom prst="ellipse">
            <a:avLst/>
          </a:prstGeom>
          <a:solidFill>
            <a:srgbClr val="4CB8C4"/>
          </a:solidFill>
          <a:ln/>
        </p:spPr>
      </p:sp>
      <p:sp>
        <p:nvSpPr>
          <p:cNvPr id="8" name="Text 6"/>
          <p:cNvSpPr/>
          <p:nvPr/>
        </p:nvSpPr>
        <p:spPr>
          <a:xfrm>
            <a:off x="868680" y="2212848"/>
            <a:ext cx="3063240" cy="36576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Power BI Desktop</a:t>
            </a:r>
            <a:endParaRPr lang="en-US" sz="1400" dirty="0"/>
          </a:p>
        </p:txBody>
      </p:sp>
      <p:sp>
        <p:nvSpPr>
          <p:cNvPr id="9" name="Text 7"/>
          <p:cNvSpPr/>
          <p:nvPr/>
        </p:nvSpPr>
        <p:spPr>
          <a:xfrm>
            <a:off x="868680" y="2578608"/>
            <a:ext cx="3063240" cy="594360"/>
          </a:xfrm>
          <a:prstGeom prst="rect">
            <a:avLst/>
          </a:prstGeom>
          <a:noFill/>
          <a:ln/>
        </p:spPr>
        <p:txBody>
          <a:bodyPr wrap="square" rtlCol="0" anchor="ctr"/>
          <a:lstStyle/>
          <a:p>
            <a:pPr indent="0" marL="0">
              <a:lnSpc>
                <a:spcPct val="120000"/>
              </a:lnSpc>
              <a:buNone/>
            </a:pPr>
            <a:r>
              <a:rPr lang="en-US" sz="1000" dirty="0">
                <a:solidFill>
                  <a:srgbClr val="C8D2DC"/>
                </a:solidFill>
                <a:latin typeface="Calibri" pitchFamily="34" charset="0"/>
                <a:ea typeface="Calibri" pitchFamily="34" charset="-122"/>
                <a:cs typeface="Calibri" pitchFamily="34" charset="-120"/>
              </a:rPr>
              <a:t>Dashboard build, data model, DAX measures</a:t>
            </a:r>
            <a:endParaRPr lang="en-US" sz="1000" dirty="0"/>
          </a:p>
        </p:txBody>
      </p:sp>
      <p:sp>
        <p:nvSpPr>
          <p:cNvPr id="10" name="Shape 8"/>
          <p:cNvSpPr/>
          <p:nvPr/>
        </p:nvSpPr>
        <p:spPr>
          <a:xfrm>
            <a:off x="4389120" y="1554480"/>
            <a:ext cx="3520440" cy="1691640"/>
          </a:xfrm>
          <a:prstGeom prst="roundRect">
            <a:avLst>
              <a:gd name="adj" fmla="val 5405"/>
            </a:avLst>
          </a:prstGeom>
          <a:solidFill>
            <a:srgbClr val="101D2B"/>
          </a:solidFill>
          <a:ln w="19050">
            <a:solidFill>
              <a:srgbClr val="7FC957"/>
            </a:solidFill>
            <a:prstDash val="solid"/>
          </a:ln>
        </p:spPr>
      </p:sp>
      <p:sp>
        <p:nvSpPr>
          <p:cNvPr id="11" name="Shape 9"/>
          <p:cNvSpPr/>
          <p:nvPr/>
        </p:nvSpPr>
        <p:spPr>
          <a:xfrm>
            <a:off x="4617720" y="1755648"/>
            <a:ext cx="320040" cy="320040"/>
          </a:xfrm>
          <a:prstGeom prst="ellipse">
            <a:avLst/>
          </a:prstGeom>
          <a:solidFill>
            <a:srgbClr val="7FC957"/>
          </a:solidFill>
          <a:ln/>
        </p:spPr>
      </p:sp>
      <p:sp>
        <p:nvSpPr>
          <p:cNvPr id="12" name="Text 10"/>
          <p:cNvSpPr/>
          <p:nvPr/>
        </p:nvSpPr>
        <p:spPr>
          <a:xfrm>
            <a:off x="4617720" y="2212848"/>
            <a:ext cx="3063240" cy="36576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Power Query (M)</a:t>
            </a:r>
            <a:endParaRPr lang="en-US" sz="1400" dirty="0"/>
          </a:p>
        </p:txBody>
      </p:sp>
      <p:sp>
        <p:nvSpPr>
          <p:cNvPr id="13" name="Text 11"/>
          <p:cNvSpPr/>
          <p:nvPr/>
        </p:nvSpPr>
        <p:spPr>
          <a:xfrm>
            <a:off x="4617720" y="2578608"/>
            <a:ext cx="3063240" cy="594360"/>
          </a:xfrm>
          <a:prstGeom prst="rect">
            <a:avLst/>
          </a:prstGeom>
          <a:noFill/>
          <a:ln/>
        </p:spPr>
        <p:txBody>
          <a:bodyPr wrap="square" rtlCol="0" anchor="ctr"/>
          <a:lstStyle/>
          <a:p>
            <a:pPr indent="0" marL="0">
              <a:lnSpc>
                <a:spcPct val="120000"/>
              </a:lnSpc>
              <a:buNone/>
            </a:pPr>
            <a:r>
              <a:rPr lang="en-US" sz="1000" dirty="0">
                <a:solidFill>
                  <a:srgbClr val="C8D2DC"/>
                </a:solidFill>
                <a:latin typeface="Calibri" pitchFamily="34" charset="0"/>
                <a:ea typeface="Calibri" pitchFamily="34" charset="-122"/>
                <a:cs typeface="Calibri" pitchFamily="34" charset="-120"/>
              </a:rPr>
              <a:t>Data load, type fixes, column shaping</a:t>
            </a:r>
            <a:endParaRPr lang="en-US" sz="1000" dirty="0"/>
          </a:p>
        </p:txBody>
      </p:sp>
      <p:sp>
        <p:nvSpPr>
          <p:cNvPr id="14" name="Shape 12"/>
          <p:cNvSpPr/>
          <p:nvPr/>
        </p:nvSpPr>
        <p:spPr>
          <a:xfrm>
            <a:off x="8138160" y="1554480"/>
            <a:ext cx="3520440" cy="1691640"/>
          </a:xfrm>
          <a:prstGeom prst="roundRect">
            <a:avLst>
              <a:gd name="adj" fmla="val 5405"/>
            </a:avLst>
          </a:prstGeom>
          <a:solidFill>
            <a:srgbClr val="101D2B"/>
          </a:solidFill>
          <a:ln w="19050">
            <a:solidFill>
              <a:srgbClr val="F0A94E"/>
            </a:solidFill>
            <a:prstDash val="solid"/>
          </a:ln>
        </p:spPr>
      </p:sp>
      <p:sp>
        <p:nvSpPr>
          <p:cNvPr id="15" name="Shape 13"/>
          <p:cNvSpPr/>
          <p:nvPr/>
        </p:nvSpPr>
        <p:spPr>
          <a:xfrm>
            <a:off x="8366760" y="1755648"/>
            <a:ext cx="320040" cy="320040"/>
          </a:xfrm>
          <a:prstGeom prst="ellipse">
            <a:avLst/>
          </a:prstGeom>
          <a:solidFill>
            <a:srgbClr val="F0A94E"/>
          </a:solidFill>
          <a:ln/>
        </p:spPr>
      </p:sp>
      <p:sp>
        <p:nvSpPr>
          <p:cNvPr id="16" name="Text 14"/>
          <p:cNvSpPr/>
          <p:nvPr/>
        </p:nvSpPr>
        <p:spPr>
          <a:xfrm>
            <a:off x="8366760" y="2212848"/>
            <a:ext cx="3063240" cy="36576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Python / pandas</a:t>
            </a:r>
            <a:endParaRPr lang="en-US" sz="1400" dirty="0"/>
          </a:p>
        </p:txBody>
      </p:sp>
      <p:sp>
        <p:nvSpPr>
          <p:cNvPr id="17" name="Text 15"/>
          <p:cNvSpPr/>
          <p:nvPr/>
        </p:nvSpPr>
        <p:spPr>
          <a:xfrm>
            <a:off x="8366760" y="2578608"/>
            <a:ext cx="3063240" cy="594360"/>
          </a:xfrm>
          <a:prstGeom prst="rect">
            <a:avLst/>
          </a:prstGeom>
          <a:noFill/>
          <a:ln/>
        </p:spPr>
        <p:txBody>
          <a:bodyPr wrap="square" rtlCol="0" anchor="ctr"/>
          <a:lstStyle/>
          <a:p>
            <a:pPr indent="0" marL="0">
              <a:lnSpc>
                <a:spcPct val="120000"/>
              </a:lnSpc>
              <a:buNone/>
            </a:pPr>
            <a:r>
              <a:rPr lang="en-US" sz="1000" dirty="0">
                <a:solidFill>
                  <a:srgbClr val="C8D2DC"/>
                </a:solidFill>
                <a:latin typeface="Calibri" pitchFamily="34" charset="0"/>
                <a:ea typeface="Calibri" pitchFamily="34" charset="-122"/>
                <a:cs typeface="Calibri" pitchFamily="34" charset="-120"/>
              </a:rPr>
              <a:t>Data cleaning &amp; synthetic dataset generation</a:t>
            </a:r>
            <a:endParaRPr lang="en-US" sz="1000" dirty="0"/>
          </a:p>
        </p:txBody>
      </p:sp>
      <p:sp>
        <p:nvSpPr>
          <p:cNvPr id="18" name="Shape 16"/>
          <p:cNvSpPr/>
          <p:nvPr/>
        </p:nvSpPr>
        <p:spPr>
          <a:xfrm>
            <a:off x="640080" y="3474720"/>
            <a:ext cx="3520440" cy="1691640"/>
          </a:xfrm>
          <a:prstGeom prst="roundRect">
            <a:avLst>
              <a:gd name="adj" fmla="val 5405"/>
            </a:avLst>
          </a:prstGeom>
          <a:solidFill>
            <a:srgbClr val="101D2B"/>
          </a:solidFill>
          <a:ln w="19050">
            <a:solidFill>
              <a:srgbClr val="9B7FE8"/>
            </a:solidFill>
            <a:prstDash val="solid"/>
          </a:ln>
        </p:spPr>
      </p:sp>
      <p:sp>
        <p:nvSpPr>
          <p:cNvPr id="19" name="Shape 17"/>
          <p:cNvSpPr/>
          <p:nvPr/>
        </p:nvSpPr>
        <p:spPr>
          <a:xfrm>
            <a:off x="868680" y="3675888"/>
            <a:ext cx="320040" cy="320040"/>
          </a:xfrm>
          <a:prstGeom prst="ellipse">
            <a:avLst/>
          </a:prstGeom>
          <a:solidFill>
            <a:srgbClr val="9B7FE8"/>
          </a:solidFill>
          <a:ln/>
        </p:spPr>
      </p:sp>
      <p:sp>
        <p:nvSpPr>
          <p:cNvPr id="20" name="Text 18"/>
          <p:cNvSpPr/>
          <p:nvPr/>
        </p:nvSpPr>
        <p:spPr>
          <a:xfrm>
            <a:off x="868680" y="4133088"/>
            <a:ext cx="3063240" cy="36576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Google Colab</a:t>
            </a:r>
            <a:endParaRPr lang="en-US" sz="1400" dirty="0"/>
          </a:p>
        </p:txBody>
      </p:sp>
      <p:sp>
        <p:nvSpPr>
          <p:cNvPr id="21" name="Text 19"/>
          <p:cNvSpPr/>
          <p:nvPr/>
        </p:nvSpPr>
        <p:spPr>
          <a:xfrm>
            <a:off x="868680" y="4498848"/>
            <a:ext cx="3063240" cy="594360"/>
          </a:xfrm>
          <a:prstGeom prst="rect">
            <a:avLst/>
          </a:prstGeom>
          <a:noFill/>
          <a:ln/>
        </p:spPr>
        <p:txBody>
          <a:bodyPr wrap="square" rtlCol="0" anchor="ctr"/>
          <a:lstStyle/>
          <a:p>
            <a:pPr indent="0" marL="0">
              <a:lnSpc>
                <a:spcPct val="120000"/>
              </a:lnSpc>
              <a:buNone/>
            </a:pPr>
            <a:r>
              <a:rPr lang="en-US" sz="1000" dirty="0">
                <a:solidFill>
                  <a:srgbClr val="C8D2DC"/>
                </a:solidFill>
                <a:latin typeface="Calibri" pitchFamily="34" charset="0"/>
                <a:ea typeface="Calibri" pitchFamily="34" charset="-122"/>
                <a:cs typeface="Calibri" pitchFamily="34" charset="-120"/>
              </a:rPr>
              <a:t>Cleaning pipeline notebook, reproducible &amp; shareable</a:t>
            </a:r>
            <a:endParaRPr lang="en-US" sz="1000" dirty="0"/>
          </a:p>
        </p:txBody>
      </p:sp>
      <p:sp>
        <p:nvSpPr>
          <p:cNvPr id="22" name="Shape 20"/>
          <p:cNvSpPr/>
          <p:nvPr/>
        </p:nvSpPr>
        <p:spPr>
          <a:xfrm>
            <a:off x="4389120" y="3474720"/>
            <a:ext cx="3520440" cy="1691640"/>
          </a:xfrm>
          <a:prstGeom prst="roundRect">
            <a:avLst>
              <a:gd name="adj" fmla="val 5405"/>
            </a:avLst>
          </a:prstGeom>
          <a:solidFill>
            <a:srgbClr val="101D2B"/>
          </a:solidFill>
          <a:ln w="19050">
            <a:solidFill>
              <a:srgbClr val="E85D8A"/>
            </a:solidFill>
            <a:prstDash val="solid"/>
          </a:ln>
        </p:spPr>
      </p:sp>
      <p:sp>
        <p:nvSpPr>
          <p:cNvPr id="23" name="Shape 21"/>
          <p:cNvSpPr/>
          <p:nvPr/>
        </p:nvSpPr>
        <p:spPr>
          <a:xfrm>
            <a:off x="4617720" y="3675888"/>
            <a:ext cx="320040" cy="320040"/>
          </a:xfrm>
          <a:prstGeom prst="ellipse">
            <a:avLst/>
          </a:prstGeom>
          <a:solidFill>
            <a:srgbClr val="E85D8A"/>
          </a:solidFill>
          <a:ln/>
        </p:spPr>
      </p:sp>
      <p:sp>
        <p:nvSpPr>
          <p:cNvPr id="24" name="Text 22"/>
          <p:cNvSpPr/>
          <p:nvPr/>
        </p:nvSpPr>
        <p:spPr>
          <a:xfrm>
            <a:off x="4617720" y="4133088"/>
            <a:ext cx="3063240" cy="36576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DAX</a:t>
            </a:r>
            <a:endParaRPr lang="en-US" sz="1400" dirty="0"/>
          </a:p>
        </p:txBody>
      </p:sp>
      <p:sp>
        <p:nvSpPr>
          <p:cNvPr id="25" name="Text 23"/>
          <p:cNvSpPr/>
          <p:nvPr/>
        </p:nvSpPr>
        <p:spPr>
          <a:xfrm>
            <a:off x="4617720" y="4498848"/>
            <a:ext cx="3063240" cy="594360"/>
          </a:xfrm>
          <a:prstGeom prst="rect">
            <a:avLst/>
          </a:prstGeom>
          <a:noFill/>
          <a:ln/>
        </p:spPr>
        <p:txBody>
          <a:bodyPr wrap="square" rtlCol="0" anchor="ctr"/>
          <a:lstStyle/>
          <a:p>
            <a:pPr indent="0" marL="0">
              <a:lnSpc>
                <a:spcPct val="120000"/>
              </a:lnSpc>
              <a:buNone/>
            </a:pPr>
            <a:r>
              <a:rPr lang="en-US" sz="1000" dirty="0">
                <a:solidFill>
                  <a:srgbClr val="C8D2DC"/>
                </a:solidFill>
                <a:latin typeface="Calibri" pitchFamily="34" charset="0"/>
                <a:ea typeface="Calibri" pitchFamily="34" charset="-122"/>
                <a:cs typeface="Calibri" pitchFamily="34" charset="-120"/>
              </a:rPr>
              <a:t>10 KPI measures — Occupancy Rate, Readmission Rate, etc.</a:t>
            </a:r>
            <a:endParaRPr lang="en-US" sz="1000" dirty="0"/>
          </a:p>
        </p:txBody>
      </p:sp>
      <p:sp>
        <p:nvSpPr>
          <p:cNvPr id="26" name="Shape 24"/>
          <p:cNvSpPr/>
          <p:nvPr/>
        </p:nvSpPr>
        <p:spPr>
          <a:xfrm>
            <a:off x="8138160" y="3474720"/>
            <a:ext cx="3520440" cy="1691640"/>
          </a:xfrm>
          <a:prstGeom prst="roundRect">
            <a:avLst>
              <a:gd name="adj" fmla="val 5405"/>
            </a:avLst>
          </a:prstGeom>
          <a:solidFill>
            <a:srgbClr val="101D2B"/>
          </a:solidFill>
          <a:ln w="19050">
            <a:solidFill>
              <a:srgbClr val="6E8FE0"/>
            </a:solidFill>
            <a:prstDash val="solid"/>
          </a:ln>
        </p:spPr>
      </p:sp>
      <p:sp>
        <p:nvSpPr>
          <p:cNvPr id="27" name="Shape 25"/>
          <p:cNvSpPr/>
          <p:nvPr/>
        </p:nvSpPr>
        <p:spPr>
          <a:xfrm>
            <a:off x="8366760" y="3675888"/>
            <a:ext cx="320040" cy="320040"/>
          </a:xfrm>
          <a:prstGeom prst="ellipse">
            <a:avLst/>
          </a:prstGeom>
          <a:solidFill>
            <a:srgbClr val="6E8FE0"/>
          </a:solidFill>
          <a:ln/>
        </p:spPr>
      </p:sp>
      <p:sp>
        <p:nvSpPr>
          <p:cNvPr id="28" name="Text 26"/>
          <p:cNvSpPr/>
          <p:nvPr/>
        </p:nvSpPr>
        <p:spPr>
          <a:xfrm>
            <a:off x="8366760" y="4133088"/>
            <a:ext cx="3063240" cy="36576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Custom Theme (JSON)</a:t>
            </a:r>
            <a:endParaRPr lang="en-US" sz="1400" dirty="0"/>
          </a:p>
        </p:txBody>
      </p:sp>
      <p:sp>
        <p:nvSpPr>
          <p:cNvPr id="29" name="Text 27"/>
          <p:cNvSpPr/>
          <p:nvPr/>
        </p:nvSpPr>
        <p:spPr>
          <a:xfrm>
            <a:off x="8366760" y="4498848"/>
            <a:ext cx="3063240" cy="594360"/>
          </a:xfrm>
          <a:prstGeom prst="rect">
            <a:avLst/>
          </a:prstGeom>
          <a:noFill/>
          <a:ln/>
        </p:spPr>
        <p:txBody>
          <a:bodyPr wrap="square" rtlCol="0" anchor="ctr"/>
          <a:lstStyle/>
          <a:p>
            <a:pPr indent="0" marL="0">
              <a:lnSpc>
                <a:spcPct val="120000"/>
              </a:lnSpc>
              <a:buNone/>
            </a:pPr>
            <a:r>
              <a:rPr lang="en-US" sz="1000" dirty="0">
                <a:solidFill>
                  <a:srgbClr val="C8D2DC"/>
                </a:solidFill>
                <a:latin typeface="Calibri" pitchFamily="34" charset="0"/>
                <a:ea typeface="Calibri" pitchFamily="34" charset="-122"/>
                <a:cs typeface="Calibri" pitchFamily="34" charset="-120"/>
              </a:rPr>
              <a:t>Dark navy theme matching the brand palette</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420"/>
        </a:solidFill>
      </p:bgPr>
    </p:bg>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01D2B"/>
          </a:solidFill>
          <a:ln/>
        </p:spPr>
      </p:sp>
      <p:sp>
        <p:nvSpPr>
          <p:cNvPr id="3" name="Shape 1"/>
          <p:cNvSpPr/>
          <p:nvPr/>
        </p:nvSpPr>
        <p:spPr>
          <a:xfrm>
            <a:off x="0" y="960120"/>
            <a:ext cx="12188952" cy="27432"/>
          </a:xfrm>
          <a:prstGeom prst="rect">
            <a:avLst/>
          </a:prstGeom>
          <a:solidFill>
            <a:srgbClr val="4CB8C4"/>
          </a:solidFill>
          <a:ln/>
        </p:spPr>
      </p:sp>
      <p:sp>
        <p:nvSpPr>
          <p:cNvPr id="4" name="Text 2"/>
          <p:cNvSpPr/>
          <p:nvPr/>
        </p:nvSpPr>
        <p:spPr>
          <a:xfrm>
            <a:off x="548640" y="137160"/>
            <a:ext cx="10515600" cy="548640"/>
          </a:xfrm>
          <a:prstGeom prst="rect">
            <a:avLst/>
          </a:prstGeom>
          <a:noFill/>
          <a:ln/>
        </p:spPr>
        <p:txBody>
          <a:bodyPr wrap="square"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Key Results — Hospital Overview</a:t>
            </a:r>
            <a:endParaRPr lang="en-US" sz="2600" dirty="0"/>
          </a:p>
        </p:txBody>
      </p:sp>
      <p:sp>
        <p:nvSpPr>
          <p:cNvPr id="5" name="Text 3"/>
          <p:cNvSpPr/>
          <p:nvPr/>
        </p:nvSpPr>
        <p:spPr>
          <a:xfrm>
            <a:off x="548640" y="566928"/>
            <a:ext cx="10515600" cy="320040"/>
          </a:xfrm>
          <a:prstGeom prst="rect">
            <a:avLst/>
          </a:prstGeom>
          <a:noFill/>
          <a:ln/>
        </p:spPr>
        <p:txBody>
          <a:bodyPr wrap="square" rtlCol="0" anchor="ctr"/>
          <a:lstStyle/>
          <a:p>
            <a:pPr indent="0" marL="0">
              <a:buNone/>
            </a:pPr>
            <a:r>
              <a:rPr lang="en-US" sz="1200" i="1" dirty="0">
                <a:solidFill>
                  <a:srgbClr val="C8D2DC"/>
                </a:solidFill>
                <a:latin typeface="Calibri" pitchFamily="34" charset="0"/>
                <a:ea typeface="Calibri" pitchFamily="34" charset="-122"/>
                <a:cs typeface="Calibri" pitchFamily="34" charset="-120"/>
              </a:rPr>
              <a:t>61,619 total admissions | 3.98 avg length of stay | 6.86% readmission rate</a:t>
            </a:r>
            <a:endParaRPr lang="en-US" sz="1200" dirty="0"/>
          </a:p>
        </p:txBody>
      </p:sp>
      <p:pic>
        <p:nvPicPr>
          <p:cNvPr id="6" name="Image 0" descr="/home/claude/hospital_overview_combined.png">    </p:cNvPr>
          <p:cNvPicPr>
            <a:picLocks noChangeAspect="1"/>
          </p:cNvPicPr>
          <p:nvPr/>
        </p:nvPicPr>
        <p:blipFill>
          <a:blip r:embed="rId1"/>
          <a:srcRect l="0" r="0" t="0" b="0"/>
          <a:stretch/>
        </p:blipFill>
        <p:spPr>
          <a:xfrm>
            <a:off x="2331720" y="1188720"/>
            <a:ext cx="7498080" cy="725294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420"/>
        </a:solidFill>
      </p:bgPr>
    </p:bg>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01D2B"/>
          </a:solidFill>
          <a:ln/>
        </p:spPr>
      </p:sp>
      <p:sp>
        <p:nvSpPr>
          <p:cNvPr id="3" name="Shape 1"/>
          <p:cNvSpPr/>
          <p:nvPr/>
        </p:nvSpPr>
        <p:spPr>
          <a:xfrm>
            <a:off x="0" y="960120"/>
            <a:ext cx="12188952" cy="27432"/>
          </a:xfrm>
          <a:prstGeom prst="rect">
            <a:avLst/>
          </a:prstGeom>
          <a:solidFill>
            <a:srgbClr val="4CB8C4"/>
          </a:solidFill>
          <a:ln/>
        </p:spPr>
      </p:sp>
      <p:sp>
        <p:nvSpPr>
          <p:cNvPr id="4" name="Text 2"/>
          <p:cNvSpPr/>
          <p:nvPr/>
        </p:nvSpPr>
        <p:spPr>
          <a:xfrm>
            <a:off x="548640" y="137160"/>
            <a:ext cx="10515600" cy="548640"/>
          </a:xfrm>
          <a:prstGeom prst="rect">
            <a:avLst/>
          </a:prstGeom>
          <a:noFill/>
          <a:ln/>
        </p:spPr>
        <p:txBody>
          <a:bodyPr wrap="square"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Key Results — Patient Flow</a:t>
            </a:r>
            <a:endParaRPr lang="en-US" sz="2600" dirty="0"/>
          </a:p>
        </p:txBody>
      </p:sp>
      <p:sp>
        <p:nvSpPr>
          <p:cNvPr id="5" name="Text 3"/>
          <p:cNvSpPr/>
          <p:nvPr/>
        </p:nvSpPr>
        <p:spPr>
          <a:xfrm>
            <a:off x="548640" y="566928"/>
            <a:ext cx="10515600" cy="320040"/>
          </a:xfrm>
          <a:prstGeom prst="rect">
            <a:avLst/>
          </a:prstGeom>
          <a:noFill/>
          <a:ln/>
        </p:spPr>
        <p:txBody>
          <a:bodyPr wrap="square" rtlCol="0" anchor="ctr"/>
          <a:lstStyle/>
          <a:p>
            <a:pPr indent="0" marL="0">
              <a:buNone/>
            </a:pPr>
            <a:r>
              <a:rPr lang="en-US" sz="1200" i="1" dirty="0">
                <a:solidFill>
                  <a:srgbClr val="C8D2DC"/>
                </a:solidFill>
                <a:latin typeface="Calibri" pitchFamily="34" charset="0"/>
                <a:ea typeface="Calibri" pitchFamily="34" charset="-122"/>
                <a:cs typeface="Calibri" pitchFamily="34" charset="-120"/>
              </a:rPr>
              <a:t>Asia and North America account for over half of all admissions</a:t>
            </a:r>
            <a:endParaRPr lang="en-US" sz="1200" dirty="0"/>
          </a:p>
        </p:txBody>
      </p:sp>
      <p:pic>
        <p:nvPicPr>
          <p:cNvPr id="6" name="Image 0" descr="/mnt/user-data/uploads/Screenshot_2026-08-30_155633.png">    </p:cNvPr>
          <p:cNvPicPr>
            <a:picLocks noChangeAspect="1"/>
          </p:cNvPicPr>
          <p:nvPr/>
        </p:nvPicPr>
        <p:blipFill>
          <a:blip r:embed="rId1"/>
          <a:srcRect l="0" r="0" t="0" b="0"/>
          <a:stretch/>
        </p:blipFill>
        <p:spPr>
          <a:xfrm>
            <a:off x="640080" y="1188720"/>
            <a:ext cx="10881360" cy="362404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420"/>
        </a:solidFill>
      </p:bgPr>
    </p:bg>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01D2B"/>
          </a:solidFill>
          <a:ln/>
        </p:spPr>
      </p:sp>
      <p:sp>
        <p:nvSpPr>
          <p:cNvPr id="3" name="Shape 1"/>
          <p:cNvSpPr/>
          <p:nvPr/>
        </p:nvSpPr>
        <p:spPr>
          <a:xfrm>
            <a:off x="0" y="960120"/>
            <a:ext cx="12188952" cy="27432"/>
          </a:xfrm>
          <a:prstGeom prst="rect">
            <a:avLst/>
          </a:prstGeom>
          <a:solidFill>
            <a:srgbClr val="4CB8C4"/>
          </a:solidFill>
          <a:ln/>
        </p:spPr>
      </p:sp>
      <p:sp>
        <p:nvSpPr>
          <p:cNvPr id="4" name="Text 2"/>
          <p:cNvSpPr/>
          <p:nvPr/>
        </p:nvSpPr>
        <p:spPr>
          <a:xfrm>
            <a:off x="548640" y="137160"/>
            <a:ext cx="10515600" cy="548640"/>
          </a:xfrm>
          <a:prstGeom prst="rect">
            <a:avLst/>
          </a:prstGeom>
          <a:noFill/>
          <a:ln/>
        </p:spPr>
        <p:txBody>
          <a:bodyPr wrap="square"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Key Results — Department Analytics</a:t>
            </a:r>
            <a:endParaRPr lang="en-US" sz="2600" dirty="0"/>
          </a:p>
        </p:txBody>
      </p:sp>
      <p:sp>
        <p:nvSpPr>
          <p:cNvPr id="5" name="Text 3"/>
          <p:cNvSpPr/>
          <p:nvPr/>
        </p:nvSpPr>
        <p:spPr>
          <a:xfrm>
            <a:off x="548640" y="566928"/>
            <a:ext cx="10515600" cy="320040"/>
          </a:xfrm>
          <a:prstGeom prst="rect">
            <a:avLst/>
          </a:prstGeom>
          <a:noFill/>
          <a:ln/>
        </p:spPr>
        <p:txBody>
          <a:bodyPr wrap="square" rtlCol="0" anchor="ctr"/>
          <a:lstStyle/>
          <a:p>
            <a:pPr indent="0" marL="0">
              <a:buNone/>
            </a:pPr>
            <a:r>
              <a:rPr lang="en-US" sz="1200" i="1" dirty="0">
                <a:solidFill>
                  <a:srgbClr val="C8D2DC"/>
                </a:solidFill>
                <a:latin typeface="Calibri" pitchFamily="34" charset="0"/>
                <a:ea typeface="Calibri" pitchFamily="34" charset="-122"/>
                <a:cs typeface="Calibri" pitchFamily="34" charset="-120"/>
              </a:rPr>
              <a:t>The scatter chart flags ICU as the outlier: longest stay + highest readmission</a:t>
            </a:r>
            <a:endParaRPr lang="en-US" sz="1200" dirty="0"/>
          </a:p>
        </p:txBody>
      </p:sp>
      <p:pic>
        <p:nvPicPr>
          <p:cNvPr id="6" name="Image 0" descr="/mnt/user-data/uploads/Screenshot_2026-08-30_155708.png">    </p:cNvPr>
          <p:cNvPicPr>
            <a:picLocks noChangeAspect="1"/>
          </p:cNvPicPr>
          <p:nvPr/>
        </p:nvPicPr>
        <p:blipFill>
          <a:blip r:embed="rId1"/>
          <a:srcRect l="0" r="0" t="0" b="0"/>
          <a:stretch/>
        </p:blipFill>
        <p:spPr>
          <a:xfrm>
            <a:off x="640080" y="1188720"/>
            <a:ext cx="10881360" cy="3624042"/>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420"/>
        </a:solidFill>
      </p:bgPr>
    </p:bg>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01D2B"/>
          </a:solidFill>
          <a:ln/>
        </p:spPr>
      </p:sp>
      <p:sp>
        <p:nvSpPr>
          <p:cNvPr id="3" name="Shape 1"/>
          <p:cNvSpPr/>
          <p:nvPr/>
        </p:nvSpPr>
        <p:spPr>
          <a:xfrm>
            <a:off x="0" y="960120"/>
            <a:ext cx="12188952" cy="27432"/>
          </a:xfrm>
          <a:prstGeom prst="rect">
            <a:avLst/>
          </a:prstGeom>
          <a:solidFill>
            <a:srgbClr val="4CB8C4"/>
          </a:solidFill>
          <a:ln/>
        </p:spPr>
      </p:sp>
      <p:sp>
        <p:nvSpPr>
          <p:cNvPr id="4" name="Text 2"/>
          <p:cNvSpPr/>
          <p:nvPr/>
        </p:nvSpPr>
        <p:spPr>
          <a:xfrm>
            <a:off x="548640" y="137160"/>
            <a:ext cx="10515600" cy="548640"/>
          </a:xfrm>
          <a:prstGeom prst="rect">
            <a:avLst/>
          </a:prstGeom>
          <a:noFill/>
          <a:ln/>
        </p:spPr>
        <p:txBody>
          <a:bodyPr wrap="square"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Key Results — Resource Utilization</a:t>
            </a:r>
            <a:endParaRPr lang="en-US" sz="2600" dirty="0"/>
          </a:p>
        </p:txBody>
      </p:sp>
      <p:sp>
        <p:nvSpPr>
          <p:cNvPr id="5" name="Text 3"/>
          <p:cNvSpPr/>
          <p:nvPr/>
        </p:nvSpPr>
        <p:spPr>
          <a:xfrm>
            <a:off x="548640" y="566928"/>
            <a:ext cx="10515600" cy="320040"/>
          </a:xfrm>
          <a:prstGeom prst="rect">
            <a:avLst/>
          </a:prstGeom>
          <a:noFill/>
          <a:ln/>
        </p:spPr>
        <p:txBody>
          <a:bodyPr wrap="square" rtlCol="0" anchor="ctr"/>
          <a:lstStyle/>
          <a:p>
            <a:pPr indent="0" marL="0">
              <a:buNone/>
            </a:pPr>
            <a:r>
              <a:rPr lang="en-US" sz="1200" i="1" dirty="0">
                <a:solidFill>
                  <a:srgbClr val="C8D2DC"/>
                </a:solidFill>
                <a:latin typeface="Calibri" pitchFamily="34" charset="0"/>
                <a:ea typeface="Calibri" pitchFamily="34" charset="-122"/>
                <a:cs typeface="Calibri" pitchFamily="34" charset="-120"/>
              </a:rPr>
              <a:t>Bed capacity and occupancy compared across all 5 hospitals</a:t>
            </a:r>
            <a:endParaRPr lang="en-US" sz="1200" dirty="0"/>
          </a:p>
        </p:txBody>
      </p:sp>
      <p:pic>
        <p:nvPicPr>
          <p:cNvPr id="6" name="Image 0" descr="/mnt/user-data/uploads/Screenshot_2026-08-30_155746.png">    </p:cNvPr>
          <p:cNvPicPr>
            <a:picLocks noChangeAspect="1"/>
          </p:cNvPicPr>
          <p:nvPr/>
        </p:nvPicPr>
        <p:blipFill>
          <a:blip r:embed="rId1"/>
          <a:srcRect l="0" r="0" t="0" b="0"/>
          <a:stretch/>
        </p:blipFill>
        <p:spPr>
          <a:xfrm>
            <a:off x="640080" y="1188720"/>
            <a:ext cx="10881360" cy="3624042"/>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420"/>
        </a:solidFill>
      </p:bgPr>
    </p:bg>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01D2B"/>
          </a:solidFill>
          <a:ln/>
        </p:spPr>
      </p:sp>
      <p:sp>
        <p:nvSpPr>
          <p:cNvPr id="3" name="Shape 1"/>
          <p:cNvSpPr/>
          <p:nvPr/>
        </p:nvSpPr>
        <p:spPr>
          <a:xfrm>
            <a:off x="0" y="960120"/>
            <a:ext cx="12188952" cy="27432"/>
          </a:xfrm>
          <a:prstGeom prst="rect">
            <a:avLst/>
          </a:prstGeom>
          <a:solidFill>
            <a:srgbClr val="4CB8C4"/>
          </a:solidFill>
          <a:ln/>
        </p:spPr>
      </p:sp>
      <p:sp>
        <p:nvSpPr>
          <p:cNvPr id="4" name="Text 2"/>
          <p:cNvSpPr/>
          <p:nvPr/>
        </p:nvSpPr>
        <p:spPr>
          <a:xfrm>
            <a:off x="548640" y="137160"/>
            <a:ext cx="10515600" cy="548640"/>
          </a:xfrm>
          <a:prstGeom prst="rect">
            <a:avLst/>
          </a:prstGeom>
          <a:noFill/>
          <a:ln/>
        </p:spPr>
        <p:txBody>
          <a:bodyPr wrap="square"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Challenges &amp; Learnings</a:t>
            </a:r>
            <a:endParaRPr lang="en-US" sz="2600" dirty="0"/>
          </a:p>
        </p:txBody>
      </p:sp>
      <p:sp>
        <p:nvSpPr>
          <p:cNvPr id="5" name="Text 3"/>
          <p:cNvSpPr/>
          <p:nvPr/>
        </p:nvSpPr>
        <p:spPr>
          <a:xfrm>
            <a:off x="548640" y="566928"/>
            <a:ext cx="10515600" cy="320040"/>
          </a:xfrm>
          <a:prstGeom prst="rect">
            <a:avLst/>
          </a:prstGeom>
          <a:noFill/>
          <a:ln/>
        </p:spPr>
        <p:txBody>
          <a:bodyPr wrap="square" rtlCol="0" anchor="ctr"/>
          <a:lstStyle/>
          <a:p>
            <a:pPr indent="0" marL="0">
              <a:buNone/>
            </a:pPr>
            <a:r>
              <a:rPr lang="en-US" sz="1200" i="1" dirty="0">
                <a:solidFill>
                  <a:srgbClr val="C8D2DC"/>
                </a:solidFill>
                <a:latin typeface="Calibri" pitchFamily="34" charset="0"/>
                <a:ea typeface="Calibri" pitchFamily="34" charset="-122"/>
                <a:cs typeface="Calibri" pitchFamily="34" charset="-120"/>
              </a:rPr>
              <a:t>What actually went wrong, and what fixed it</a:t>
            </a:r>
            <a:endParaRPr lang="en-US" sz="1200" dirty="0"/>
          </a:p>
        </p:txBody>
      </p:sp>
      <p:sp>
        <p:nvSpPr>
          <p:cNvPr id="6" name="Shape 4"/>
          <p:cNvSpPr/>
          <p:nvPr/>
        </p:nvSpPr>
        <p:spPr>
          <a:xfrm>
            <a:off x="640080" y="1417320"/>
            <a:ext cx="5349240" cy="2148840"/>
          </a:xfrm>
          <a:prstGeom prst="roundRect">
            <a:avLst>
              <a:gd name="adj" fmla="val 4255"/>
            </a:avLst>
          </a:prstGeom>
          <a:solidFill>
            <a:srgbClr val="101D2B"/>
          </a:solidFill>
          <a:ln w="12700">
            <a:solidFill>
              <a:srgbClr val="22303F"/>
            </a:solidFill>
            <a:prstDash val="solid"/>
          </a:ln>
        </p:spPr>
      </p:sp>
      <p:sp>
        <p:nvSpPr>
          <p:cNvPr id="7" name="Text 5"/>
          <p:cNvSpPr/>
          <p:nvPr/>
        </p:nvSpPr>
        <p:spPr>
          <a:xfrm>
            <a:off x="868680" y="1554480"/>
            <a:ext cx="4892040" cy="320040"/>
          </a:xfrm>
          <a:prstGeom prst="rect">
            <a:avLst/>
          </a:prstGeom>
          <a:noFill/>
          <a:ln/>
        </p:spPr>
        <p:txBody>
          <a:bodyPr wrap="square" rtlCol="0" anchor="ctr"/>
          <a:lstStyle/>
          <a:p>
            <a:pPr indent="0" marL="0">
              <a:buNone/>
            </a:pPr>
            <a:r>
              <a:rPr lang="en-US" sz="1350" b="1" dirty="0">
                <a:solidFill>
                  <a:srgbClr val="F0A94E"/>
                </a:solidFill>
                <a:latin typeface="Calibri" pitchFamily="34" charset="0"/>
                <a:ea typeface="Calibri" pitchFamily="34" charset="-122"/>
                <a:cs typeface="Calibri" pitchFamily="34" charset="-120"/>
              </a:rPr>
              <a:t>Canvas space</a:t>
            </a:r>
            <a:endParaRPr lang="en-US" sz="1350" dirty="0"/>
          </a:p>
        </p:txBody>
      </p:sp>
      <p:sp>
        <p:nvSpPr>
          <p:cNvPr id="8" name="Text 6"/>
          <p:cNvSpPr/>
          <p:nvPr/>
        </p:nvSpPr>
        <p:spPr>
          <a:xfrm>
            <a:off x="868680" y="1920240"/>
            <a:ext cx="4892040" cy="1508760"/>
          </a:xfrm>
          <a:prstGeom prst="rect">
            <a:avLst/>
          </a:prstGeom>
          <a:noFill/>
          <a:ln/>
        </p:spPr>
        <p:txBody>
          <a:bodyPr wrap="square" rtlCol="0" anchor="ctr"/>
          <a:lstStyle/>
          <a:p>
            <a:pPr indent="0" marL="0">
              <a:lnSpc>
                <a:spcPct val="125000"/>
              </a:lnSpc>
              <a:buNone/>
            </a:pPr>
            <a:r>
              <a:rPr lang="en-US" sz="1050" b="1" dirty="0">
                <a:solidFill>
                  <a:srgbClr val="C8D2DC"/>
                </a:solidFill>
                <a:latin typeface="Calibri" pitchFamily="34" charset="0"/>
                <a:ea typeface="Calibri" pitchFamily="34" charset="-122"/>
                <a:cs typeface="Calibri" pitchFamily="34" charset="-120"/>
              </a:rPr>
              <a:t>Problem: </a:t>
            </a:r>
            <a:pPr indent="0" marL="0">
              <a:lnSpc>
                <a:spcPct val="125000"/>
              </a:lnSpc>
              <a:buNone/>
            </a:pPr>
            <a:r>
              <a:rPr lang="en-US" sz="1050" dirty="0">
                <a:solidFill>
                  <a:srgbClr val="C8D2DC"/>
                </a:solidFill>
                <a:latin typeface="Calibri" pitchFamily="34" charset="0"/>
                <a:ea typeface="Calibri" pitchFamily="34" charset="-122"/>
                <a:cs typeface="Calibri" pitchFamily="34" charset="-120"/>
              </a:rPr>
              <a:t>5 KPI cards + 8 charts didn't fit one page</a:t>
            </a:r>
            <a:endParaRPr lang="en-US" sz="1050" dirty="0"/>
          </a:p>
          <a:p>
            <a:pPr indent="0" marL="0">
              <a:lnSpc>
                <a:spcPct val="125000"/>
              </a:lnSpc>
              <a:buNone/>
            </a:pPr>
            <a:r>
              <a:rPr lang="en-US" sz="1050" b="1" dirty="0">
                <a:solidFill>
                  <a:srgbClr val="7FC957"/>
                </a:solidFill>
                <a:latin typeface="Calibri" pitchFamily="34" charset="0"/>
                <a:ea typeface="Calibri" pitchFamily="34" charset="-122"/>
                <a:cs typeface="Calibri" pitchFamily="34" charset="-120"/>
              </a:rPr>
              <a:t>Fix: </a:t>
            </a:r>
            <a:endParaRPr lang="en-US" sz="1050" dirty="0"/>
          </a:p>
          <a:p>
            <a:pPr indent="0" marL="0">
              <a:lnSpc>
                <a:spcPct val="125000"/>
              </a:lnSpc>
              <a:buNone/>
            </a:pPr>
            <a:r>
              <a:rPr lang="en-US" sz="1050" dirty="0">
                <a:solidFill>
                  <a:srgbClr val="C8D2DC"/>
                </a:solidFill>
                <a:latin typeface="Calibri" pitchFamily="34" charset="0"/>
                <a:ea typeface="Calibri" pitchFamily="34" charset="-122"/>
                <a:cs typeface="Calibri" pitchFamily="34" charset="-120"/>
              </a:rPr>
              <a:t>Split into a dedicated Patient Flow page; used a treemap instead of a failure-prone map visual</a:t>
            </a:r>
            <a:endParaRPr lang="en-US" sz="1050" dirty="0"/>
          </a:p>
        </p:txBody>
      </p:sp>
      <p:sp>
        <p:nvSpPr>
          <p:cNvPr id="9" name="Shape 7"/>
          <p:cNvSpPr/>
          <p:nvPr/>
        </p:nvSpPr>
        <p:spPr>
          <a:xfrm>
            <a:off x="6263640" y="1417320"/>
            <a:ext cx="5349240" cy="2148840"/>
          </a:xfrm>
          <a:prstGeom prst="roundRect">
            <a:avLst>
              <a:gd name="adj" fmla="val 4255"/>
            </a:avLst>
          </a:prstGeom>
          <a:solidFill>
            <a:srgbClr val="101D2B"/>
          </a:solidFill>
          <a:ln w="12700">
            <a:solidFill>
              <a:srgbClr val="22303F"/>
            </a:solidFill>
            <a:prstDash val="solid"/>
          </a:ln>
        </p:spPr>
      </p:sp>
      <p:sp>
        <p:nvSpPr>
          <p:cNvPr id="10" name="Text 8"/>
          <p:cNvSpPr/>
          <p:nvPr/>
        </p:nvSpPr>
        <p:spPr>
          <a:xfrm>
            <a:off x="6492240" y="1554480"/>
            <a:ext cx="4892040" cy="320040"/>
          </a:xfrm>
          <a:prstGeom prst="rect">
            <a:avLst/>
          </a:prstGeom>
          <a:noFill/>
          <a:ln/>
        </p:spPr>
        <p:txBody>
          <a:bodyPr wrap="square" rtlCol="0" anchor="ctr"/>
          <a:lstStyle/>
          <a:p>
            <a:pPr indent="0" marL="0">
              <a:buNone/>
            </a:pPr>
            <a:r>
              <a:rPr lang="en-US" sz="1350" b="1" dirty="0">
                <a:solidFill>
                  <a:srgbClr val="F0A94E"/>
                </a:solidFill>
                <a:latin typeface="Calibri" pitchFamily="34" charset="0"/>
                <a:ea typeface="Calibri" pitchFamily="34" charset="-122"/>
                <a:cs typeface="Calibri" pitchFamily="34" charset="-120"/>
              </a:rPr>
              <a:t>Dark theme contrast</a:t>
            </a:r>
            <a:endParaRPr lang="en-US" sz="1350" dirty="0"/>
          </a:p>
        </p:txBody>
      </p:sp>
      <p:sp>
        <p:nvSpPr>
          <p:cNvPr id="11" name="Text 9"/>
          <p:cNvSpPr/>
          <p:nvPr/>
        </p:nvSpPr>
        <p:spPr>
          <a:xfrm>
            <a:off x="6492240" y="1920240"/>
            <a:ext cx="4892040" cy="1508760"/>
          </a:xfrm>
          <a:prstGeom prst="rect">
            <a:avLst/>
          </a:prstGeom>
          <a:noFill/>
          <a:ln/>
        </p:spPr>
        <p:txBody>
          <a:bodyPr wrap="square" rtlCol="0" anchor="ctr"/>
          <a:lstStyle/>
          <a:p>
            <a:pPr indent="0" marL="0">
              <a:lnSpc>
                <a:spcPct val="125000"/>
              </a:lnSpc>
              <a:buNone/>
            </a:pPr>
            <a:r>
              <a:rPr lang="en-US" sz="1050" b="1" dirty="0">
                <a:solidFill>
                  <a:srgbClr val="C8D2DC"/>
                </a:solidFill>
                <a:latin typeface="Calibri" pitchFamily="34" charset="0"/>
                <a:ea typeface="Calibri" pitchFamily="34" charset="-122"/>
                <a:cs typeface="Calibri" pitchFamily="34" charset="-120"/>
              </a:rPr>
              <a:t>Problem: </a:t>
            </a:r>
            <a:pPr indent="0" marL="0">
              <a:lnSpc>
                <a:spcPct val="125000"/>
              </a:lnSpc>
              <a:buNone/>
            </a:pPr>
            <a:r>
              <a:rPr lang="en-US" sz="1050" dirty="0">
                <a:solidFill>
                  <a:srgbClr val="C8D2DC"/>
                </a:solidFill>
                <a:latin typeface="Calibri" pitchFamily="34" charset="0"/>
                <a:ea typeface="Calibri" pitchFamily="34" charset="-122"/>
                <a:cs typeface="Calibri" pitchFamily="34" charset="-120"/>
              </a:rPr>
              <a:t>Axis labels &amp; dropdown text were invisible</a:t>
            </a:r>
            <a:endParaRPr lang="en-US" sz="1050" dirty="0"/>
          </a:p>
          <a:p>
            <a:pPr indent="0" marL="0">
              <a:lnSpc>
                <a:spcPct val="125000"/>
              </a:lnSpc>
              <a:buNone/>
            </a:pPr>
            <a:r>
              <a:rPr lang="en-US" sz="1050" b="1" dirty="0">
                <a:solidFill>
                  <a:srgbClr val="7FC957"/>
                </a:solidFill>
                <a:latin typeface="Calibri" pitchFamily="34" charset="0"/>
                <a:ea typeface="Calibri" pitchFamily="34" charset="-122"/>
                <a:cs typeface="Calibri" pitchFamily="34" charset="-120"/>
              </a:rPr>
              <a:t>Fix: </a:t>
            </a:r>
            <a:endParaRPr lang="en-US" sz="1050" dirty="0"/>
          </a:p>
          <a:p>
            <a:pPr indent="0" marL="0">
              <a:lnSpc>
                <a:spcPct val="125000"/>
              </a:lnSpc>
              <a:buNone/>
            </a:pPr>
            <a:r>
              <a:rPr lang="en-US" sz="1050" dirty="0">
                <a:solidFill>
                  <a:srgbClr val="C8D2DC"/>
                </a:solidFill>
                <a:latin typeface="Calibri" pitchFamily="34" charset="0"/>
                <a:ea typeface="Calibri" pitchFamily="34" charset="-122"/>
                <a:cs typeface="Calibri" pitchFamily="34" charset="-120"/>
              </a:rPr>
              <a:t>Explicitly forced label/background colors in the theme JSON instead of relying on defaults</a:t>
            </a:r>
            <a:endParaRPr lang="en-US" sz="1050" dirty="0"/>
          </a:p>
        </p:txBody>
      </p:sp>
      <p:sp>
        <p:nvSpPr>
          <p:cNvPr id="12" name="Shape 10"/>
          <p:cNvSpPr/>
          <p:nvPr/>
        </p:nvSpPr>
        <p:spPr>
          <a:xfrm>
            <a:off x="640080" y="3749040"/>
            <a:ext cx="5349240" cy="2148840"/>
          </a:xfrm>
          <a:prstGeom prst="roundRect">
            <a:avLst>
              <a:gd name="adj" fmla="val 4255"/>
            </a:avLst>
          </a:prstGeom>
          <a:solidFill>
            <a:srgbClr val="101D2B"/>
          </a:solidFill>
          <a:ln w="12700">
            <a:solidFill>
              <a:srgbClr val="22303F"/>
            </a:solidFill>
            <a:prstDash val="solid"/>
          </a:ln>
        </p:spPr>
      </p:sp>
      <p:sp>
        <p:nvSpPr>
          <p:cNvPr id="13" name="Text 11"/>
          <p:cNvSpPr/>
          <p:nvPr/>
        </p:nvSpPr>
        <p:spPr>
          <a:xfrm>
            <a:off x="868680" y="3886200"/>
            <a:ext cx="4892040" cy="320040"/>
          </a:xfrm>
          <a:prstGeom prst="rect">
            <a:avLst/>
          </a:prstGeom>
          <a:noFill/>
          <a:ln/>
        </p:spPr>
        <p:txBody>
          <a:bodyPr wrap="square" rtlCol="0" anchor="ctr"/>
          <a:lstStyle/>
          <a:p>
            <a:pPr indent="0" marL="0">
              <a:buNone/>
            </a:pPr>
            <a:r>
              <a:rPr lang="en-US" sz="1350" b="1" dirty="0">
                <a:solidFill>
                  <a:srgbClr val="F0A94E"/>
                </a:solidFill>
                <a:latin typeface="Calibri" pitchFamily="34" charset="0"/>
                <a:ea typeface="Calibri" pitchFamily="34" charset="-122"/>
                <a:cs typeface="Calibri" pitchFamily="34" charset="-120"/>
              </a:rPr>
              <a:t>Missing brief fields</a:t>
            </a:r>
            <a:endParaRPr lang="en-US" sz="1350" dirty="0"/>
          </a:p>
        </p:txBody>
      </p:sp>
      <p:sp>
        <p:nvSpPr>
          <p:cNvPr id="14" name="Text 12"/>
          <p:cNvSpPr/>
          <p:nvPr/>
        </p:nvSpPr>
        <p:spPr>
          <a:xfrm>
            <a:off x="868680" y="4251960"/>
            <a:ext cx="4892040" cy="1508760"/>
          </a:xfrm>
          <a:prstGeom prst="rect">
            <a:avLst/>
          </a:prstGeom>
          <a:noFill/>
          <a:ln/>
        </p:spPr>
        <p:txBody>
          <a:bodyPr wrap="square" rtlCol="0" anchor="ctr"/>
          <a:lstStyle/>
          <a:p>
            <a:pPr indent="0" marL="0">
              <a:lnSpc>
                <a:spcPct val="125000"/>
              </a:lnSpc>
              <a:buNone/>
            </a:pPr>
            <a:r>
              <a:rPr lang="en-US" sz="1050" b="1" dirty="0">
                <a:solidFill>
                  <a:srgbClr val="C8D2DC"/>
                </a:solidFill>
                <a:latin typeface="Calibri" pitchFamily="34" charset="0"/>
                <a:ea typeface="Calibri" pitchFamily="34" charset="-122"/>
                <a:cs typeface="Calibri" pitchFamily="34" charset="-120"/>
              </a:rPr>
              <a:t>Problem: </a:t>
            </a:r>
            <a:pPr indent="0" marL="0">
              <a:lnSpc>
                <a:spcPct val="125000"/>
              </a:lnSpc>
              <a:buNone/>
            </a:pPr>
            <a:r>
              <a:rPr lang="en-US" sz="1050" dirty="0">
                <a:solidFill>
                  <a:srgbClr val="C8D2DC"/>
                </a:solidFill>
                <a:latin typeface="Calibri" pitchFamily="34" charset="0"/>
                <a:ea typeface="Calibri" pitchFamily="34" charset="-122"/>
                <a:cs typeface="Calibri" pitchFamily="34" charset="-120"/>
              </a:rPr>
              <a:t>Staffing &amp; equipment data don't exist in the source dataset</a:t>
            </a:r>
            <a:endParaRPr lang="en-US" sz="1050" dirty="0"/>
          </a:p>
          <a:p>
            <a:pPr indent="0" marL="0">
              <a:lnSpc>
                <a:spcPct val="125000"/>
              </a:lnSpc>
              <a:buNone/>
            </a:pPr>
            <a:r>
              <a:rPr lang="en-US" sz="1050" b="1" dirty="0">
                <a:solidFill>
                  <a:srgbClr val="7FC957"/>
                </a:solidFill>
                <a:latin typeface="Calibri" pitchFamily="34" charset="0"/>
                <a:ea typeface="Calibri" pitchFamily="34" charset="-122"/>
                <a:cs typeface="Calibri" pitchFamily="34" charset="-120"/>
              </a:rPr>
              <a:t>Fix: </a:t>
            </a:r>
            <a:endParaRPr lang="en-US" sz="1050" dirty="0"/>
          </a:p>
          <a:p>
            <a:pPr indent="0" marL="0">
              <a:lnSpc>
                <a:spcPct val="125000"/>
              </a:lnSpc>
              <a:buNone/>
            </a:pPr>
            <a:r>
              <a:rPr lang="en-US" sz="1050" dirty="0">
                <a:solidFill>
                  <a:srgbClr val="C8D2DC"/>
                </a:solidFill>
                <a:latin typeface="Calibri" pitchFamily="34" charset="0"/>
                <a:ea typeface="Calibri" pitchFamily="34" charset="-122"/>
                <a:cs typeface="Calibri" pitchFamily="34" charset="-120"/>
              </a:rPr>
              <a:t>Added them as a documented, rule-based synthetic table instead of fabricating numbers silently</a:t>
            </a:r>
            <a:endParaRPr lang="en-US" sz="1050" dirty="0"/>
          </a:p>
        </p:txBody>
      </p:sp>
      <p:sp>
        <p:nvSpPr>
          <p:cNvPr id="15" name="Shape 13"/>
          <p:cNvSpPr/>
          <p:nvPr/>
        </p:nvSpPr>
        <p:spPr>
          <a:xfrm>
            <a:off x="6263640" y="3749040"/>
            <a:ext cx="5349240" cy="2148840"/>
          </a:xfrm>
          <a:prstGeom prst="roundRect">
            <a:avLst>
              <a:gd name="adj" fmla="val 4255"/>
            </a:avLst>
          </a:prstGeom>
          <a:solidFill>
            <a:srgbClr val="101D2B"/>
          </a:solidFill>
          <a:ln w="12700">
            <a:solidFill>
              <a:srgbClr val="22303F"/>
            </a:solidFill>
            <a:prstDash val="solid"/>
          </a:ln>
        </p:spPr>
      </p:sp>
      <p:sp>
        <p:nvSpPr>
          <p:cNvPr id="16" name="Text 14"/>
          <p:cNvSpPr/>
          <p:nvPr/>
        </p:nvSpPr>
        <p:spPr>
          <a:xfrm>
            <a:off x="6492240" y="3886200"/>
            <a:ext cx="4892040" cy="320040"/>
          </a:xfrm>
          <a:prstGeom prst="rect">
            <a:avLst/>
          </a:prstGeom>
          <a:noFill/>
          <a:ln/>
        </p:spPr>
        <p:txBody>
          <a:bodyPr wrap="square" rtlCol="0" anchor="ctr"/>
          <a:lstStyle/>
          <a:p>
            <a:pPr indent="0" marL="0">
              <a:buNone/>
            </a:pPr>
            <a:r>
              <a:rPr lang="en-US" sz="1350" b="1" dirty="0">
                <a:solidFill>
                  <a:srgbClr val="F0A94E"/>
                </a:solidFill>
                <a:latin typeface="Calibri" pitchFamily="34" charset="0"/>
                <a:ea typeface="Calibri" pitchFamily="34" charset="-122"/>
                <a:cs typeface="Calibri" pitchFamily="34" charset="-120"/>
              </a:rPr>
              <a:t>Mixed data formats</a:t>
            </a:r>
            <a:endParaRPr lang="en-US" sz="1350" dirty="0"/>
          </a:p>
        </p:txBody>
      </p:sp>
      <p:sp>
        <p:nvSpPr>
          <p:cNvPr id="17" name="Text 15"/>
          <p:cNvSpPr/>
          <p:nvPr/>
        </p:nvSpPr>
        <p:spPr>
          <a:xfrm>
            <a:off x="6492240" y="4251960"/>
            <a:ext cx="4892040" cy="1508760"/>
          </a:xfrm>
          <a:prstGeom prst="rect">
            <a:avLst/>
          </a:prstGeom>
          <a:noFill/>
          <a:ln/>
        </p:spPr>
        <p:txBody>
          <a:bodyPr wrap="square" rtlCol="0" anchor="ctr"/>
          <a:lstStyle/>
          <a:p>
            <a:pPr indent="0" marL="0">
              <a:lnSpc>
                <a:spcPct val="125000"/>
              </a:lnSpc>
              <a:buNone/>
            </a:pPr>
            <a:r>
              <a:rPr lang="en-US" sz="1050" b="1" dirty="0">
                <a:solidFill>
                  <a:srgbClr val="C8D2DC"/>
                </a:solidFill>
                <a:latin typeface="Calibri" pitchFamily="34" charset="0"/>
                <a:ea typeface="Calibri" pitchFamily="34" charset="-122"/>
                <a:cs typeface="Calibri" pitchFamily="34" charset="-120"/>
              </a:rPr>
              <a:t>Problem: </a:t>
            </a:r>
            <a:pPr indent="0" marL="0">
              <a:lnSpc>
                <a:spcPct val="125000"/>
              </a:lnSpc>
              <a:buNone/>
            </a:pPr>
            <a:r>
              <a:rPr lang="en-US" sz="1050" dirty="0">
                <a:solidFill>
                  <a:srgbClr val="C8D2DC"/>
                </a:solidFill>
                <a:latin typeface="Calibri" pitchFamily="34" charset="0"/>
                <a:ea typeface="Calibri" pitchFamily="34" charset="-122"/>
                <a:cs typeface="Calibri" pitchFamily="34" charset="-120"/>
              </a:rPr>
              <a:t>Raw admission dates arrived in 3 different formats</a:t>
            </a:r>
            <a:endParaRPr lang="en-US" sz="1050" dirty="0"/>
          </a:p>
          <a:p>
            <a:pPr indent="0" marL="0">
              <a:lnSpc>
                <a:spcPct val="125000"/>
              </a:lnSpc>
              <a:buNone/>
            </a:pPr>
            <a:r>
              <a:rPr lang="en-US" sz="1050" b="1" dirty="0">
                <a:solidFill>
                  <a:srgbClr val="7FC957"/>
                </a:solidFill>
                <a:latin typeface="Calibri" pitchFamily="34" charset="0"/>
                <a:ea typeface="Calibri" pitchFamily="34" charset="-122"/>
                <a:cs typeface="Calibri" pitchFamily="34" charset="-120"/>
              </a:rPr>
              <a:t>Fix: </a:t>
            </a:r>
            <a:endParaRPr lang="en-US" sz="1050" dirty="0"/>
          </a:p>
          <a:p>
            <a:pPr indent="0" marL="0">
              <a:lnSpc>
                <a:spcPct val="125000"/>
              </a:lnSpc>
              <a:buNone/>
            </a:pPr>
            <a:r>
              <a:rPr lang="en-US" sz="1050" dirty="0">
                <a:solidFill>
                  <a:srgbClr val="C8D2DC"/>
                </a:solidFill>
                <a:latin typeface="Calibri" pitchFamily="34" charset="0"/>
                <a:ea typeface="Calibri" pitchFamily="34" charset="-122"/>
                <a:cs typeface="Calibri" pitchFamily="34" charset="-120"/>
              </a:rPr>
              <a:t>Used pandas' format='mixed' parser, verified output matched source exactly</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420"/>
        </a:solidFill>
      </p:bgPr>
    </p:bg>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01D2B"/>
          </a:solidFill>
          <a:ln/>
        </p:spPr>
      </p:sp>
      <p:sp>
        <p:nvSpPr>
          <p:cNvPr id="3" name="Shape 1"/>
          <p:cNvSpPr/>
          <p:nvPr/>
        </p:nvSpPr>
        <p:spPr>
          <a:xfrm>
            <a:off x="0" y="960120"/>
            <a:ext cx="12188952" cy="27432"/>
          </a:xfrm>
          <a:prstGeom prst="rect">
            <a:avLst/>
          </a:prstGeom>
          <a:solidFill>
            <a:srgbClr val="4CB8C4"/>
          </a:solidFill>
          <a:ln/>
        </p:spPr>
      </p:sp>
      <p:sp>
        <p:nvSpPr>
          <p:cNvPr id="4" name="Text 2"/>
          <p:cNvSpPr/>
          <p:nvPr/>
        </p:nvSpPr>
        <p:spPr>
          <a:xfrm>
            <a:off x="548640" y="137160"/>
            <a:ext cx="10515600" cy="548640"/>
          </a:xfrm>
          <a:prstGeom prst="rect">
            <a:avLst/>
          </a:prstGeom>
          <a:noFill/>
          <a:ln/>
        </p:spPr>
        <p:txBody>
          <a:bodyPr wrap="square"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Conclusion &amp; Future Scope</a:t>
            </a:r>
            <a:endParaRPr lang="en-US" sz="2600" dirty="0"/>
          </a:p>
        </p:txBody>
      </p:sp>
      <p:sp>
        <p:nvSpPr>
          <p:cNvPr id="5" name="Shape 3"/>
          <p:cNvSpPr/>
          <p:nvPr/>
        </p:nvSpPr>
        <p:spPr>
          <a:xfrm>
            <a:off x="640080" y="1371600"/>
            <a:ext cx="10881360" cy="1005840"/>
          </a:xfrm>
          <a:prstGeom prst="roundRect">
            <a:avLst>
              <a:gd name="adj" fmla="val 9091"/>
            </a:avLst>
          </a:prstGeom>
          <a:solidFill>
            <a:srgbClr val="101D2B"/>
          </a:solidFill>
          <a:ln w="19050">
            <a:solidFill>
              <a:srgbClr val="4CB8C4"/>
            </a:solidFill>
            <a:prstDash val="solid"/>
          </a:ln>
        </p:spPr>
      </p:sp>
      <p:sp>
        <p:nvSpPr>
          <p:cNvPr id="6" name="Text 4"/>
          <p:cNvSpPr/>
          <p:nvPr/>
        </p:nvSpPr>
        <p:spPr>
          <a:xfrm>
            <a:off x="914400" y="1508760"/>
            <a:ext cx="10332720" cy="731520"/>
          </a:xfrm>
          <a:prstGeom prst="rect">
            <a:avLst/>
          </a:prstGeom>
          <a:noFill/>
          <a:ln/>
        </p:spPr>
        <p:txBody>
          <a:bodyPr wrap="square" rtlCol="0" anchor="ctr"/>
          <a:lstStyle/>
          <a:p>
            <a:pPr indent="0" marL="0">
              <a:lnSpc>
                <a:spcPct val="130000"/>
              </a:lnSpc>
              <a:buNone/>
            </a:pPr>
            <a:r>
              <a:rPr lang="en-US" sz="1400" i="1" dirty="0">
                <a:solidFill>
                  <a:srgbClr val="FFFFFF"/>
                </a:solidFill>
                <a:latin typeface="Calibri" pitchFamily="34" charset="0"/>
                <a:ea typeface="Calibri" pitchFamily="34" charset="-122"/>
                <a:cs typeface="Calibri" pitchFamily="34" charset="-120"/>
              </a:rPr>
              <a:t>MedTrack DV turns scattered hospital records into a single live view — giving administrators the data to act on patient flow and department efficiency in minutes, not days.</a:t>
            </a:r>
            <a:endParaRPr lang="en-US" sz="1400" dirty="0"/>
          </a:p>
        </p:txBody>
      </p:sp>
      <p:sp>
        <p:nvSpPr>
          <p:cNvPr id="7" name="Text 5"/>
          <p:cNvSpPr/>
          <p:nvPr/>
        </p:nvSpPr>
        <p:spPr>
          <a:xfrm>
            <a:off x="640080" y="2697480"/>
            <a:ext cx="10881360" cy="274320"/>
          </a:xfrm>
          <a:prstGeom prst="rect">
            <a:avLst/>
          </a:prstGeom>
          <a:noFill/>
          <a:ln/>
        </p:spPr>
        <p:txBody>
          <a:bodyPr wrap="square" rtlCol="0" anchor="ctr"/>
          <a:lstStyle/>
          <a:p>
            <a:pPr indent="0" marL="0">
              <a:buNone/>
            </a:pPr>
            <a:r>
              <a:rPr lang="en-US" sz="1100" b="1" spc="200" kern="0" dirty="0">
                <a:solidFill>
                  <a:srgbClr val="4CB8C4"/>
                </a:solidFill>
                <a:latin typeface="Calibri" pitchFamily="34" charset="0"/>
                <a:ea typeface="Calibri" pitchFamily="34" charset="-122"/>
                <a:cs typeface="Calibri" pitchFamily="34" charset="-120"/>
              </a:rPr>
              <a:t>WHAT'S NEXT</a:t>
            </a:r>
            <a:endParaRPr lang="en-US" sz="1100" dirty="0"/>
          </a:p>
        </p:txBody>
      </p:sp>
      <p:sp>
        <p:nvSpPr>
          <p:cNvPr id="8" name="Shape 6"/>
          <p:cNvSpPr/>
          <p:nvPr/>
        </p:nvSpPr>
        <p:spPr>
          <a:xfrm>
            <a:off x="640080" y="3063240"/>
            <a:ext cx="3520440" cy="1737360"/>
          </a:xfrm>
          <a:prstGeom prst="roundRect">
            <a:avLst>
              <a:gd name="adj" fmla="val 5263"/>
            </a:avLst>
          </a:prstGeom>
          <a:solidFill>
            <a:srgbClr val="101D2B"/>
          </a:solidFill>
          <a:ln w="12700">
            <a:solidFill>
              <a:srgbClr val="22303F"/>
            </a:solidFill>
            <a:prstDash val="solid"/>
          </a:ln>
        </p:spPr>
      </p:sp>
      <p:sp>
        <p:nvSpPr>
          <p:cNvPr id="9" name="Text 7"/>
          <p:cNvSpPr/>
          <p:nvPr/>
        </p:nvSpPr>
        <p:spPr>
          <a:xfrm>
            <a:off x="822960" y="3246120"/>
            <a:ext cx="3154680" cy="411480"/>
          </a:xfrm>
          <a:prstGeom prst="rect">
            <a:avLst/>
          </a:prstGeom>
          <a:noFill/>
          <a:ln/>
        </p:spPr>
        <p:txBody>
          <a:bodyPr wrap="square" rtlCol="0" anchor="ctr"/>
          <a:lstStyle/>
          <a:p>
            <a:pPr indent="0" marL="0">
              <a:buNone/>
            </a:pPr>
            <a:r>
              <a:rPr lang="en-US" sz="1300" b="1" dirty="0">
                <a:solidFill>
                  <a:srgbClr val="7FC957"/>
                </a:solidFill>
                <a:latin typeface="Calibri" pitchFamily="34" charset="0"/>
                <a:ea typeface="Calibri" pitchFamily="34" charset="-122"/>
                <a:cs typeface="Calibri" pitchFamily="34" charset="-120"/>
              </a:rPr>
              <a:t>Real hospital data</a:t>
            </a:r>
            <a:endParaRPr lang="en-US" sz="1300" dirty="0"/>
          </a:p>
        </p:txBody>
      </p:sp>
      <p:sp>
        <p:nvSpPr>
          <p:cNvPr id="10" name="Text 8"/>
          <p:cNvSpPr/>
          <p:nvPr/>
        </p:nvSpPr>
        <p:spPr>
          <a:xfrm>
            <a:off x="822960" y="3657600"/>
            <a:ext cx="3154680" cy="1051560"/>
          </a:xfrm>
          <a:prstGeom prst="rect">
            <a:avLst/>
          </a:prstGeom>
          <a:noFill/>
          <a:ln/>
        </p:spPr>
        <p:txBody>
          <a:bodyPr wrap="square" rtlCol="0" anchor="ctr"/>
          <a:lstStyle/>
          <a:p>
            <a:pPr indent="0" marL="0">
              <a:lnSpc>
                <a:spcPct val="125000"/>
              </a:lnSpc>
              <a:buNone/>
            </a:pPr>
            <a:r>
              <a:rPr lang="en-US" sz="1050" dirty="0">
                <a:solidFill>
                  <a:srgbClr val="C8D2DC"/>
                </a:solidFill>
                <a:latin typeface="Calibri" pitchFamily="34" charset="0"/>
                <a:ea typeface="Calibri" pitchFamily="34" charset="-122"/>
                <a:cs typeface="Calibri" pitchFamily="34" charset="-120"/>
              </a:rPr>
              <a:t>Swap the synthetic dataset for an actual (anonymized) hospital data feed</a:t>
            </a:r>
            <a:endParaRPr lang="en-US" sz="1050" dirty="0"/>
          </a:p>
        </p:txBody>
      </p:sp>
      <p:sp>
        <p:nvSpPr>
          <p:cNvPr id="11" name="Shape 9"/>
          <p:cNvSpPr/>
          <p:nvPr/>
        </p:nvSpPr>
        <p:spPr>
          <a:xfrm>
            <a:off x="4389120" y="3063240"/>
            <a:ext cx="3520440" cy="1737360"/>
          </a:xfrm>
          <a:prstGeom prst="roundRect">
            <a:avLst>
              <a:gd name="adj" fmla="val 5263"/>
            </a:avLst>
          </a:prstGeom>
          <a:solidFill>
            <a:srgbClr val="101D2B"/>
          </a:solidFill>
          <a:ln w="12700">
            <a:solidFill>
              <a:srgbClr val="22303F"/>
            </a:solidFill>
            <a:prstDash val="solid"/>
          </a:ln>
        </p:spPr>
      </p:sp>
      <p:sp>
        <p:nvSpPr>
          <p:cNvPr id="12" name="Text 10"/>
          <p:cNvSpPr/>
          <p:nvPr/>
        </p:nvSpPr>
        <p:spPr>
          <a:xfrm>
            <a:off x="4572000" y="3246120"/>
            <a:ext cx="3154680" cy="411480"/>
          </a:xfrm>
          <a:prstGeom prst="rect">
            <a:avLst/>
          </a:prstGeom>
          <a:noFill/>
          <a:ln/>
        </p:spPr>
        <p:txBody>
          <a:bodyPr wrap="square" rtlCol="0" anchor="ctr"/>
          <a:lstStyle/>
          <a:p>
            <a:pPr indent="0" marL="0">
              <a:buNone/>
            </a:pPr>
            <a:r>
              <a:rPr lang="en-US" sz="1300" b="1" dirty="0">
                <a:solidFill>
                  <a:srgbClr val="7FC957"/>
                </a:solidFill>
                <a:latin typeface="Calibri" pitchFamily="34" charset="0"/>
                <a:ea typeface="Calibri" pitchFamily="34" charset="-122"/>
                <a:cs typeface="Calibri" pitchFamily="34" charset="-120"/>
              </a:rPr>
              <a:t>Live staffing &amp; equipment</a:t>
            </a:r>
            <a:endParaRPr lang="en-US" sz="1300" dirty="0"/>
          </a:p>
        </p:txBody>
      </p:sp>
      <p:sp>
        <p:nvSpPr>
          <p:cNvPr id="13" name="Text 11"/>
          <p:cNvSpPr/>
          <p:nvPr/>
        </p:nvSpPr>
        <p:spPr>
          <a:xfrm>
            <a:off x="4572000" y="3657600"/>
            <a:ext cx="3154680" cy="1051560"/>
          </a:xfrm>
          <a:prstGeom prst="rect">
            <a:avLst/>
          </a:prstGeom>
          <a:noFill/>
          <a:ln/>
        </p:spPr>
        <p:txBody>
          <a:bodyPr wrap="square" rtlCol="0" anchor="ctr"/>
          <a:lstStyle/>
          <a:p>
            <a:pPr indent="0" marL="0">
              <a:lnSpc>
                <a:spcPct val="125000"/>
              </a:lnSpc>
              <a:buNone/>
            </a:pPr>
            <a:r>
              <a:rPr lang="en-US" sz="1050" dirty="0">
                <a:solidFill>
                  <a:srgbClr val="C8D2DC"/>
                </a:solidFill>
                <a:latin typeface="Calibri" pitchFamily="34" charset="0"/>
                <a:ea typeface="Calibri" pitchFamily="34" charset="-122"/>
                <a:cs typeface="Calibri" pitchFamily="34" charset="-120"/>
              </a:rPr>
              <a:t>Connect the resource table to a real, live-updating source</a:t>
            </a:r>
            <a:endParaRPr lang="en-US" sz="1050" dirty="0"/>
          </a:p>
        </p:txBody>
      </p:sp>
      <p:sp>
        <p:nvSpPr>
          <p:cNvPr id="14" name="Shape 12"/>
          <p:cNvSpPr/>
          <p:nvPr/>
        </p:nvSpPr>
        <p:spPr>
          <a:xfrm>
            <a:off x="8138160" y="3063240"/>
            <a:ext cx="3520440" cy="1737360"/>
          </a:xfrm>
          <a:prstGeom prst="roundRect">
            <a:avLst>
              <a:gd name="adj" fmla="val 5263"/>
            </a:avLst>
          </a:prstGeom>
          <a:solidFill>
            <a:srgbClr val="101D2B"/>
          </a:solidFill>
          <a:ln w="12700">
            <a:solidFill>
              <a:srgbClr val="22303F"/>
            </a:solidFill>
            <a:prstDash val="solid"/>
          </a:ln>
        </p:spPr>
      </p:sp>
      <p:sp>
        <p:nvSpPr>
          <p:cNvPr id="15" name="Text 13"/>
          <p:cNvSpPr/>
          <p:nvPr/>
        </p:nvSpPr>
        <p:spPr>
          <a:xfrm>
            <a:off x="8321040" y="3246120"/>
            <a:ext cx="3154680" cy="411480"/>
          </a:xfrm>
          <a:prstGeom prst="rect">
            <a:avLst/>
          </a:prstGeom>
          <a:noFill/>
          <a:ln/>
        </p:spPr>
        <p:txBody>
          <a:bodyPr wrap="square" rtlCol="0" anchor="ctr"/>
          <a:lstStyle/>
          <a:p>
            <a:pPr indent="0" marL="0">
              <a:buNone/>
            </a:pPr>
            <a:r>
              <a:rPr lang="en-US" sz="1300" b="1" dirty="0">
                <a:solidFill>
                  <a:srgbClr val="7FC957"/>
                </a:solidFill>
                <a:latin typeface="Calibri" pitchFamily="34" charset="0"/>
                <a:ea typeface="Calibri" pitchFamily="34" charset="-122"/>
                <a:cs typeface="Calibri" pitchFamily="34" charset="-120"/>
              </a:rPr>
              <a:t>Forecasting</a:t>
            </a:r>
            <a:endParaRPr lang="en-US" sz="1300" dirty="0"/>
          </a:p>
        </p:txBody>
      </p:sp>
      <p:sp>
        <p:nvSpPr>
          <p:cNvPr id="16" name="Text 14"/>
          <p:cNvSpPr/>
          <p:nvPr/>
        </p:nvSpPr>
        <p:spPr>
          <a:xfrm>
            <a:off x="8321040" y="3657600"/>
            <a:ext cx="3154680" cy="1051560"/>
          </a:xfrm>
          <a:prstGeom prst="rect">
            <a:avLst/>
          </a:prstGeom>
          <a:noFill/>
          <a:ln/>
        </p:spPr>
        <p:txBody>
          <a:bodyPr wrap="square" rtlCol="0" anchor="ctr"/>
          <a:lstStyle/>
          <a:p>
            <a:pPr indent="0" marL="0">
              <a:lnSpc>
                <a:spcPct val="125000"/>
              </a:lnSpc>
              <a:buNone/>
            </a:pPr>
            <a:r>
              <a:rPr lang="en-US" sz="1050" dirty="0">
                <a:solidFill>
                  <a:srgbClr val="C8D2DC"/>
                </a:solidFill>
                <a:latin typeface="Calibri" pitchFamily="34" charset="0"/>
                <a:ea typeface="Calibri" pitchFamily="34" charset="-122"/>
                <a:cs typeface="Calibri" pitchFamily="34" charset="-120"/>
              </a:rPr>
              <a:t>Use DAX time-intelligence to project next month's admissions and occupancy</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420"/>
        </a:solidFill>
      </p:bgPr>
    </p:bg>
    <p:spTree>
      <p:nvGrpSpPr>
        <p:cNvPr id="1" name=""/>
        <p:cNvGrpSpPr/>
        <p:nvPr/>
      </p:nvGrpSpPr>
      <p:grpSpPr>
        <a:xfrm>
          <a:off x="0" y="0"/>
          <a:ext cx="0" cy="0"/>
          <a:chOff x="0" y="0"/>
          <a:chExt cx="0" cy="0"/>
        </a:xfrm>
      </p:grpSpPr>
      <p:sp>
        <p:nvSpPr>
          <p:cNvPr id="2" name="Shape 0"/>
          <p:cNvSpPr/>
          <p:nvPr/>
        </p:nvSpPr>
        <p:spPr>
          <a:xfrm>
            <a:off x="-1463040" y="-1463040"/>
            <a:ext cx="4023360" cy="4023360"/>
          </a:xfrm>
          <a:prstGeom prst="ellipse">
            <a:avLst/>
          </a:prstGeom>
          <a:solidFill>
            <a:srgbClr val="101D2B">
              <a:alpha val="70000"/>
            </a:srgbClr>
          </a:solidFill>
          <a:ln/>
        </p:spPr>
      </p:sp>
      <p:sp>
        <p:nvSpPr>
          <p:cNvPr id="3" name="Shape 1"/>
          <p:cNvSpPr/>
          <p:nvPr/>
        </p:nvSpPr>
        <p:spPr>
          <a:xfrm>
            <a:off x="10241280" y="4937760"/>
            <a:ext cx="3474720" cy="3474720"/>
          </a:xfrm>
          <a:prstGeom prst="ellipse">
            <a:avLst/>
          </a:prstGeom>
          <a:solidFill>
            <a:srgbClr val="101D2B">
              <a:alpha val="70000"/>
            </a:srgbClr>
          </a:solidFill>
          <a:ln/>
        </p:spPr>
      </p:sp>
      <p:sp>
        <p:nvSpPr>
          <p:cNvPr id="4" name="Text 2"/>
          <p:cNvSpPr/>
          <p:nvPr/>
        </p:nvSpPr>
        <p:spPr>
          <a:xfrm>
            <a:off x="1371600" y="2468880"/>
            <a:ext cx="9418320" cy="822960"/>
          </a:xfrm>
          <a:prstGeom prst="rect">
            <a:avLst/>
          </a:prstGeom>
          <a:noFill/>
          <a:ln/>
        </p:spPr>
        <p:txBody>
          <a:bodyPr wrap="square"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Thank You</a:t>
            </a:r>
            <a:endParaRPr lang="en-US" sz="4000" dirty="0"/>
          </a:p>
        </p:txBody>
      </p:sp>
      <p:sp>
        <p:nvSpPr>
          <p:cNvPr id="5" name="Text 3"/>
          <p:cNvSpPr/>
          <p:nvPr/>
        </p:nvSpPr>
        <p:spPr>
          <a:xfrm>
            <a:off x="1371600" y="3200400"/>
            <a:ext cx="9418320" cy="457200"/>
          </a:xfrm>
          <a:prstGeom prst="rect">
            <a:avLst/>
          </a:prstGeom>
          <a:noFill/>
          <a:ln/>
        </p:spPr>
        <p:txBody>
          <a:bodyPr wrap="square" rtlCol="0" anchor="ctr"/>
          <a:lstStyle/>
          <a:p>
            <a:pPr algn="ctr" indent="0" marL="0">
              <a:buNone/>
            </a:pPr>
            <a:r>
              <a:rPr lang="en-US" sz="1600" dirty="0">
                <a:solidFill>
                  <a:srgbClr val="4CB8C4"/>
                </a:solidFill>
                <a:latin typeface="Calibri" pitchFamily="34" charset="0"/>
                <a:ea typeface="Calibri" pitchFamily="34" charset="-122"/>
                <a:cs typeface="Calibri" pitchFamily="34" charset="-120"/>
              </a:rPr>
              <a:t>Questions?</a:t>
            </a:r>
            <a:endParaRPr lang="en-US" sz="1600" dirty="0"/>
          </a:p>
        </p:txBody>
      </p:sp>
      <p:sp>
        <p:nvSpPr>
          <p:cNvPr id="6" name="Text 4"/>
          <p:cNvSpPr/>
          <p:nvPr/>
        </p:nvSpPr>
        <p:spPr>
          <a:xfrm>
            <a:off x="1371600" y="4846320"/>
            <a:ext cx="9418320" cy="320040"/>
          </a:xfrm>
          <a:prstGeom prst="rect">
            <a:avLst/>
          </a:prstGeom>
          <a:noFill/>
          <a:ln/>
        </p:spPr>
        <p:txBody>
          <a:bodyPr wrap="square" rtlCol="0" anchor="ctr"/>
          <a:lstStyle/>
          <a:p>
            <a:pPr algn="ctr" indent="0" marL="0">
              <a:buNone/>
            </a:pPr>
            <a:r>
              <a:rPr lang="en-US" sz="1100" dirty="0">
                <a:solidFill>
                  <a:srgbClr val="8A96A3"/>
                </a:solidFill>
                <a:latin typeface="Calibri" pitchFamily="34" charset="0"/>
                <a:ea typeface="Calibri" pitchFamily="34" charset="-122"/>
                <a:cs typeface="Calibri" pitchFamily="34" charset="-120"/>
              </a:rPr>
              <a:t>MedTrack DV  —  Hospital Operations &amp; Patient Analytics Dashboard</a:t>
            </a:r>
            <a:endParaRPr lang="en-US" sz="1100" dirty="0"/>
          </a:p>
        </p:txBody>
      </p:sp>
      <p:sp>
        <p:nvSpPr>
          <p:cNvPr id="7" name="Text 5"/>
          <p:cNvSpPr/>
          <p:nvPr/>
        </p:nvSpPr>
        <p:spPr>
          <a:xfrm>
            <a:off x="1371600" y="5166360"/>
            <a:ext cx="9418320" cy="320040"/>
          </a:xfrm>
          <a:prstGeom prst="rect">
            <a:avLst/>
          </a:prstGeom>
          <a:noFill/>
          <a:ln/>
        </p:spPr>
        <p:txBody>
          <a:bodyPr wrap="square" rtlCol="0" anchor="ctr"/>
          <a:lstStyle/>
          <a:p>
            <a:pPr algn="ctr" indent="0" marL="0">
              <a:buNone/>
            </a:pPr>
            <a:r>
              <a:rPr lang="en-US" sz="1050" dirty="0">
                <a:solidFill>
                  <a:srgbClr val="8A96A3"/>
                </a:solidFill>
                <a:latin typeface="Calibri" pitchFamily="34" charset="0"/>
                <a:ea typeface="Calibri" pitchFamily="34" charset="-122"/>
                <a:cs typeface="Calibri" pitchFamily="34" charset="-120"/>
              </a:rPr>
              <a:t>[your email]   |   [project link / repo]</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2026-08-30T10:44:00Z</dcterms:created>
  <dcterms:modified xsi:type="dcterms:W3CDTF">2026-08-30T10:44:00Z</dcterms:modified>
</cp:coreProperties>
</file>