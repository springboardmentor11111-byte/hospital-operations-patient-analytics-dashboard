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2E3D7823-1CA9-4003-93D8-8F501435C3ED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9/2/26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26C6E45-A18A-448A-B9CC-BE6302BB891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350640" y="320040"/>
            <a:ext cx="5625360" cy="396000"/>
          </a:xfrm>
          <a:prstGeom prst="roundRect">
            <a:avLst>
              <a:gd name="adj" fmla="val 16667"/>
            </a:avLst>
          </a:prstGeom>
          <a:solidFill>
            <a:srgbClr val="4fc3f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MedTrack DV – Project Presentation Reference 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IN" sz="16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3799080" y="1325880"/>
            <a:ext cx="4654080" cy="82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7fa"/>
                </a:solidFill>
                <a:latin typeface="Aptos Display"/>
              </a:rPr>
              <a:t>MedTrack DV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1404360" y="2331720"/>
            <a:ext cx="834660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4fc3f7"/>
                </a:solidFill>
                <a:latin typeface="Calibri"/>
              </a:rPr>
              <a:t>Healthcare Operations &amp; Patient Analytics Dashboard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822960" y="3246120"/>
            <a:ext cx="7040520" cy="150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5f7fa"/>
                </a:solidFill>
                <a:latin typeface="Aptos"/>
              </a:rPr>
              <a:t>Interactive Power BI dashboard for hospital operations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5f7fa"/>
                </a:solidFill>
                <a:latin typeface="Aptos"/>
              </a:rPr>
              <a:t>Patient flow, department performance and resource utilization</a:t>
            </a:r>
            <a:endParaRPr b="0" lang="en-IN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900" spc="-1" strike="noStrike">
                <a:solidFill>
                  <a:srgbClr val="f5f7fa"/>
                </a:solidFill>
                <a:latin typeface="Aptos"/>
              </a:rPr>
              <a:t>Built with Excel, Power Query and DAX</a:t>
            </a:r>
            <a:endParaRPr b="0" lang="en-IN" sz="1900" spc="-1" strike="noStrike"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8412480" y="3657600"/>
            <a:ext cx="2834280" cy="114264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CustomShape 6"/>
          <p:cNvSpPr/>
          <p:nvPr/>
        </p:nvSpPr>
        <p:spPr>
          <a:xfrm>
            <a:off x="8412480" y="3657600"/>
            <a:ext cx="54360" cy="114264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CustomShape 7"/>
          <p:cNvSpPr/>
          <p:nvPr/>
        </p:nvSpPr>
        <p:spPr>
          <a:xfrm>
            <a:off x="9453240" y="3822120"/>
            <a:ext cx="844200" cy="4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f5f7fa"/>
                </a:solidFill>
                <a:latin typeface="Aptos Display"/>
              </a:rPr>
              <a:t>200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48" name="CustomShape 8"/>
          <p:cNvSpPr/>
          <p:nvPr/>
        </p:nvSpPr>
        <p:spPr>
          <a:xfrm>
            <a:off x="9153720" y="4316040"/>
            <a:ext cx="1442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1b9ca"/>
                </a:solidFill>
                <a:latin typeface="Aptos"/>
              </a:rPr>
              <a:t>Total Admissions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" name="CustomShape 9"/>
          <p:cNvSpPr/>
          <p:nvPr/>
        </p:nvSpPr>
        <p:spPr>
          <a:xfrm>
            <a:off x="8412480" y="4937760"/>
            <a:ext cx="2834280" cy="114264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CustomShape 10"/>
          <p:cNvSpPr/>
          <p:nvPr/>
        </p:nvSpPr>
        <p:spPr>
          <a:xfrm>
            <a:off x="8412480" y="4937760"/>
            <a:ext cx="54360" cy="1142640"/>
          </a:xfrm>
          <a:prstGeom prst="rect">
            <a:avLst/>
          </a:prstGeom>
          <a:solidFill>
            <a:srgbClr val="b84de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CustomShape 11"/>
          <p:cNvSpPr/>
          <p:nvPr/>
        </p:nvSpPr>
        <p:spPr>
          <a:xfrm>
            <a:off x="9234720" y="5102280"/>
            <a:ext cx="1281240" cy="4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f5f7fa"/>
                </a:solidFill>
                <a:latin typeface="Aptos Display"/>
              </a:rPr>
              <a:t>27.0%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52" name="CustomShape 12"/>
          <p:cNvSpPr/>
          <p:nvPr/>
        </p:nvSpPr>
        <p:spPr>
          <a:xfrm>
            <a:off x="9104400" y="5596200"/>
            <a:ext cx="1541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1b9ca"/>
                </a:solidFill>
                <a:latin typeface="Aptos"/>
              </a:rPr>
              <a:t>Readmission Rate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" name="CustomShape 13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1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5176080" y="320040"/>
            <a:ext cx="1808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ptos Display"/>
              </a:rPr>
              <a:t>Agenda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929520" y="1438200"/>
            <a:ext cx="843048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b1b9ca"/>
                </a:solidFill>
                <a:latin typeface="Aptos"/>
              </a:rPr>
              <a:t>Problem → solution → proof → next steps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6" name="CustomShape 3"/>
          <p:cNvSpPr/>
          <p:nvPr/>
        </p:nvSpPr>
        <p:spPr>
          <a:xfrm>
            <a:off x="408600" y="2414520"/>
            <a:ext cx="10058040" cy="199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5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2500" spc="-1" strike="noStrike">
                <a:solidFill>
                  <a:srgbClr val="f5f7fa"/>
                </a:solidFill>
                <a:latin typeface="Aptos"/>
              </a:rPr>
              <a:t>Problem &amp; objectives</a:t>
            </a:r>
            <a:endParaRPr b="0" lang="en-IN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5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2500" spc="-1" strike="noStrike">
                <a:solidFill>
                  <a:srgbClr val="f5f7fa"/>
                </a:solidFill>
                <a:latin typeface="Aptos"/>
              </a:rPr>
              <a:t>Approach and technology</a:t>
            </a:r>
            <a:endParaRPr b="0" lang="en-IN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5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2500" spc="-1" strike="noStrike">
                <a:solidFill>
                  <a:srgbClr val="f5f7fa"/>
                </a:solidFill>
                <a:latin typeface="Aptos"/>
              </a:rPr>
              <a:t>Dashboard features &amp; key results</a:t>
            </a:r>
            <a:endParaRPr b="0" lang="en-IN" sz="2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5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2500" spc="-1" strike="noStrike">
                <a:solidFill>
                  <a:srgbClr val="f5f7fa"/>
                </a:solidFill>
                <a:latin typeface="Aptos"/>
              </a:rPr>
              <a:t>Challenges, limitations &amp; future scope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57" name="CustomShape 4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2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3896640" y="320040"/>
            <a:ext cx="43675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ptos Display"/>
              </a:rPr>
              <a:t>Problem Statement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59" name="CustomShape 2"/>
          <p:cNvSpPr/>
          <p:nvPr/>
        </p:nvSpPr>
        <p:spPr>
          <a:xfrm>
            <a:off x="2232360" y="914400"/>
            <a:ext cx="756792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1b9ca"/>
                </a:solidFill>
                <a:latin typeface="Aptos"/>
              </a:rPr>
              <a:t>Hospital data existed, but operational insights were difficult to obtain quickly.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0" name="CustomShape 3"/>
          <p:cNvSpPr/>
          <p:nvPr/>
        </p:nvSpPr>
        <p:spPr>
          <a:xfrm>
            <a:off x="640080" y="1417320"/>
            <a:ext cx="5257440" cy="438876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CustomShape 4"/>
          <p:cNvSpPr/>
          <p:nvPr/>
        </p:nvSpPr>
        <p:spPr>
          <a:xfrm>
            <a:off x="1702080" y="1645920"/>
            <a:ext cx="322452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4fc3f7"/>
                </a:solidFill>
                <a:latin typeface="Aptos Display"/>
              </a:rPr>
              <a:t>Before MedTrack DV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62" name="CustomShape 5"/>
          <p:cNvSpPr/>
          <p:nvPr/>
        </p:nvSpPr>
        <p:spPr>
          <a:xfrm>
            <a:off x="1005840" y="2756880"/>
            <a:ext cx="4617360" cy="176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Data spread across operational fields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Manual analysis slows decisions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Difficult to compare departments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Patient-flow patterns are harder to spot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63" name="CustomShape 6"/>
          <p:cNvSpPr/>
          <p:nvPr/>
        </p:nvSpPr>
        <p:spPr>
          <a:xfrm>
            <a:off x="6263640" y="1417320"/>
            <a:ext cx="5257440" cy="438876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CustomShape 7"/>
          <p:cNvSpPr/>
          <p:nvPr/>
        </p:nvSpPr>
        <p:spPr>
          <a:xfrm>
            <a:off x="7878960" y="1645920"/>
            <a:ext cx="211824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b84de6"/>
                </a:solidFill>
                <a:latin typeface="Aptos Display"/>
              </a:rPr>
              <a:t>Project Need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65" name="CustomShape 8"/>
          <p:cNvSpPr/>
          <p:nvPr/>
        </p:nvSpPr>
        <p:spPr>
          <a:xfrm>
            <a:off x="6629400" y="2756880"/>
            <a:ext cx="4617360" cy="1508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Centralized analytical dashboard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Interactive filters and navigation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KPI-driven hospital monitoring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Department and resource insights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66" name="CustomShape 9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3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3485880" y="320040"/>
            <a:ext cx="51890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ptos Display"/>
              </a:rPr>
              <a:t>Objectives &amp; Outcomes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3863160" y="914400"/>
            <a:ext cx="43066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1b9ca"/>
                </a:solidFill>
                <a:latin typeface="Aptos"/>
              </a:rPr>
              <a:t>What MedTrack DV was designed to deliver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9" name="CustomShape 3"/>
          <p:cNvSpPr/>
          <p:nvPr/>
        </p:nvSpPr>
        <p:spPr>
          <a:xfrm>
            <a:off x="640080" y="1417320"/>
            <a:ext cx="5257440" cy="438876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CustomShape 4"/>
          <p:cNvSpPr/>
          <p:nvPr/>
        </p:nvSpPr>
        <p:spPr>
          <a:xfrm>
            <a:off x="2432880" y="1645920"/>
            <a:ext cx="176292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4fc3f7"/>
                </a:solidFill>
                <a:latin typeface="Aptos Display"/>
              </a:rPr>
              <a:t>Objectives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71" name="CustomShape 5"/>
          <p:cNvSpPr/>
          <p:nvPr/>
        </p:nvSpPr>
        <p:spPr>
          <a:xfrm>
            <a:off x="960120" y="2606040"/>
            <a:ext cx="4617360" cy="189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Monitor hospital performance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Analyze patient flow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Compare departments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Track bed/resource utilization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Support data-driven decisions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72" name="CustomShape 6"/>
          <p:cNvSpPr/>
          <p:nvPr/>
        </p:nvSpPr>
        <p:spPr>
          <a:xfrm>
            <a:off x="6263640" y="1417320"/>
            <a:ext cx="5257440" cy="438876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CustomShape 7"/>
          <p:cNvSpPr/>
          <p:nvPr/>
        </p:nvSpPr>
        <p:spPr>
          <a:xfrm>
            <a:off x="8095320" y="1645920"/>
            <a:ext cx="168516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b84de6"/>
                </a:solidFill>
                <a:latin typeface="Aptos Display"/>
              </a:rPr>
              <a:t>Outcomes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74" name="CustomShape 8"/>
          <p:cNvSpPr/>
          <p:nvPr/>
        </p:nvSpPr>
        <p:spPr>
          <a:xfrm>
            <a:off x="6583680" y="2599560"/>
            <a:ext cx="4617360" cy="228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4 integrated dashboards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6 core KPI measures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Interactive slicers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Page navigation + Help/About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Monthly and department trends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endParaRPr b="0" lang="en-IN" sz="1700" spc="-1" strike="noStrike">
              <a:latin typeface="Arial"/>
            </a:endParaRPr>
          </a:p>
        </p:txBody>
      </p:sp>
      <p:sp>
        <p:nvSpPr>
          <p:cNvPr id="75" name="CustomShape 9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4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427200" y="320040"/>
            <a:ext cx="530640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ptos Display"/>
              </a:rPr>
              <a:t>Approach / Architecture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2927520" y="914400"/>
            <a:ext cx="617796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1b9ca"/>
                </a:solidFill>
                <a:latin typeface="Aptos"/>
              </a:rPr>
              <a:t>Data in → cleaning → modeling → analysis → interactive output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640080" y="2103120"/>
            <a:ext cx="1828440" cy="10969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4fc3f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</a:rPr>
              <a:t>SOURCE DATA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b1b9ca"/>
                </a:solidFill>
                <a:latin typeface="Calibri"/>
              </a:rPr>
              <a:t>Healthcare records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9" name="Line 4"/>
          <p:cNvSpPr/>
          <p:nvPr/>
        </p:nvSpPr>
        <p:spPr>
          <a:xfrm>
            <a:off x="2468880" y="2651760"/>
            <a:ext cx="457200" cy="0"/>
          </a:xfrm>
          <a:prstGeom prst="line">
            <a:avLst/>
          </a:prstGeom>
          <a:ln>
            <a:solidFill>
              <a:srgbClr val="4fc3f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0" name="CustomShape 5"/>
          <p:cNvSpPr/>
          <p:nvPr/>
        </p:nvSpPr>
        <p:spPr>
          <a:xfrm>
            <a:off x="2926080" y="2103120"/>
            <a:ext cx="1828440" cy="10969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4fc3f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</a:rPr>
              <a:t>CLEANING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b1b9ca"/>
                </a:solidFill>
                <a:latin typeface="Calibri"/>
              </a:rPr>
              <a:t>Excel / Power Query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Line 6"/>
          <p:cNvSpPr/>
          <p:nvPr/>
        </p:nvSpPr>
        <p:spPr>
          <a:xfrm>
            <a:off x="4754880" y="2651760"/>
            <a:ext cx="457200" cy="0"/>
          </a:xfrm>
          <a:prstGeom prst="line">
            <a:avLst/>
          </a:prstGeom>
          <a:ln>
            <a:solidFill>
              <a:srgbClr val="4fc3f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2" name="CustomShape 7"/>
          <p:cNvSpPr/>
          <p:nvPr/>
        </p:nvSpPr>
        <p:spPr>
          <a:xfrm>
            <a:off x="5212080" y="2103120"/>
            <a:ext cx="1828440" cy="10969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4fc3f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</a:rPr>
              <a:t>MODEL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b1b9ca"/>
                </a:solidFill>
                <a:latin typeface="Calibri"/>
              </a:rPr>
              <a:t>Power BI + DAX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Line 8"/>
          <p:cNvSpPr/>
          <p:nvPr/>
        </p:nvSpPr>
        <p:spPr>
          <a:xfrm>
            <a:off x="7040880" y="2651760"/>
            <a:ext cx="456840" cy="0"/>
          </a:xfrm>
          <a:prstGeom prst="line">
            <a:avLst/>
          </a:prstGeom>
          <a:ln>
            <a:solidFill>
              <a:srgbClr val="4fc3f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4" name="CustomShape 9"/>
          <p:cNvSpPr/>
          <p:nvPr/>
        </p:nvSpPr>
        <p:spPr>
          <a:xfrm>
            <a:off x="7498080" y="2103120"/>
            <a:ext cx="1828440" cy="10969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4fc3f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</a:rPr>
              <a:t>ANALYSIS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b1b9ca"/>
                </a:solidFill>
                <a:latin typeface="Calibri"/>
              </a:rPr>
              <a:t>KPIs + visuals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5" name="Line 10"/>
          <p:cNvSpPr/>
          <p:nvPr/>
        </p:nvSpPr>
        <p:spPr>
          <a:xfrm>
            <a:off x="9326880" y="2651760"/>
            <a:ext cx="457200" cy="0"/>
          </a:xfrm>
          <a:prstGeom prst="line">
            <a:avLst/>
          </a:prstGeom>
          <a:ln>
            <a:solidFill>
              <a:srgbClr val="4fc3f7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" name="CustomShape 11"/>
          <p:cNvSpPr/>
          <p:nvPr/>
        </p:nvSpPr>
        <p:spPr>
          <a:xfrm>
            <a:off x="9784080" y="2103120"/>
            <a:ext cx="1828440" cy="10969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b84de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5f7fa"/>
                </a:solidFill>
                <a:latin typeface="Calibri"/>
              </a:rPr>
              <a:t>OUTPUT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000" spc="-1" strike="noStrike">
                <a:solidFill>
                  <a:srgbClr val="b1b9ca"/>
                </a:solidFill>
                <a:latin typeface="Calibri"/>
              </a:rPr>
              <a:t>4 dashboards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7" name="CustomShape 12"/>
          <p:cNvSpPr/>
          <p:nvPr/>
        </p:nvSpPr>
        <p:spPr>
          <a:xfrm>
            <a:off x="822960" y="4023360"/>
            <a:ext cx="10423800" cy="76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f5f7fa"/>
                </a:solidFill>
                <a:latin typeface="Aptos"/>
              </a:rPr>
              <a:t>Core DAX measures drive reusable KPI cards and department comparisons.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f5f7fa"/>
                </a:solidFill>
                <a:latin typeface="Aptos"/>
              </a:rPr>
              <a:t>Slicers support department, doctor, gender and date-range exploration.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" name="CustomShape 13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3939480" y="320040"/>
            <a:ext cx="428220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ptos Display"/>
              </a:rPr>
              <a:t>Tools &amp; Technology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3913560" y="914400"/>
            <a:ext cx="42058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1b9ca"/>
                </a:solidFill>
                <a:latin typeface="Aptos"/>
              </a:rPr>
              <a:t>A focused stack for the analytics workflow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1" name="CustomShape 3"/>
          <p:cNvSpPr/>
          <p:nvPr/>
        </p:nvSpPr>
        <p:spPr>
          <a:xfrm>
            <a:off x="685800" y="1828800"/>
            <a:ext cx="2377080" cy="20113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CustomShape 4"/>
          <p:cNvSpPr/>
          <p:nvPr/>
        </p:nvSpPr>
        <p:spPr>
          <a:xfrm>
            <a:off x="1334160" y="2240280"/>
            <a:ext cx="108036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4fc3f7"/>
                </a:solidFill>
                <a:latin typeface="Calibri"/>
              </a:rPr>
              <a:t>Excel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3" name="CustomShape 5"/>
          <p:cNvSpPr/>
          <p:nvPr/>
        </p:nvSpPr>
        <p:spPr>
          <a:xfrm>
            <a:off x="1021680" y="2880360"/>
            <a:ext cx="17049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b1b9ca"/>
                </a:solidFill>
                <a:latin typeface="Calibri"/>
              </a:rPr>
              <a:t>Data preparation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4" name="CustomShape 6"/>
          <p:cNvSpPr/>
          <p:nvPr/>
        </p:nvSpPr>
        <p:spPr>
          <a:xfrm>
            <a:off x="3474720" y="1828800"/>
            <a:ext cx="2377080" cy="20113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CustomShape 7"/>
          <p:cNvSpPr/>
          <p:nvPr/>
        </p:nvSpPr>
        <p:spPr>
          <a:xfrm>
            <a:off x="3467880" y="2240280"/>
            <a:ext cx="239112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b84de6"/>
                </a:solidFill>
                <a:latin typeface="Calibri"/>
              </a:rPr>
              <a:t>Power Query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6" name="CustomShape 8"/>
          <p:cNvSpPr/>
          <p:nvPr/>
        </p:nvSpPr>
        <p:spPr>
          <a:xfrm>
            <a:off x="3902760" y="2880360"/>
            <a:ext cx="152064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b1b9ca"/>
                </a:solidFill>
                <a:latin typeface="Calibri"/>
              </a:rPr>
              <a:t>Transformation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7" name="CustomShape 9"/>
          <p:cNvSpPr/>
          <p:nvPr/>
        </p:nvSpPr>
        <p:spPr>
          <a:xfrm>
            <a:off x="6263640" y="1828800"/>
            <a:ext cx="2377080" cy="20113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CustomShape 10"/>
          <p:cNvSpPr/>
          <p:nvPr/>
        </p:nvSpPr>
        <p:spPr>
          <a:xfrm>
            <a:off x="6599520" y="2240280"/>
            <a:ext cx="170496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4ade80"/>
                </a:solidFill>
                <a:latin typeface="Calibri"/>
              </a:rPr>
              <a:t>Power BI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9" name="CustomShape 11"/>
          <p:cNvSpPr/>
          <p:nvPr/>
        </p:nvSpPr>
        <p:spPr>
          <a:xfrm>
            <a:off x="6739920" y="2880360"/>
            <a:ext cx="14245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b1b9ca"/>
                </a:solidFill>
                <a:latin typeface="Calibri"/>
              </a:rPr>
              <a:t>Dashboarding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0" name="CustomShape 12"/>
          <p:cNvSpPr/>
          <p:nvPr/>
        </p:nvSpPr>
        <p:spPr>
          <a:xfrm>
            <a:off x="9052560" y="1828800"/>
            <a:ext cx="2377080" cy="20113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CustomShape 13"/>
          <p:cNvSpPr/>
          <p:nvPr/>
        </p:nvSpPr>
        <p:spPr>
          <a:xfrm>
            <a:off x="9788400" y="2240280"/>
            <a:ext cx="9050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fbbf24"/>
                </a:solidFill>
                <a:latin typeface="Calibri"/>
              </a:rPr>
              <a:t>DAX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2" name="CustomShape 14"/>
          <p:cNvSpPr/>
          <p:nvPr/>
        </p:nvSpPr>
        <p:spPr>
          <a:xfrm>
            <a:off x="9412920" y="2880360"/>
            <a:ext cx="16563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b1b9ca"/>
                </a:solidFill>
                <a:latin typeface="Calibri"/>
              </a:rPr>
              <a:t>Measures &amp; KPIs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3" name="CustomShape 15"/>
          <p:cNvSpPr/>
          <p:nvPr/>
        </p:nvSpPr>
        <p:spPr>
          <a:xfrm>
            <a:off x="914400" y="4434840"/>
            <a:ext cx="10058040" cy="156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f5f7fa"/>
                </a:solidFill>
                <a:latin typeface="Aptos"/>
              </a:rPr>
              <a:t>The current implementation does not depend on SQL.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800" spc="-1" strike="noStrike">
                <a:solidFill>
                  <a:srgbClr val="f5f7fa"/>
                </a:solidFill>
                <a:latin typeface="Aptos"/>
              </a:rPr>
              <a:t>Power BI provides interactive navigation, filters and visual analytics.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IN" sz="18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1" lang="en-US" sz="1800" spc="-1" strike="noStrike">
                <a:solidFill>
                  <a:srgbClr val="f5f7fa"/>
                </a:solidFill>
                <a:latin typeface="Aptos"/>
              </a:rPr>
              <a:t>Pandas &amp; NumPy — Used to verify data cleaning.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104" name="CustomShape 16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6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2256840" y="320040"/>
            <a:ext cx="76471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ptos Display"/>
              </a:rPr>
              <a:t>Key Results &amp; Dashboard Features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3751200" y="914400"/>
            <a:ext cx="453060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1b9ca"/>
                </a:solidFill>
                <a:latin typeface="Aptos"/>
              </a:rPr>
              <a:t>Strongest evidence that the dashboard works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7" name="CustomShape 3"/>
          <p:cNvSpPr/>
          <p:nvPr/>
        </p:nvSpPr>
        <p:spPr>
          <a:xfrm>
            <a:off x="640080" y="1325880"/>
            <a:ext cx="2057040" cy="114264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CustomShape 4"/>
          <p:cNvSpPr/>
          <p:nvPr/>
        </p:nvSpPr>
        <p:spPr>
          <a:xfrm>
            <a:off x="640080" y="1325880"/>
            <a:ext cx="54360" cy="114264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CustomShape 5"/>
          <p:cNvSpPr/>
          <p:nvPr/>
        </p:nvSpPr>
        <p:spPr>
          <a:xfrm>
            <a:off x="1292040" y="1490400"/>
            <a:ext cx="844200" cy="4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f5f7fa"/>
                </a:solidFill>
                <a:latin typeface="Aptos Display"/>
              </a:rPr>
              <a:t>200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10" name="CustomShape 6"/>
          <p:cNvSpPr/>
          <p:nvPr/>
        </p:nvSpPr>
        <p:spPr>
          <a:xfrm>
            <a:off x="992880" y="1984320"/>
            <a:ext cx="1442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1b9ca"/>
                </a:solidFill>
                <a:latin typeface="Aptos"/>
              </a:rPr>
              <a:t>Total Admissions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1" name="CustomShape 7"/>
          <p:cNvSpPr/>
          <p:nvPr/>
        </p:nvSpPr>
        <p:spPr>
          <a:xfrm>
            <a:off x="2834640" y="1325880"/>
            <a:ext cx="2057040" cy="114264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CustomShape 8"/>
          <p:cNvSpPr/>
          <p:nvPr/>
        </p:nvSpPr>
        <p:spPr>
          <a:xfrm>
            <a:off x="2834640" y="1325880"/>
            <a:ext cx="54360" cy="1142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CustomShape 9"/>
          <p:cNvSpPr/>
          <p:nvPr/>
        </p:nvSpPr>
        <p:spPr>
          <a:xfrm>
            <a:off x="3378600" y="1490400"/>
            <a:ext cx="1060560" cy="4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f5f7fa"/>
                </a:solidFill>
                <a:latin typeface="Aptos Display"/>
              </a:rPr>
              <a:t>9.5%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14" name="CustomShape 10"/>
          <p:cNvSpPr/>
          <p:nvPr/>
        </p:nvSpPr>
        <p:spPr>
          <a:xfrm>
            <a:off x="3197880" y="1984320"/>
            <a:ext cx="14216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1b9ca"/>
                </a:solidFill>
                <a:latin typeface="Aptos"/>
              </a:rPr>
              <a:t>Occupancy Rate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" name="CustomShape 11"/>
          <p:cNvSpPr/>
          <p:nvPr/>
        </p:nvSpPr>
        <p:spPr>
          <a:xfrm>
            <a:off x="5029200" y="1325880"/>
            <a:ext cx="2057040" cy="114264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CustomShape 12"/>
          <p:cNvSpPr/>
          <p:nvPr/>
        </p:nvSpPr>
        <p:spPr>
          <a:xfrm>
            <a:off x="5029200" y="1325880"/>
            <a:ext cx="54360" cy="1142640"/>
          </a:xfrm>
          <a:prstGeom prst="rect">
            <a:avLst/>
          </a:prstGeom>
          <a:solidFill>
            <a:srgbClr val="b84de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CustomShape 13"/>
          <p:cNvSpPr/>
          <p:nvPr/>
        </p:nvSpPr>
        <p:spPr>
          <a:xfrm>
            <a:off x="5462640" y="1490400"/>
            <a:ext cx="1281240" cy="4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f5f7fa"/>
                </a:solidFill>
                <a:latin typeface="Aptos Display"/>
              </a:rPr>
              <a:t>27.0%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18" name="CustomShape 14"/>
          <p:cNvSpPr/>
          <p:nvPr/>
        </p:nvSpPr>
        <p:spPr>
          <a:xfrm>
            <a:off x="5332320" y="1984320"/>
            <a:ext cx="1541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1b9ca"/>
                </a:solidFill>
                <a:latin typeface="Aptos"/>
              </a:rPr>
              <a:t>Readmission Rate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9" name="CustomShape 15"/>
          <p:cNvSpPr/>
          <p:nvPr/>
        </p:nvSpPr>
        <p:spPr>
          <a:xfrm>
            <a:off x="7223760" y="1325880"/>
            <a:ext cx="2057040" cy="114264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CustomShape 16"/>
          <p:cNvSpPr/>
          <p:nvPr/>
        </p:nvSpPr>
        <p:spPr>
          <a:xfrm>
            <a:off x="7223760" y="1325880"/>
            <a:ext cx="54360" cy="1142640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CustomShape 17"/>
          <p:cNvSpPr/>
          <p:nvPr/>
        </p:nvSpPr>
        <p:spPr>
          <a:xfrm>
            <a:off x="7926120" y="1490400"/>
            <a:ext cx="743400" cy="4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f5f7fa"/>
                </a:solidFill>
                <a:latin typeface="Aptos Display"/>
              </a:rPr>
              <a:t>7.7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22" name="CustomShape 18"/>
          <p:cNvSpPr/>
          <p:nvPr/>
        </p:nvSpPr>
        <p:spPr>
          <a:xfrm>
            <a:off x="7488720" y="1984320"/>
            <a:ext cx="16182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1b9ca"/>
                </a:solidFill>
                <a:latin typeface="Aptos"/>
              </a:rPr>
              <a:t>Avg Length of Stay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CustomShape 19"/>
          <p:cNvSpPr/>
          <p:nvPr/>
        </p:nvSpPr>
        <p:spPr>
          <a:xfrm>
            <a:off x="9418320" y="1325880"/>
            <a:ext cx="2057040" cy="114264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CustomShape 20"/>
          <p:cNvSpPr/>
          <p:nvPr/>
        </p:nvSpPr>
        <p:spPr>
          <a:xfrm>
            <a:off x="9418320" y="1325880"/>
            <a:ext cx="54360" cy="1142640"/>
          </a:xfrm>
          <a:prstGeom prst="rect">
            <a:avLst/>
          </a:prstGeom>
          <a:solidFill>
            <a:srgbClr val="4fc3f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CustomShape 21"/>
          <p:cNvSpPr/>
          <p:nvPr/>
        </p:nvSpPr>
        <p:spPr>
          <a:xfrm>
            <a:off x="9741960" y="1490400"/>
            <a:ext cx="1500840" cy="4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f5f7fa"/>
                </a:solidFill>
                <a:latin typeface="Aptos Display"/>
              </a:rPr>
              <a:t>$21.6M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26" name="CustomShape 22"/>
          <p:cNvSpPr/>
          <p:nvPr/>
        </p:nvSpPr>
        <p:spPr>
          <a:xfrm>
            <a:off x="9867600" y="1984320"/>
            <a:ext cx="124956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1b9ca"/>
                </a:solidFill>
                <a:latin typeface="Aptos"/>
              </a:rPr>
              <a:t>Total Revenue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7" name="CustomShape 23"/>
          <p:cNvSpPr/>
          <p:nvPr/>
        </p:nvSpPr>
        <p:spPr>
          <a:xfrm>
            <a:off x="640080" y="2743200"/>
            <a:ext cx="5257440" cy="310860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CustomShape 24"/>
          <p:cNvSpPr/>
          <p:nvPr/>
        </p:nvSpPr>
        <p:spPr>
          <a:xfrm>
            <a:off x="1197720" y="2971800"/>
            <a:ext cx="423324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4fc3f7"/>
                </a:solidFill>
                <a:latin typeface="Aptos Display"/>
              </a:rPr>
              <a:t>Hospital &amp; Patient Insights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29" name="CustomShape 25"/>
          <p:cNvSpPr/>
          <p:nvPr/>
        </p:nvSpPr>
        <p:spPr>
          <a:xfrm>
            <a:off x="960120" y="3611880"/>
            <a:ext cx="4617360" cy="1508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Monthly admission trends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Discharge and patient-flow monitoring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Average stay analysis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Treatment and demographic views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30" name="CustomShape 26"/>
          <p:cNvSpPr/>
          <p:nvPr/>
        </p:nvSpPr>
        <p:spPr>
          <a:xfrm>
            <a:off x="6263640" y="2743200"/>
            <a:ext cx="5257440" cy="310860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CustomShape 27"/>
          <p:cNvSpPr/>
          <p:nvPr/>
        </p:nvSpPr>
        <p:spPr>
          <a:xfrm>
            <a:off x="6389280" y="2971800"/>
            <a:ext cx="509760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b84de6"/>
                </a:solidFill>
                <a:latin typeface="Aptos Display"/>
              </a:rPr>
              <a:t>Department &amp; Resource Insights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32" name="CustomShape 28"/>
          <p:cNvSpPr/>
          <p:nvPr/>
        </p:nvSpPr>
        <p:spPr>
          <a:xfrm>
            <a:off x="6583680" y="3611880"/>
            <a:ext cx="4617360" cy="1508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Department volume and readmission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Efficiency comparison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Bed utilization and availability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Department-level bed status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33" name="CustomShape 29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7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360000" y="320040"/>
            <a:ext cx="739728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3000" spc="-1" strike="noStrike">
                <a:solidFill>
                  <a:srgbClr val="eeece1"/>
                </a:solidFill>
                <a:latin typeface="Calibri"/>
              </a:rPr>
              <a:t>Healthcare</a:t>
            </a:r>
            <a:r>
              <a:rPr b="1" lang="en-IN" sz="3200" spc="-1" strike="noStrike">
                <a:solidFill>
                  <a:srgbClr val="eeece1"/>
                </a:solidFill>
                <a:latin typeface="Calibri"/>
              </a:rPr>
              <a:t> Analytics Dashboard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36" name="Picture 11" descr=""/>
          <p:cNvPicPr/>
          <p:nvPr/>
        </p:nvPicPr>
        <p:blipFill>
          <a:blip r:embed="rId1"/>
          <a:stretch/>
        </p:blipFill>
        <p:spPr>
          <a:xfrm>
            <a:off x="2566440" y="1028520"/>
            <a:ext cx="8802000" cy="5058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/>
          <p:cNvSpPr/>
          <p:nvPr/>
        </p:nvSpPr>
        <p:spPr>
          <a:xfrm>
            <a:off x="447120" y="288000"/>
            <a:ext cx="5816880" cy="57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eeece1"/>
                </a:solidFill>
                <a:latin typeface="Calibri"/>
              </a:rPr>
              <a:t> </a:t>
            </a:r>
            <a:r>
              <a:rPr b="1" lang="en-IN" sz="3200" spc="-1" strike="noStrike">
                <a:solidFill>
                  <a:srgbClr val="eeece1"/>
                </a:solidFill>
                <a:latin typeface="Calibri"/>
              </a:rPr>
              <a:t>Patient Flow Dashboard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38" name="CustomShape 2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39" name="Picture 3" descr=""/>
          <p:cNvPicPr/>
          <p:nvPr/>
        </p:nvPicPr>
        <p:blipFill>
          <a:blip r:embed="rId1"/>
          <a:stretch/>
        </p:blipFill>
        <p:spPr>
          <a:xfrm>
            <a:off x="2190240" y="966240"/>
            <a:ext cx="9268200" cy="5287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288000" y="216000"/>
            <a:ext cx="7325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3000" spc="-1" strike="noStrike">
                <a:solidFill>
                  <a:srgbClr val="eeece1"/>
                </a:solidFill>
                <a:latin typeface="Calibri"/>
              </a:rPr>
              <a:t>Department Analytics Dashboard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42" name="Picture 3" descr=""/>
          <p:cNvPicPr/>
          <p:nvPr/>
        </p:nvPicPr>
        <p:blipFill>
          <a:blip r:embed="rId1"/>
          <a:stretch/>
        </p:blipFill>
        <p:spPr>
          <a:xfrm>
            <a:off x="2575800" y="904680"/>
            <a:ext cx="9021240" cy="5270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446760" y="316800"/>
            <a:ext cx="6969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IN" sz="3000" spc="-1" strike="noStrike">
                <a:solidFill>
                  <a:srgbClr val="eeece1"/>
                </a:solidFill>
                <a:latin typeface="Calibri"/>
              </a:rPr>
              <a:t>Resource Utilization Dashboard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45" name="Picture 3" descr=""/>
          <p:cNvPicPr/>
          <p:nvPr/>
        </p:nvPicPr>
        <p:blipFill>
          <a:blip r:embed="rId1"/>
          <a:stretch/>
        </p:blipFill>
        <p:spPr>
          <a:xfrm>
            <a:off x="1728000" y="936000"/>
            <a:ext cx="9715320" cy="51181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2105280" y="320040"/>
            <a:ext cx="795060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ptos Display"/>
              </a:rPr>
              <a:t>Challenges, Learnings &amp; Limitations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2731680" y="914400"/>
            <a:ext cx="656964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1b9ca"/>
                </a:solidFill>
                <a:latin typeface="Aptos"/>
              </a:rPr>
              <a:t>What I learned while turning raw records into an analytical product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8" name="CustomShape 3"/>
          <p:cNvSpPr/>
          <p:nvPr/>
        </p:nvSpPr>
        <p:spPr>
          <a:xfrm>
            <a:off x="640080" y="1417320"/>
            <a:ext cx="5257440" cy="438876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CustomShape 4"/>
          <p:cNvSpPr/>
          <p:nvPr/>
        </p:nvSpPr>
        <p:spPr>
          <a:xfrm>
            <a:off x="1446840" y="1645920"/>
            <a:ext cx="373500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4fc3f7"/>
                </a:solidFill>
                <a:latin typeface="Aptos Display"/>
              </a:rPr>
              <a:t>Challenges &amp; Learnings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50" name="CustomShape 5"/>
          <p:cNvSpPr/>
          <p:nvPr/>
        </p:nvSpPr>
        <p:spPr>
          <a:xfrm>
            <a:off x="960120" y="2554560"/>
            <a:ext cx="4617360" cy="215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Cleaning inconsistent raw data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Handling missing values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Building reusable DAX measures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Designing useful, non-redundant visuals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Creating intuitive page navigation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51" name="CustomShape 6"/>
          <p:cNvSpPr/>
          <p:nvPr/>
        </p:nvSpPr>
        <p:spPr>
          <a:xfrm>
            <a:off x="6263640" y="1417320"/>
            <a:ext cx="5257440" cy="438876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CustomShape 7"/>
          <p:cNvSpPr/>
          <p:nvPr/>
        </p:nvSpPr>
        <p:spPr>
          <a:xfrm>
            <a:off x="7382160" y="1645920"/>
            <a:ext cx="311184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b84de6"/>
                </a:solidFill>
                <a:latin typeface="Aptos Display"/>
              </a:rPr>
              <a:t>Current Limitations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53" name="CustomShape 8"/>
          <p:cNvSpPr/>
          <p:nvPr/>
        </p:nvSpPr>
        <p:spPr>
          <a:xfrm>
            <a:off x="6583680" y="2724840"/>
            <a:ext cx="4617360" cy="176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No staff allocation data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No equipment utilization data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Some resource insights are unavailable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1700" spc="-1" strike="noStrike">
                <a:solidFill>
                  <a:srgbClr val="f5f7fa"/>
                </a:solidFill>
                <a:latin typeface="Aptos"/>
              </a:rPr>
              <a:t>Efficiency score is project-defined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54" name="CustomShape 9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8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3105720" y="320040"/>
            <a:ext cx="5949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5f7fa"/>
                </a:solidFill>
                <a:latin typeface="Aptos Display"/>
              </a:rPr>
              <a:t>Conclusion &amp; Future Scope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2243160" y="914400"/>
            <a:ext cx="75466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b1b9ca"/>
                </a:solidFill>
                <a:latin typeface="Aptos"/>
              </a:rPr>
              <a:t>MedTrack DV turns hospital records into an interactive decision-support view.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720000" y="1728000"/>
            <a:ext cx="5486040" cy="315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1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5f7fa"/>
                </a:solidFill>
                <a:latin typeface="Aptos"/>
              </a:rPr>
              <a:t>Centralizes hospital operations and patient analytics</a:t>
            </a:r>
            <a:endParaRPr b="0" lang="en-IN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endParaRPr b="0" lang="en-IN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1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5f7fa"/>
                </a:solidFill>
                <a:latin typeface="Aptos"/>
              </a:rPr>
              <a:t>Makes department and resource patterns easier to compare</a:t>
            </a:r>
            <a:endParaRPr b="0" lang="en-IN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endParaRPr b="0" lang="en-IN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en-US" sz="2100" spc="-1" strike="noStrike">
                <a:solidFill>
                  <a:srgbClr val="f5f7fa"/>
                </a:solidFill>
                <a:latin typeface="Aptos"/>
              </a:rPr>
              <a:t>• </a:t>
            </a:r>
            <a:r>
              <a:rPr b="0" lang="en-US" sz="2100" spc="-1" strike="noStrike">
                <a:solidFill>
                  <a:srgbClr val="f5f7fa"/>
                </a:solidFill>
                <a:latin typeface="Aptos"/>
              </a:rPr>
              <a:t>Provides interactive KPI-driven monitoring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158" name="CustomShape 4"/>
          <p:cNvSpPr/>
          <p:nvPr/>
        </p:nvSpPr>
        <p:spPr>
          <a:xfrm>
            <a:off x="6629400" y="1417320"/>
            <a:ext cx="4663080" cy="10969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CustomShape 5"/>
          <p:cNvSpPr/>
          <p:nvPr/>
        </p:nvSpPr>
        <p:spPr>
          <a:xfrm>
            <a:off x="7993080" y="1581840"/>
            <a:ext cx="1935360" cy="34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4fc3f7"/>
                </a:solidFill>
                <a:latin typeface="Calibri"/>
              </a:rPr>
              <a:t>Staff analytics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60" name="CustomShape 6"/>
          <p:cNvSpPr/>
          <p:nvPr/>
        </p:nvSpPr>
        <p:spPr>
          <a:xfrm>
            <a:off x="7263360" y="1947600"/>
            <a:ext cx="3349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1b9ca"/>
                </a:solidFill>
                <a:latin typeface="Calibri"/>
              </a:rPr>
              <a:t>Add staff allocation and workload data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6629400" y="2834640"/>
            <a:ext cx="4663080" cy="10969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CustomShape 8"/>
          <p:cNvSpPr/>
          <p:nvPr/>
        </p:nvSpPr>
        <p:spPr>
          <a:xfrm>
            <a:off x="7625160" y="2999160"/>
            <a:ext cx="2671200" cy="34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4fc3f7"/>
                </a:solidFill>
                <a:latin typeface="Calibri"/>
              </a:rPr>
              <a:t>Equipment analytics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63" name="CustomShape 9"/>
          <p:cNvSpPr/>
          <p:nvPr/>
        </p:nvSpPr>
        <p:spPr>
          <a:xfrm>
            <a:off x="7234920" y="3364920"/>
            <a:ext cx="340596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1b9ca"/>
                </a:solidFill>
                <a:latin typeface="Calibri"/>
              </a:rPr>
              <a:t>Track equipment availability and usage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4" name="CustomShape 10"/>
          <p:cNvSpPr/>
          <p:nvPr/>
        </p:nvSpPr>
        <p:spPr>
          <a:xfrm>
            <a:off x="6629400" y="4251960"/>
            <a:ext cx="4663080" cy="109692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CustomShape 11"/>
          <p:cNvSpPr/>
          <p:nvPr/>
        </p:nvSpPr>
        <p:spPr>
          <a:xfrm>
            <a:off x="7686000" y="4416480"/>
            <a:ext cx="2549520" cy="34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4fc3f7"/>
                </a:solidFill>
                <a:latin typeface="Calibri"/>
              </a:rPr>
              <a:t>Advanced analytics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66" name="CustomShape 12"/>
          <p:cNvSpPr/>
          <p:nvPr/>
        </p:nvSpPr>
        <p:spPr>
          <a:xfrm>
            <a:off x="7584120" y="4782240"/>
            <a:ext cx="27079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1b9ca"/>
                </a:solidFill>
                <a:latin typeface="Calibri"/>
              </a:rPr>
              <a:t>Forecast demand and capacity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7" name="CustomShape 13"/>
          <p:cNvSpPr/>
          <p:nvPr/>
        </p:nvSpPr>
        <p:spPr>
          <a:xfrm>
            <a:off x="4481280" y="6473880"/>
            <a:ext cx="3198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9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CustomShape 1"/>
          <p:cNvSpPr/>
          <p:nvPr/>
        </p:nvSpPr>
        <p:spPr>
          <a:xfrm>
            <a:off x="3590640" y="3528000"/>
            <a:ext cx="3465360" cy="1142640"/>
          </a:xfrm>
          <a:prstGeom prst="roundRect">
            <a:avLst>
              <a:gd name="adj" fmla="val 16667"/>
            </a:avLst>
          </a:prstGeom>
          <a:solidFill>
            <a:srgbClr val="4fc3f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600" spc="-1" strike="noStrike">
                <a:solidFill>
                  <a:srgbClr val="0c1120"/>
                </a:solidFill>
                <a:latin typeface="Calibri"/>
              </a:rPr>
              <a:t>THANK YOU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9" name="CustomShape 2"/>
          <p:cNvSpPr/>
          <p:nvPr/>
        </p:nvSpPr>
        <p:spPr>
          <a:xfrm>
            <a:off x="3600000" y="1141560"/>
            <a:ext cx="4096080" cy="73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5f7fa"/>
                </a:solidFill>
                <a:latin typeface="Calibri"/>
              </a:rPr>
              <a:t>MedTrack DV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1553760" y="2207880"/>
            <a:ext cx="888624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4fc3f7"/>
                </a:solidFill>
                <a:latin typeface="Calibri"/>
              </a:rPr>
              <a:t>From raw healthcare data to actionable hospital insights.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1" name="CustomShape 4"/>
          <p:cNvSpPr/>
          <p:nvPr/>
        </p:nvSpPr>
        <p:spPr>
          <a:xfrm>
            <a:off x="8458200" y="3337560"/>
            <a:ext cx="2651400" cy="114264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CustomShape 5"/>
          <p:cNvSpPr/>
          <p:nvPr/>
        </p:nvSpPr>
        <p:spPr>
          <a:xfrm>
            <a:off x="8458200" y="3337560"/>
            <a:ext cx="54360" cy="1142640"/>
          </a:xfrm>
          <a:prstGeom prst="rect">
            <a:avLst/>
          </a:prstGeom>
          <a:solidFill>
            <a:srgbClr val="b84de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CustomShape 6"/>
          <p:cNvSpPr/>
          <p:nvPr/>
        </p:nvSpPr>
        <p:spPr>
          <a:xfrm>
            <a:off x="9628560" y="3502080"/>
            <a:ext cx="402120" cy="4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f5f7fa"/>
                </a:solidFill>
                <a:latin typeface="Aptos Display"/>
              </a:rPr>
              <a:t>4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74" name="CustomShape 7"/>
          <p:cNvSpPr/>
          <p:nvPr/>
        </p:nvSpPr>
        <p:spPr>
          <a:xfrm>
            <a:off x="9097560" y="3996000"/>
            <a:ext cx="146412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1b9ca"/>
                </a:solidFill>
                <a:latin typeface="Aptos"/>
              </a:rPr>
              <a:t>Core dashboards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5" name="CustomShape 8"/>
          <p:cNvSpPr/>
          <p:nvPr/>
        </p:nvSpPr>
        <p:spPr>
          <a:xfrm>
            <a:off x="8458200" y="4617720"/>
            <a:ext cx="2651400" cy="1142640"/>
          </a:xfrm>
          <a:prstGeom prst="roundRect">
            <a:avLst>
              <a:gd name="adj" fmla="val 16667"/>
            </a:avLst>
          </a:prstGeom>
          <a:solidFill>
            <a:srgbClr val="181f37"/>
          </a:solidFill>
          <a:ln>
            <a:solidFill>
              <a:srgbClr val="323d5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CustomShape 9"/>
          <p:cNvSpPr/>
          <p:nvPr/>
        </p:nvSpPr>
        <p:spPr>
          <a:xfrm>
            <a:off x="8458200" y="4617720"/>
            <a:ext cx="54360" cy="1142640"/>
          </a:xfrm>
          <a:prstGeom prst="rect">
            <a:avLst/>
          </a:prstGeom>
          <a:solidFill>
            <a:srgbClr val="4ade8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CustomShape 10"/>
          <p:cNvSpPr/>
          <p:nvPr/>
        </p:nvSpPr>
        <p:spPr>
          <a:xfrm>
            <a:off x="9486360" y="4752000"/>
            <a:ext cx="665640" cy="471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f5f7fa"/>
                </a:solidFill>
                <a:latin typeface="Aptos Display"/>
              </a:rPr>
              <a:t>6+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78" name="CustomShape 11"/>
          <p:cNvSpPr/>
          <p:nvPr/>
        </p:nvSpPr>
        <p:spPr>
          <a:xfrm>
            <a:off x="9023400" y="5276160"/>
            <a:ext cx="1612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1b9ca"/>
                </a:solidFill>
                <a:latin typeface="Aptos"/>
              </a:rPr>
              <a:t>Core KPI measures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9" name="CustomShape 12"/>
          <p:cNvSpPr/>
          <p:nvPr/>
        </p:nvSpPr>
        <p:spPr>
          <a:xfrm>
            <a:off x="291960" y="6468480"/>
            <a:ext cx="1170864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b1b9ca"/>
                </a:solidFill>
                <a:latin typeface="Aptos"/>
              </a:rPr>
              <a:t>MedTrack DV  |  Healthcare Analytics Dashboard     10                                                                                                                                                                                                    MOULIKA  RUDRARAJU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</TotalTime>
  <Application>LibreOffice/6.4.7.2$Linux_X86_64 LibreOffice_project/40$Build-2</Application>
  <Words>642</Words>
  <Paragraphs>141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2026-09-02T10:14:29Z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14</vt:i4>
  </property>
</Properties>
</file>