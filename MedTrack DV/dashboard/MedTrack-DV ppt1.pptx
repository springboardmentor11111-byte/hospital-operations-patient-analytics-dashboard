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8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72A"/>
    <a:srgbClr val="64748B"/>
    <a:srgbClr val="334155"/>
    <a:srgbClr val="F8FAFC"/>
    <a:srgbClr val="E0F2FE"/>
    <a:srgbClr val="256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B51DE-1C3A-49AA-A5D9-D465118E308B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5EDDE-449E-4538-9DBD-3AFDD7D92E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128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B51DE-1C3A-49AA-A5D9-D465118E308B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5EDDE-449E-4538-9DBD-3AFDD7D92E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918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B51DE-1C3A-49AA-A5D9-D465118E308B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5EDDE-449E-4538-9DBD-3AFDD7D92E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034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B51DE-1C3A-49AA-A5D9-D465118E308B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5EDDE-449E-4538-9DBD-3AFDD7D92E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470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B51DE-1C3A-49AA-A5D9-D465118E308B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5EDDE-449E-4538-9DBD-3AFDD7D92E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233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B51DE-1C3A-49AA-A5D9-D465118E308B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5EDDE-449E-4538-9DBD-3AFDD7D92E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396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B51DE-1C3A-49AA-A5D9-D465118E308B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5EDDE-449E-4538-9DBD-3AFDD7D92E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538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B51DE-1C3A-49AA-A5D9-D465118E308B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5EDDE-449E-4538-9DBD-3AFDD7D92E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123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B51DE-1C3A-49AA-A5D9-D465118E308B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5EDDE-449E-4538-9DBD-3AFDD7D92E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172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B51DE-1C3A-49AA-A5D9-D465118E308B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5EDDE-449E-4538-9DBD-3AFDD7D92E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53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B51DE-1C3A-49AA-A5D9-D465118E308B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5EDDE-449E-4538-9DBD-3AFDD7D92E47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32535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B51DE-1C3A-49AA-A5D9-D465118E308B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5EDDE-449E-4538-9DBD-3AFDD7D92E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0924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B51DE-1C3A-49AA-A5D9-D465118E308B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5EDDE-449E-4538-9DBD-3AFDD7D92E4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73742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B51DE-1C3A-49AA-A5D9-D465118E308B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5EDDE-449E-4538-9DBD-3AFDD7D92E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226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B51DE-1C3A-49AA-A5D9-D465118E308B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5EDDE-449E-4538-9DBD-3AFDD7D92E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7225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B51DE-1C3A-49AA-A5D9-D465118E308B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5EDDE-449E-4538-9DBD-3AFDD7D92E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2018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BB51DE-1C3A-49AA-A5D9-D465118E308B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8D5EDDE-449E-4538-9DBD-3AFDD7D92E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563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742BA-E718-F4E1-D262-5697201F3C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9150" y="1719583"/>
            <a:ext cx="7766936" cy="1686066"/>
          </a:xfrm>
        </p:spPr>
        <p:txBody>
          <a:bodyPr/>
          <a:lstStyle/>
          <a:p>
            <a:pPr algn="ctr"/>
            <a:r>
              <a:rPr lang="en-US" sz="4000" b="1" dirty="0">
                <a:solidFill>
                  <a:srgbClr val="0F172A"/>
                </a:solidFill>
                <a:latin typeface="Book Antiqua" panose="02040602050305030304" pitchFamily="18" charset="0"/>
                <a:cs typeface="Segoe UI" panose="020B0502040204020203" pitchFamily="34" charset="0"/>
              </a:rPr>
              <a:t>MedTrack-DV</a:t>
            </a:r>
            <a:br>
              <a:rPr lang="en-US" sz="3600" b="1" dirty="0">
                <a:solidFill>
                  <a:srgbClr val="0F172A"/>
                </a:solidFill>
                <a:latin typeface="Book Antiqua" panose="02040602050305030304" pitchFamily="18" charset="0"/>
                <a:cs typeface="Segoe UI" panose="020B0502040204020203" pitchFamily="34" charset="0"/>
              </a:rPr>
            </a:b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Book Antiqua" panose="02040602050305030304" pitchFamily="18" charset="0"/>
                <a:cs typeface="Segoe UI" panose="020B0502040204020203" pitchFamily="34" charset="0"/>
              </a:rPr>
              <a:t>Hospital Operations &amp; Patient Analytics Dashboard</a:t>
            </a:r>
            <a:br>
              <a:rPr lang="en-US" sz="2400" b="1" dirty="0">
                <a:solidFill>
                  <a:srgbClr val="2563EB"/>
                </a:solidFill>
                <a:latin typeface="Book Antiqua" panose="02040602050305030304" pitchFamily="18" charset="0"/>
                <a:cs typeface="Segoe UI" panose="020B0502040204020203" pitchFamily="34" charset="0"/>
              </a:rPr>
            </a:br>
            <a:r>
              <a:rPr lang="en-US" sz="1400" dirty="0">
                <a:solidFill>
                  <a:srgbClr val="64748B"/>
                </a:solidFill>
                <a:latin typeface="Book Antiqua" panose="02040602050305030304" pitchFamily="18" charset="0"/>
                <a:cs typeface="Segoe UI" panose="020B0502040204020203" pitchFamily="34" charset="0"/>
              </a:rPr>
              <a:t>Clinical Business Intelligence &amp; Capacity Planning</a:t>
            </a:r>
            <a:br>
              <a:rPr lang="en-US" sz="2400" dirty="0">
                <a:solidFill>
                  <a:srgbClr val="0F172A"/>
                </a:solidFill>
                <a:latin typeface="Book Antiqua" panose="02040602050305030304" pitchFamily="18" charset="0"/>
                <a:cs typeface="Segoe UI" panose="020B0502040204020203" pitchFamily="34" charset="0"/>
              </a:rPr>
            </a:br>
            <a:endParaRPr lang="en-IN" sz="2400" b="1" dirty="0">
              <a:solidFill>
                <a:srgbClr val="2563EB"/>
              </a:solidFill>
              <a:latin typeface="Book Antiqua" panose="02040602050305030304" pitchFamily="18" charset="0"/>
              <a:cs typeface="Segoe UI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903C23-0339-7BC3-4169-3EAB44D63B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10490365" flipV="1">
            <a:off x="1638619" y="7694636"/>
            <a:ext cx="4988956" cy="213012"/>
          </a:xfrm>
        </p:spPr>
        <p:txBody>
          <a:bodyPr>
            <a:noAutofit/>
          </a:bodyPr>
          <a:lstStyle/>
          <a:p>
            <a:pPr algn="ctr"/>
            <a:endParaRPr lang="en-IN" sz="2000" b="1" dirty="0">
              <a:solidFill>
                <a:srgbClr val="334155"/>
              </a:solidFill>
              <a:latin typeface="Book Antiqua" panose="02040602050305030304" pitchFamily="18" charset="0"/>
              <a:cs typeface="Segoe UI" panose="020B0502040204020203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8E68DA3-CEF3-EBAE-B293-530B0E92E4E9}"/>
              </a:ext>
            </a:extLst>
          </p:cNvPr>
          <p:cNvSpPr/>
          <p:nvPr/>
        </p:nvSpPr>
        <p:spPr>
          <a:xfrm>
            <a:off x="3976556" y="875992"/>
            <a:ext cx="3291840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rgbClr val="0F172A"/>
                </a:solidFill>
                <a:latin typeface="Book Antiqua" panose="02040602050305030304" pitchFamily="18" charset="0"/>
              </a:rPr>
              <a:t>HEALTHCARE BI AND CLINICAL OPERATIONS</a:t>
            </a:r>
            <a:endParaRPr lang="en-US" sz="1000" dirty="0">
              <a:solidFill>
                <a:srgbClr val="0F172A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B00F5FF-C2A7-010B-DBE9-22295CC198B8}"/>
              </a:ext>
            </a:extLst>
          </p:cNvPr>
          <p:cNvSpPr/>
          <p:nvPr/>
        </p:nvSpPr>
        <p:spPr>
          <a:xfrm>
            <a:off x="2193476" y="3929200"/>
            <a:ext cx="6858000" cy="1340492"/>
          </a:xfrm>
          <a:prstGeom prst="roundRect">
            <a:avLst/>
          </a:prstGeom>
          <a:solidFill>
            <a:srgbClr val="F8FAFC"/>
          </a:soli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334155"/>
                </a:solidFill>
                <a:latin typeface="Book Antiqua" panose="02040602050305030304" pitchFamily="18" charset="0"/>
                <a:cs typeface="Segoe UI" panose="020B0502040204020203" pitchFamily="34" charset="0"/>
              </a:rPr>
              <a:t>Infosys Springboard Internship Project</a:t>
            </a:r>
          </a:p>
          <a:p>
            <a:pPr algn="ctr"/>
            <a:r>
              <a:rPr lang="en-US" sz="2000" dirty="0">
                <a:solidFill>
                  <a:srgbClr val="64748B"/>
                </a:solidFill>
                <a:latin typeface="Book Antiqua" panose="02040602050305030304" pitchFamily="18" charset="0"/>
                <a:cs typeface="Segoe UI" panose="020B0502040204020203" pitchFamily="34" charset="0"/>
              </a:rPr>
              <a:t>Presented by: Iqlas Tharannum</a:t>
            </a:r>
          </a:p>
          <a:p>
            <a:pPr algn="ctr"/>
            <a:r>
              <a:rPr lang="en-US" sz="2000" dirty="0">
                <a:solidFill>
                  <a:srgbClr val="334155"/>
                </a:solidFill>
                <a:latin typeface="Book Antiqua" panose="02040602050305030304" pitchFamily="18" charset="0"/>
                <a:cs typeface="Segoe UI" panose="020B0502040204020203" pitchFamily="34" charset="0"/>
              </a:rPr>
              <a:t>Track: Data Visualization &amp; Business Intelligence</a:t>
            </a:r>
            <a:endParaRPr lang="en-IN" sz="2000" dirty="0">
              <a:solidFill>
                <a:srgbClr val="334155"/>
              </a:solidFill>
              <a:latin typeface="Book Antiqua" panose="02040602050305030304" pitchFamily="18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687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29147-BE41-4AC6-3848-38EC2616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426" y="609600"/>
            <a:ext cx="8200576" cy="573157"/>
          </a:xfrm>
        </p:spPr>
        <p:txBody>
          <a:bodyPr>
            <a:noAutofit/>
          </a:bodyPr>
          <a:lstStyle/>
          <a:p>
            <a:r>
              <a:rPr lang="en-IN" b="1" dirty="0">
                <a:solidFill>
                  <a:srgbClr val="0F172A"/>
                </a:solidFill>
                <a:latin typeface="Book Antiqua" panose="02040602050305030304" pitchFamily="18" charset="0"/>
              </a:rPr>
              <a:t>AGENDA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AC83427-DD31-AC9C-C4F8-11A8AB9D3211}"/>
              </a:ext>
            </a:extLst>
          </p:cNvPr>
          <p:cNvSpPr>
            <a:spLocks noChangeAspect="1"/>
          </p:cNvSpPr>
          <p:nvPr/>
        </p:nvSpPr>
        <p:spPr>
          <a:xfrm>
            <a:off x="1003852" y="1620078"/>
            <a:ext cx="7315200" cy="914400"/>
          </a:xfrm>
          <a:prstGeom prst="roundRect">
            <a:avLst>
              <a:gd name="adj" fmla="val 21015"/>
            </a:avLst>
          </a:prstGeom>
          <a:solidFill>
            <a:schemeClr val="bg2"/>
          </a:solidFill>
          <a:ln>
            <a:solidFill>
              <a:srgbClr val="334155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rgbClr val="0F172A"/>
                </a:solidFill>
                <a:latin typeface="Book Antiqua" panose="02040602050305030304" pitchFamily="18" charset="0"/>
              </a:rPr>
              <a:t>01 | Clinical Problem &amp; Project Objectives</a:t>
            </a:r>
          </a:p>
          <a:p>
            <a:pPr algn="ctr"/>
            <a:r>
              <a:rPr lang="en-IN" sz="1400" dirty="0">
                <a:solidFill>
                  <a:schemeClr val="bg1"/>
                </a:solidFill>
                <a:latin typeface="Book Antiqua" panose="02040602050305030304" pitchFamily="18" charset="0"/>
              </a:rPr>
              <a:t>Operational bottlenecks, data silos &amp; project scope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276752B-4C21-163B-C7BA-1687D7A90CE8}"/>
              </a:ext>
            </a:extLst>
          </p:cNvPr>
          <p:cNvSpPr>
            <a:spLocks noChangeAspect="1"/>
          </p:cNvSpPr>
          <p:nvPr/>
        </p:nvSpPr>
        <p:spPr>
          <a:xfrm>
            <a:off x="1003852" y="2798693"/>
            <a:ext cx="7315200" cy="914400"/>
          </a:xfrm>
          <a:prstGeom prst="roundRect">
            <a:avLst>
              <a:gd name="adj" fmla="val 21015"/>
            </a:avLst>
          </a:prstGeom>
          <a:solidFill>
            <a:schemeClr val="bg2"/>
          </a:solidFill>
          <a:ln>
            <a:solidFill>
              <a:srgbClr val="334155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F172A"/>
                </a:solidFill>
                <a:latin typeface="Book Antiqua" panose="02040602050305030304" pitchFamily="18" charset="0"/>
              </a:rPr>
              <a:t>02 | Data Pipeline &amp; KPI Engineering Architecture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Book Antiqua" panose="02040602050305030304" pitchFamily="18" charset="0"/>
              </a:rPr>
              <a:t>Data auditing, cleaning &amp; 6 healthcare operational KPIs</a:t>
            </a:r>
            <a:endParaRPr lang="en-US" sz="1400" b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89F928-6AEA-ACC9-5B00-8ED5854D1A15}"/>
              </a:ext>
            </a:extLst>
          </p:cNvPr>
          <p:cNvSpPr>
            <a:spLocks noChangeAspect="1"/>
          </p:cNvSpPr>
          <p:nvPr/>
        </p:nvSpPr>
        <p:spPr>
          <a:xfrm>
            <a:off x="1003852" y="4059307"/>
            <a:ext cx="7315200" cy="914400"/>
          </a:xfrm>
          <a:prstGeom prst="roundRect">
            <a:avLst>
              <a:gd name="adj" fmla="val 21015"/>
            </a:avLst>
          </a:prstGeom>
          <a:solidFill>
            <a:schemeClr val="bg2"/>
          </a:solidFill>
          <a:ln>
            <a:solidFill>
              <a:srgbClr val="334155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F172A"/>
                </a:solidFill>
                <a:latin typeface="Book Antiqua" panose="02040602050305030304" pitchFamily="18" charset="0"/>
              </a:rPr>
              <a:t>03 | 4-Page Tableau Dashboard Suite &amp; What-If Simulator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Book Antiqua" panose="02040602050305030304" pitchFamily="18" charset="0"/>
              </a:rPr>
              <a:t>Throughput tracking, capacity alerts &amp; surge modeling</a:t>
            </a:r>
            <a:endParaRPr lang="en-IN" sz="1600" b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EBAB2F8-30E6-7BA9-5D14-7AC40ABCB1E4}"/>
              </a:ext>
            </a:extLst>
          </p:cNvPr>
          <p:cNvSpPr>
            <a:spLocks noChangeAspect="1"/>
          </p:cNvSpPr>
          <p:nvPr/>
        </p:nvSpPr>
        <p:spPr>
          <a:xfrm>
            <a:off x="1003852" y="5237922"/>
            <a:ext cx="7315200" cy="914400"/>
          </a:xfrm>
          <a:prstGeom prst="roundRect">
            <a:avLst>
              <a:gd name="adj" fmla="val 21015"/>
            </a:avLst>
          </a:prstGeom>
          <a:solidFill>
            <a:schemeClr val="bg2"/>
          </a:solidFill>
          <a:ln>
            <a:solidFill>
              <a:srgbClr val="334155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F172A"/>
                </a:solidFill>
                <a:latin typeface="Book Antiqua" panose="02040602050305030304" pitchFamily="18" charset="0"/>
              </a:rPr>
              <a:t>04 | Technical Challenges, Key Learnings &amp; Future Scope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Book Antiqua" panose="02040602050305030304" pitchFamily="18" charset="0"/>
              </a:rPr>
              <a:t>Obstacles solved, key takeaways &amp; predictive ML roadmap</a:t>
            </a:r>
          </a:p>
        </p:txBody>
      </p:sp>
    </p:spTree>
    <p:extLst>
      <p:ext uri="{BB962C8B-B14F-4D97-AF65-F5344CB8AC3E}">
        <p14:creationId xmlns:p14="http://schemas.microsoft.com/office/powerpoint/2010/main" val="402437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C8191-FAD5-02D5-615D-30D7CAB70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F172A"/>
                </a:solidFill>
                <a:latin typeface="Book Antiqua" panose="02040602050305030304" pitchFamily="18" charset="0"/>
              </a:rPr>
              <a:t>PROBLEM STATEMENT</a:t>
            </a:r>
          </a:p>
        </p:txBody>
      </p:sp>
      <p:sp>
        <p:nvSpPr>
          <p:cNvPr id="3" name="Rectangle: Diagonal Corners Snipped 2">
            <a:extLst>
              <a:ext uri="{FF2B5EF4-FFF2-40B4-BE49-F238E27FC236}">
                <a16:creationId xmlns:a16="http://schemas.microsoft.com/office/drawing/2014/main" id="{26E3EC59-6B69-0617-E9CC-6A0003B4BE14}"/>
              </a:ext>
            </a:extLst>
          </p:cNvPr>
          <p:cNvSpPr/>
          <p:nvPr/>
        </p:nvSpPr>
        <p:spPr>
          <a:xfrm>
            <a:off x="447262" y="2146852"/>
            <a:ext cx="3916018" cy="1282148"/>
          </a:xfrm>
          <a:prstGeom prst="snip2DiagRect">
            <a:avLst/>
          </a:prstGeom>
          <a:solidFill>
            <a:schemeClr val="bg2"/>
          </a:solidFill>
          <a:ln>
            <a:solidFill>
              <a:srgbClr val="0F172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Book Antiqua" panose="02040602050305030304" pitchFamily="18" charset="0"/>
              </a:rPr>
              <a:t>01 | Data Silos &amp; Fragmentation 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Book Antiqua" panose="02040602050305030304" pitchFamily="18" charset="0"/>
              </a:rPr>
              <a:t>45,000 raw EHR records isolated across systems without unified operational visibility</a:t>
            </a:r>
            <a:endParaRPr lang="en-IN" sz="14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5D8C726E-8380-27A0-34D9-5A54030BE809}"/>
              </a:ext>
            </a:extLst>
          </p:cNvPr>
          <p:cNvSpPr/>
          <p:nvPr/>
        </p:nvSpPr>
        <p:spPr>
          <a:xfrm>
            <a:off x="5161721" y="2146852"/>
            <a:ext cx="3916018" cy="1282148"/>
          </a:xfrm>
          <a:prstGeom prst="snip2DiagRect">
            <a:avLst/>
          </a:prstGeom>
          <a:solidFill>
            <a:schemeClr val="bg2"/>
          </a:solidFill>
          <a:ln>
            <a:solidFill>
              <a:srgbClr val="0F172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Book Antiqua" panose="02040602050305030304" pitchFamily="18" charset="0"/>
              </a:rPr>
              <a:t>02 | Retrospective Reporting Lag 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Book Antiqua" panose="02040602050305030304" pitchFamily="18" charset="0"/>
              </a:rPr>
              <a:t>Static tracking causes delayed bed allocations and clinical workflow bottlenecks</a:t>
            </a:r>
            <a:endParaRPr lang="en-IN" sz="14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8" name="Rectangle: Diagonal Corners Snipped 7">
            <a:extLst>
              <a:ext uri="{FF2B5EF4-FFF2-40B4-BE49-F238E27FC236}">
                <a16:creationId xmlns:a16="http://schemas.microsoft.com/office/drawing/2014/main" id="{365A0F99-EDE2-DB79-AF3A-52245C053793}"/>
              </a:ext>
            </a:extLst>
          </p:cNvPr>
          <p:cNvSpPr/>
          <p:nvPr/>
        </p:nvSpPr>
        <p:spPr>
          <a:xfrm>
            <a:off x="5161721" y="4242575"/>
            <a:ext cx="3916018" cy="1282148"/>
          </a:xfrm>
          <a:prstGeom prst="snip2DiagRect">
            <a:avLst/>
          </a:prstGeom>
          <a:solidFill>
            <a:schemeClr val="bg2"/>
          </a:solidFill>
          <a:ln>
            <a:solidFill>
              <a:srgbClr val="0F172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F172A"/>
                </a:solidFill>
                <a:latin typeface="Book Antiqua" panose="02040602050305030304" pitchFamily="18" charset="0"/>
              </a:rPr>
              <a:t>04 | Lack of Surge Simulation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Book Antiqua" panose="02040602050305030304" pitchFamily="18" charset="0"/>
              </a:rPr>
              <a:t> No real-time modeling tools to anticipate ICU and general bed capacity overflows</a:t>
            </a:r>
            <a:r>
              <a:rPr lang="en-US" sz="1400" dirty="0">
                <a:solidFill>
                  <a:srgbClr val="64748B"/>
                </a:solidFill>
                <a:latin typeface="Book Antiqua" panose="02040602050305030304" pitchFamily="18" charset="0"/>
              </a:rPr>
              <a:t>.</a:t>
            </a:r>
            <a:endParaRPr lang="en-IN" sz="1400" dirty="0">
              <a:solidFill>
                <a:srgbClr val="64748B"/>
              </a:solidFill>
              <a:latin typeface="Book Antiqua" panose="02040602050305030304" pitchFamily="18" charset="0"/>
            </a:endParaRPr>
          </a:p>
        </p:txBody>
      </p:sp>
      <p:sp>
        <p:nvSpPr>
          <p:cNvPr id="9" name="Rectangle: Diagonal Corners Snipped 8">
            <a:extLst>
              <a:ext uri="{FF2B5EF4-FFF2-40B4-BE49-F238E27FC236}">
                <a16:creationId xmlns:a16="http://schemas.microsoft.com/office/drawing/2014/main" id="{6C88E81F-7D55-EDF9-ACFF-E4F43C86C0D6}"/>
              </a:ext>
            </a:extLst>
          </p:cNvPr>
          <p:cNvSpPr/>
          <p:nvPr/>
        </p:nvSpPr>
        <p:spPr>
          <a:xfrm>
            <a:off x="447262" y="4242575"/>
            <a:ext cx="3916018" cy="1282148"/>
          </a:xfrm>
          <a:prstGeom prst="snip2DiagRect">
            <a:avLst/>
          </a:prstGeom>
          <a:solidFill>
            <a:schemeClr val="bg2"/>
          </a:solidFill>
          <a:ln>
            <a:solidFill>
              <a:srgbClr val="0F172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Book Antiqua" panose="02040602050305030304" pitchFamily="18" charset="0"/>
              </a:rPr>
              <a:t>03 | Unmonitored Readmission Risks 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Book Antiqua" panose="02040602050305030304" pitchFamily="18" charset="0"/>
              </a:rPr>
              <a:t>Post-discharge return spikes lack systematic tracking against clinical benchmarks</a:t>
            </a:r>
            <a:endParaRPr lang="en-IN" sz="14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223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77873-2E44-CFD1-64FF-194F6F2E3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02" y="421064"/>
            <a:ext cx="10050370" cy="92102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Book Antiqua" panose="02040602050305030304" pitchFamily="18" charset="0"/>
              </a:rPr>
              <a:t>PROJECT OBJECTIVES &amp; MEASURABLE </a:t>
            </a:r>
            <a:br>
              <a:rPr lang="en-IN" b="1" dirty="0">
                <a:solidFill>
                  <a:schemeClr val="tx1"/>
                </a:solidFill>
                <a:latin typeface="Book Antiqua" panose="02040602050305030304" pitchFamily="18" charset="0"/>
              </a:rPr>
            </a:br>
            <a:r>
              <a:rPr lang="en-IN" b="1" dirty="0">
                <a:solidFill>
                  <a:schemeClr val="tx1"/>
                </a:solidFill>
                <a:latin typeface="Book Antiqua" panose="02040602050305030304" pitchFamily="18" charset="0"/>
              </a:rPr>
              <a:t>IMPACT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D2F3836-BC93-4B19-1699-E7CAC3AB1573}"/>
              </a:ext>
            </a:extLst>
          </p:cNvPr>
          <p:cNvSpPr/>
          <p:nvPr/>
        </p:nvSpPr>
        <p:spPr>
          <a:xfrm>
            <a:off x="829559" y="1885361"/>
            <a:ext cx="3840480" cy="438912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Book Antiqua" panose="02040602050305030304" pitchFamily="18" charset="0"/>
              </a:rPr>
              <a:t>PROJECT OBJECTIVES</a:t>
            </a:r>
          </a:p>
          <a:p>
            <a:endParaRPr lang="en-US" sz="1600" dirty="0">
              <a:solidFill>
                <a:schemeClr val="tx1"/>
              </a:solidFill>
              <a:latin typeface="Book Antiqua" panose="02040602050305030304" pitchFamily="18" charset="0"/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Book Antiqua" panose="02040602050305030304" pitchFamily="18" charset="0"/>
              </a:rPr>
              <a:t>Consolidate Siloed Clinical Data </a:t>
            </a:r>
            <a:r>
              <a:rPr lang="en-US" sz="1400" dirty="0">
                <a:solidFill>
                  <a:schemeClr val="tx1"/>
                </a:solidFill>
                <a:latin typeface="Book Antiqua" panose="02040602050305030304" pitchFamily="18" charset="0"/>
              </a:rPr>
              <a:t>: </a:t>
            </a:r>
            <a:r>
              <a:rPr lang="en-US" sz="1400" dirty="0">
                <a:latin typeface="Book Antiqua" panose="02040602050305030304" pitchFamily="18" charset="0"/>
              </a:rPr>
              <a:t>Unify and clean 45,000+ patient records into an integrated data model for full operational visibility.</a:t>
            </a:r>
          </a:p>
          <a:p>
            <a:endParaRPr lang="en-US" sz="1400" dirty="0">
              <a:latin typeface="Book Antiqua" panose="02040602050305030304" pitchFamily="18" charset="0"/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Book Antiqua" panose="02040602050305030304" pitchFamily="18" charset="0"/>
              </a:rPr>
              <a:t>Eliminate Reporting Lags </a:t>
            </a:r>
            <a:r>
              <a:rPr lang="en-US" sz="1400" dirty="0">
                <a:solidFill>
                  <a:schemeClr val="tx1"/>
                </a:solidFill>
                <a:latin typeface="Book Antiqua" panose="02040602050305030304" pitchFamily="18" charset="0"/>
              </a:rPr>
              <a:t>: </a:t>
            </a:r>
            <a:r>
              <a:rPr lang="en-US" sz="1400" dirty="0">
                <a:latin typeface="Book Antiqua" panose="02040602050305030304" pitchFamily="18" charset="0"/>
              </a:rPr>
              <a:t>Replace static, retrospective tracking with interactive throughput dashboards for daily operational decisions.</a:t>
            </a:r>
          </a:p>
          <a:p>
            <a:endParaRPr lang="en-US" sz="1400" dirty="0">
              <a:latin typeface="Book Antiqua" panose="02040602050305030304" pitchFamily="18" charset="0"/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Book Antiqua" panose="02040602050305030304" pitchFamily="18" charset="0"/>
              </a:rPr>
              <a:t>Benchmark Core Clinical Metrics </a:t>
            </a:r>
            <a:r>
              <a:rPr lang="en-US" sz="1400" dirty="0">
                <a:solidFill>
                  <a:schemeClr val="tx1"/>
                </a:solidFill>
                <a:latin typeface="Book Antiqua" panose="02040602050305030304" pitchFamily="18" charset="0"/>
              </a:rPr>
              <a:t>: </a:t>
            </a:r>
            <a:r>
              <a:rPr lang="en-US" sz="1400" dirty="0">
                <a:latin typeface="Book Antiqua" panose="02040602050305030304" pitchFamily="18" charset="0"/>
              </a:rPr>
              <a:t>Establish dynamic monitoring for 30-day readmissions, ALOS, and departmental bed turnover rates</a:t>
            </a:r>
          </a:p>
          <a:p>
            <a:pPr algn="ctr"/>
            <a:endParaRPr lang="en-IN" sz="1400" dirty="0">
              <a:latin typeface="Book Antiqua" panose="0204060205030503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55F430B-4555-1B72-F9CC-A8CEE5C660EB}"/>
              </a:ext>
            </a:extLst>
          </p:cNvPr>
          <p:cNvSpPr/>
          <p:nvPr/>
        </p:nvSpPr>
        <p:spPr>
          <a:xfrm>
            <a:off x="5176887" y="1885361"/>
            <a:ext cx="3840480" cy="438912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Book Antiqua" panose="02040602050305030304" pitchFamily="18" charset="0"/>
              </a:rPr>
              <a:t>TARGET OUTCOMES &amp; IMPACT</a:t>
            </a:r>
          </a:p>
          <a:p>
            <a:endParaRPr lang="en-US" sz="1600" dirty="0">
              <a:solidFill>
                <a:schemeClr val="tx1"/>
              </a:solidFill>
              <a:latin typeface="Book Antiqua" panose="02040602050305030304" pitchFamily="18" charset="0"/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Book Antiqua" panose="02040602050305030304" pitchFamily="18" charset="0"/>
              </a:rPr>
              <a:t>Proactive Capacity Allocation </a:t>
            </a:r>
            <a:r>
              <a:rPr lang="en-US" sz="1400" dirty="0">
                <a:solidFill>
                  <a:schemeClr val="tx1"/>
                </a:solidFill>
                <a:latin typeface="Book Antiqua" panose="02040602050305030304" pitchFamily="18" charset="0"/>
              </a:rPr>
              <a:t>: </a:t>
            </a:r>
            <a:r>
              <a:rPr lang="en-US" sz="1400" dirty="0">
                <a:latin typeface="Book Antiqua" panose="02040602050305030304" pitchFamily="18" charset="0"/>
              </a:rPr>
              <a:t>Provide floor supervisors with occupancy alerts to prevent bottlenecks across acute care wards.</a:t>
            </a:r>
          </a:p>
          <a:p>
            <a:endParaRPr lang="en-US" sz="1400" dirty="0">
              <a:latin typeface="Book Antiqua" panose="02040602050305030304" pitchFamily="18" charset="0"/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Book Antiqua" panose="02040602050305030304" pitchFamily="18" charset="0"/>
              </a:rPr>
              <a:t>Readmission Risk Identification </a:t>
            </a:r>
            <a:r>
              <a:rPr lang="en-US" sz="1400" dirty="0">
                <a:solidFill>
                  <a:schemeClr val="tx1"/>
                </a:solidFill>
                <a:latin typeface="Book Antiqua" panose="02040602050305030304" pitchFamily="18" charset="0"/>
              </a:rPr>
              <a:t>: </a:t>
            </a:r>
            <a:r>
              <a:rPr lang="en-US" sz="1400" dirty="0">
                <a:latin typeface="Book Antiqua" panose="02040602050305030304" pitchFamily="18" charset="0"/>
              </a:rPr>
              <a:t>Pinpoint high-risk diagnosis categories and age cohorts driving avoidable patient readmissions.</a:t>
            </a:r>
          </a:p>
          <a:p>
            <a:endParaRPr lang="en-US" sz="1400" dirty="0">
              <a:latin typeface="Book Antiqua" panose="02040602050305030304" pitchFamily="18" charset="0"/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Book Antiqua" panose="02040602050305030304" pitchFamily="18" charset="0"/>
              </a:rPr>
              <a:t>Interactive Surge Modeling </a:t>
            </a:r>
            <a:r>
              <a:rPr lang="en-US" sz="1400" dirty="0">
                <a:solidFill>
                  <a:schemeClr val="tx1"/>
                </a:solidFill>
                <a:latin typeface="Book Antiqua" panose="02040602050305030304" pitchFamily="18" charset="0"/>
              </a:rPr>
              <a:t>: </a:t>
            </a:r>
            <a:r>
              <a:rPr lang="en-US" sz="1400" dirty="0">
                <a:latin typeface="Book Antiqua" panose="02040602050305030304" pitchFamily="18" charset="0"/>
              </a:rPr>
              <a:t>Equip leadership with what-if parametric controls to test and plan for surge scenarios.</a:t>
            </a:r>
          </a:p>
          <a:p>
            <a:pPr algn="ctr"/>
            <a:endParaRPr lang="en-IN" sz="14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965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95C7E-D63F-974B-640B-84032A56A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15885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/>
                </a:solidFill>
                <a:latin typeface="Book Antiqua" panose="02040602050305030304" pitchFamily="18" charset="0"/>
              </a:rPr>
              <a:t>DATA PIPELINE &amp; ARCHITECTURE</a:t>
            </a:r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4E54214-22D2-2F1E-8C8A-53F693A51EE7}"/>
              </a:ext>
            </a:extLst>
          </p:cNvPr>
          <p:cNvSpPr/>
          <p:nvPr/>
        </p:nvSpPr>
        <p:spPr>
          <a:xfrm>
            <a:off x="456650" y="1395167"/>
            <a:ext cx="2011680" cy="3657600"/>
          </a:xfrm>
          <a:prstGeom prst="snip2Diag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Book Antiqua" panose="02040602050305030304" pitchFamily="18" charset="0"/>
              </a:rPr>
              <a:t>01 | Raw Ingestion</a:t>
            </a:r>
          </a:p>
          <a:p>
            <a:pPr algn="ctr"/>
            <a:r>
              <a:rPr lang="en-US" sz="1400" dirty="0">
                <a:latin typeface="Book Antiqua" panose="02040602050305030304" pitchFamily="18" charset="0"/>
              </a:rPr>
              <a:t>  </a:t>
            </a:r>
          </a:p>
          <a:p>
            <a:r>
              <a:rPr lang="en-US" sz="1400" dirty="0">
                <a:latin typeface="Book Antiqua" panose="02040602050305030304" pitchFamily="18" charset="0"/>
              </a:rPr>
              <a:t>  • Source: 45,000+ Electronic Health Records (EHR).</a:t>
            </a:r>
          </a:p>
          <a:p>
            <a:r>
              <a:rPr lang="en-US" sz="1400" dirty="0">
                <a:latin typeface="Book Antiqua" panose="02040602050305030304" pitchFamily="18" charset="0"/>
              </a:rPr>
              <a:t> • Ingestion: Demographics, admission &amp; discharge timestamps, ward IDs, and clinical diagnosis codes.</a:t>
            </a:r>
            <a:endParaRPr lang="en-IN" sz="1400" dirty="0">
              <a:latin typeface="Book Antiqua" panose="02040602050305030304" pitchFamily="18" charset="0"/>
            </a:endParaRPr>
          </a:p>
        </p:txBody>
      </p:sp>
      <p:sp>
        <p:nvSpPr>
          <p:cNvPr id="8" name="Rectangle: Diagonal Corners Snipped 7">
            <a:extLst>
              <a:ext uri="{FF2B5EF4-FFF2-40B4-BE49-F238E27FC236}">
                <a16:creationId xmlns:a16="http://schemas.microsoft.com/office/drawing/2014/main" id="{91653571-5CFC-03B2-1B7A-3802FBC65C81}"/>
              </a:ext>
            </a:extLst>
          </p:cNvPr>
          <p:cNvSpPr/>
          <p:nvPr/>
        </p:nvSpPr>
        <p:spPr>
          <a:xfrm>
            <a:off x="2773405" y="2448784"/>
            <a:ext cx="2011680" cy="3657600"/>
          </a:xfrm>
          <a:prstGeom prst="snip2Diag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Book Antiqua" panose="02040602050305030304" pitchFamily="18" charset="0"/>
              </a:rPr>
              <a:t>02 | Data Cleansing</a:t>
            </a:r>
          </a:p>
          <a:p>
            <a:pPr algn="ctr"/>
            <a:r>
              <a:rPr lang="en-US" sz="1400" dirty="0">
                <a:latin typeface="Book Antiqua" panose="02040602050305030304" pitchFamily="18" charset="0"/>
              </a:rPr>
              <a:t>  </a:t>
            </a:r>
          </a:p>
          <a:p>
            <a:r>
              <a:rPr lang="en-US" sz="1400" dirty="0">
                <a:latin typeface="Book Antiqua" panose="02040602050305030304" pitchFamily="18" charset="0"/>
              </a:rPr>
              <a:t>  • Auditing: Imputed missing timestamps &amp; filtered discharge date anomalies.</a:t>
            </a:r>
          </a:p>
          <a:p>
            <a:r>
              <a:rPr lang="en-US" sz="1400" dirty="0">
                <a:latin typeface="Book Antiqua" panose="02040602050305030304" pitchFamily="18" charset="0"/>
              </a:rPr>
              <a:t>  • Quality: Standardized clinical categories &amp; validated length-of-stay durations.</a:t>
            </a:r>
            <a:endParaRPr lang="en-IN" sz="1400" dirty="0">
              <a:latin typeface="Book Antiqua" panose="02040602050305030304" pitchFamily="18" charset="0"/>
            </a:endParaRPr>
          </a:p>
        </p:txBody>
      </p:sp>
      <p:sp>
        <p:nvSpPr>
          <p:cNvPr id="9" name="Rectangle: Diagonal Corners Snipped 8">
            <a:extLst>
              <a:ext uri="{FF2B5EF4-FFF2-40B4-BE49-F238E27FC236}">
                <a16:creationId xmlns:a16="http://schemas.microsoft.com/office/drawing/2014/main" id="{FC7377AC-B6F5-8B00-1241-C88EB2316BA7}"/>
              </a:ext>
            </a:extLst>
          </p:cNvPr>
          <p:cNvSpPr/>
          <p:nvPr/>
        </p:nvSpPr>
        <p:spPr>
          <a:xfrm>
            <a:off x="5090160" y="1395167"/>
            <a:ext cx="2011680" cy="3657600"/>
          </a:xfrm>
          <a:prstGeom prst="snip2Diag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Book Antiqua" panose="02040602050305030304" pitchFamily="18" charset="0"/>
              </a:rPr>
              <a:t>03 | KPI Logic</a:t>
            </a:r>
          </a:p>
          <a:p>
            <a:pPr algn="ctr"/>
            <a:r>
              <a:rPr lang="en-US" sz="1400" dirty="0">
                <a:latin typeface="Book Antiqua" panose="02040602050305030304" pitchFamily="18" charset="0"/>
              </a:rPr>
              <a:t>  </a:t>
            </a:r>
          </a:p>
          <a:p>
            <a:r>
              <a:rPr lang="en-US" sz="1400" dirty="0">
                <a:latin typeface="Book Antiqua" panose="02040602050305030304" pitchFamily="18" charset="0"/>
              </a:rPr>
              <a:t>  • Calculations: Engineered ALOS, 30-Day Readmission flags, &amp; Ward Occupancy %.</a:t>
            </a:r>
          </a:p>
          <a:p>
            <a:r>
              <a:rPr lang="en-US" sz="1400" dirty="0">
                <a:latin typeface="Book Antiqua" panose="02040602050305030304" pitchFamily="18" charset="0"/>
              </a:rPr>
              <a:t>  • Tableau Logic: Built custom Level of Detail (LOD) and conditional formulas.</a:t>
            </a:r>
            <a:endParaRPr lang="en-IN" sz="1400" dirty="0">
              <a:latin typeface="Book Antiqua" panose="02040602050305030304" pitchFamily="18" charset="0"/>
            </a:endParaRPr>
          </a:p>
        </p:txBody>
      </p:sp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45ACD9AA-0D82-9A01-3399-272DC19B3166}"/>
              </a:ext>
            </a:extLst>
          </p:cNvPr>
          <p:cNvSpPr/>
          <p:nvPr/>
        </p:nvSpPr>
        <p:spPr>
          <a:xfrm>
            <a:off x="7406915" y="2448784"/>
            <a:ext cx="2011680" cy="3657600"/>
          </a:xfrm>
          <a:prstGeom prst="snip2Diag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Book Antiqua" panose="02040602050305030304" pitchFamily="18" charset="0"/>
              </a:rPr>
              <a:t>04 | Semantic Layer</a:t>
            </a:r>
          </a:p>
          <a:p>
            <a:pPr algn="ctr"/>
            <a:r>
              <a:rPr lang="en-US" sz="1400" dirty="0">
                <a:latin typeface="Book Antiqua" panose="02040602050305030304" pitchFamily="18" charset="0"/>
              </a:rPr>
              <a:t>  </a:t>
            </a:r>
          </a:p>
          <a:p>
            <a:r>
              <a:rPr lang="en-US" sz="1400" dirty="0">
                <a:latin typeface="Book Antiqua" panose="02040602050305030304" pitchFamily="18" charset="0"/>
              </a:rPr>
              <a:t>  • Data Engine: Optimized Tableau Data Extracts (.hyper) for low-latency queries.</a:t>
            </a:r>
          </a:p>
          <a:p>
            <a:r>
              <a:rPr lang="en-US" sz="1400" dirty="0">
                <a:latin typeface="Book Antiqua" panose="02040602050305030304" pitchFamily="18" charset="0"/>
              </a:rPr>
              <a:t>  • Output: Clean unified data model powering the 4-page dashboard suite.</a:t>
            </a:r>
            <a:endParaRPr lang="en-IN" sz="14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619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035E1-EA06-44FD-0EEA-38874298E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44165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Book Antiqua" panose="02040602050305030304" pitchFamily="18" charset="0"/>
              </a:rPr>
              <a:t>Tools &amp; Tech Stack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FE10AED-4295-8EC4-F098-861DCC207D40}"/>
              </a:ext>
            </a:extLst>
          </p:cNvPr>
          <p:cNvSpPr/>
          <p:nvPr/>
        </p:nvSpPr>
        <p:spPr>
          <a:xfrm>
            <a:off x="1373723" y="1784022"/>
            <a:ext cx="7266092" cy="307078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Book Antiqua" panose="0204060205030503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1F1CAB2-0C39-25AF-18B5-03656F6FF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7121" y="2438170"/>
            <a:ext cx="703269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ook Antiqua" panose="02040602050305030304" pitchFamily="18" charset="0"/>
              </a:rPr>
              <a:t>ETL &amp; Cleansing: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ook Antiqua" panose="02040602050305030304" pitchFamily="18" charset="0"/>
              </a:rPr>
              <a:t> Python (Pandas) / SQL / Power Query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Book Antiqua" panose="0204060205030503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ook Antiqua" panose="02040602050305030304" pitchFamily="18" charset="0"/>
              </a:rPr>
              <a:t>Data Engine: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ook Antiqua" panose="02040602050305030304" pitchFamily="18" charset="0"/>
              </a:rPr>
              <a:t> Tableau Data Extract (.hyper)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Book Antiqua" panose="0204060205030503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ook Antiqua" panose="02040602050305030304" pitchFamily="18" charset="0"/>
              </a:rPr>
              <a:t>Visualization: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ook Antiqua" panose="02040602050305030304" pitchFamily="18" charset="0"/>
              </a:rPr>
              <a:t> Tableau Desktop (LOD Expressions &amp; Parameters)</a:t>
            </a:r>
          </a:p>
        </p:txBody>
      </p:sp>
    </p:spTree>
    <p:extLst>
      <p:ext uri="{BB962C8B-B14F-4D97-AF65-F5344CB8AC3E}">
        <p14:creationId xmlns:p14="http://schemas.microsoft.com/office/powerpoint/2010/main" val="2704572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9AEBF-CCD3-DD6B-A6B7-1D2C34F29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45" y="262223"/>
            <a:ext cx="10201198" cy="99720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Book Antiqua" panose="02040602050305030304" pitchFamily="18" charset="0"/>
              </a:rPr>
              <a:t>CORE CLINICAL &amp; OPERATIONAL KPIS </a:t>
            </a:r>
            <a:br>
              <a:rPr lang="en-US" sz="3200" b="1" dirty="0">
                <a:solidFill>
                  <a:schemeClr val="tx1"/>
                </a:solidFill>
                <a:latin typeface="Book Antiqua" panose="02040602050305030304" pitchFamily="18" charset="0"/>
              </a:rPr>
            </a:br>
            <a:r>
              <a:rPr lang="en-US" sz="3200" b="1" dirty="0">
                <a:solidFill>
                  <a:schemeClr val="tx1"/>
                </a:solidFill>
                <a:latin typeface="Book Antiqua" panose="02040602050305030304" pitchFamily="18" charset="0"/>
              </a:rPr>
              <a:t>ENGINEERED</a:t>
            </a:r>
            <a:endParaRPr lang="en-IN" sz="3200" b="1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Rectangle: Single Corner Snipped 2">
            <a:extLst>
              <a:ext uri="{FF2B5EF4-FFF2-40B4-BE49-F238E27FC236}">
                <a16:creationId xmlns:a16="http://schemas.microsoft.com/office/drawing/2014/main" id="{6E2FC400-40CC-C95C-BFC8-9B0BE7A6B4B5}"/>
              </a:ext>
            </a:extLst>
          </p:cNvPr>
          <p:cNvSpPr/>
          <p:nvPr/>
        </p:nvSpPr>
        <p:spPr>
          <a:xfrm>
            <a:off x="540469" y="1423447"/>
            <a:ext cx="4023360" cy="1097280"/>
          </a:xfrm>
          <a:prstGeom prst="snip1Rect">
            <a:avLst/>
          </a:prstGeom>
          <a:solidFill>
            <a:schemeClr val="bg2"/>
          </a:solidFill>
          <a:ln>
            <a:solidFill>
              <a:srgbClr val="0F172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Book Antiqua" panose="02040602050305030304" pitchFamily="18" charset="0"/>
              </a:rPr>
              <a:t>01 | Average Length of Stay (ALOS)</a:t>
            </a:r>
            <a:r>
              <a:rPr lang="en-US" sz="1600" dirty="0">
                <a:solidFill>
                  <a:schemeClr val="tx1"/>
                </a:solidFill>
                <a:latin typeface="Book Antiqua" panose="02040602050305030304" pitchFamily="18" charset="0"/>
              </a:rPr>
              <a:t> </a:t>
            </a:r>
            <a:r>
              <a:rPr lang="en-US" sz="1400" dirty="0">
                <a:latin typeface="Book Antiqua" panose="02040602050305030304" pitchFamily="18" charset="0"/>
              </a:rPr>
              <a:t>Tracks patient stay duration across departments to identify bed retention delays.</a:t>
            </a:r>
            <a:endParaRPr lang="en-IN" sz="1400" dirty="0">
              <a:latin typeface="Book Antiqua" panose="02040602050305030304" pitchFamily="18" charset="0"/>
            </a:endParaRPr>
          </a:p>
        </p:txBody>
      </p:sp>
      <p:sp>
        <p:nvSpPr>
          <p:cNvPr id="4" name="Rectangle: Single Corner Snipped 3">
            <a:extLst>
              <a:ext uri="{FF2B5EF4-FFF2-40B4-BE49-F238E27FC236}">
                <a16:creationId xmlns:a16="http://schemas.microsoft.com/office/drawing/2014/main" id="{F955C66D-01AB-2E93-225B-0A3970061A7D}"/>
              </a:ext>
            </a:extLst>
          </p:cNvPr>
          <p:cNvSpPr/>
          <p:nvPr/>
        </p:nvSpPr>
        <p:spPr>
          <a:xfrm>
            <a:off x="540469" y="2915237"/>
            <a:ext cx="4023360" cy="1097280"/>
          </a:xfrm>
          <a:prstGeom prst="snip1Rect">
            <a:avLst/>
          </a:prstGeom>
          <a:solidFill>
            <a:schemeClr val="bg2"/>
          </a:solidFill>
          <a:ln>
            <a:solidFill>
              <a:srgbClr val="0F172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Book Antiqua" panose="02040602050305030304" pitchFamily="18" charset="0"/>
              </a:rPr>
              <a:t>03 | Bed Occupancy Rate (BOR %)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Book Antiqua" panose="02040602050305030304" pitchFamily="18" charset="0"/>
              </a:rPr>
              <a:t> </a:t>
            </a:r>
            <a:r>
              <a:rPr lang="en-US" sz="1400" dirty="0">
                <a:latin typeface="Book Antiqua" panose="02040602050305030304" pitchFamily="18" charset="0"/>
              </a:rPr>
              <a:t>Real-time ward capacity tracking to prevent acute care overflow bottlenecks.</a:t>
            </a:r>
            <a:endParaRPr lang="en-IN" sz="1400" dirty="0">
              <a:latin typeface="Book Antiqua" panose="02040602050305030304" pitchFamily="18" charset="0"/>
            </a:endParaRPr>
          </a:p>
        </p:txBody>
      </p:sp>
      <p:sp>
        <p:nvSpPr>
          <p:cNvPr id="5" name="Rectangle: Single Corner Snipped 4">
            <a:extLst>
              <a:ext uri="{FF2B5EF4-FFF2-40B4-BE49-F238E27FC236}">
                <a16:creationId xmlns:a16="http://schemas.microsoft.com/office/drawing/2014/main" id="{7D63E761-099E-F58D-F3CD-C9C5A6817BAC}"/>
              </a:ext>
            </a:extLst>
          </p:cNvPr>
          <p:cNvSpPr/>
          <p:nvPr/>
        </p:nvSpPr>
        <p:spPr>
          <a:xfrm>
            <a:off x="540469" y="4501296"/>
            <a:ext cx="4023360" cy="1097280"/>
          </a:xfrm>
          <a:prstGeom prst="snip1Rect">
            <a:avLst/>
          </a:prstGeom>
          <a:solidFill>
            <a:schemeClr val="bg2"/>
          </a:solidFill>
          <a:ln>
            <a:solidFill>
              <a:srgbClr val="0F172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Book Antiqua" panose="02040602050305030304" pitchFamily="18" charset="0"/>
              </a:rPr>
              <a:t>05 | Emergency Admission Wait Time</a:t>
            </a:r>
            <a:r>
              <a:rPr lang="en-US" sz="1600" dirty="0">
                <a:solidFill>
                  <a:schemeClr val="tx1"/>
                </a:solidFill>
                <a:latin typeface="Book Antiqua" panose="02040602050305030304" pitchFamily="18" charset="0"/>
              </a:rPr>
              <a:t> </a:t>
            </a:r>
            <a:r>
              <a:rPr lang="en-US" sz="1400" dirty="0">
                <a:latin typeface="Book Antiqua" panose="02040602050305030304" pitchFamily="18" charset="0"/>
              </a:rPr>
              <a:t>Quantifies duration from triage assessment to actual in-ward bed assignment.</a:t>
            </a:r>
            <a:endParaRPr lang="en-IN" sz="1400" dirty="0">
              <a:latin typeface="Book Antiqua" panose="02040602050305030304" pitchFamily="18" charset="0"/>
            </a:endParaRPr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D6DCD871-7AA3-8F5B-C37E-E073BA14E8F1}"/>
              </a:ext>
            </a:extLst>
          </p:cNvPr>
          <p:cNvSpPr/>
          <p:nvPr/>
        </p:nvSpPr>
        <p:spPr>
          <a:xfrm>
            <a:off x="5250642" y="4501296"/>
            <a:ext cx="4023360" cy="1097280"/>
          </a:xfrm>
          <a:prstGeom prst="snip1Rect">
            <a:avLst/>
          </a:prstGeom>
          <a:solidFill>
            <a:schemeClr val="bg2"/>
          </a:solidFill>
          <a:ln>
            <a:solidFill>
              <a:srgbClr val="0F172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Book Antiqua" panose="02040602050305030304" pitchFamily="18" charset="0"/>
              </a:rPr>
              <a:t>06 | Surge Capacity &amp; Stress Index</a:t>
            </a:r>
            <a:r>
              <a:rPr lang="en-US" sz="1600" dirty="0">
                <a:solidFill>
                  <a:schemeClr val="tx1"/>
                </a:solidFill>
                <a:latin typeface="Book Antiqua" panose="02040602050305030304" pitchFamily="18" charset="0"/>
              </a:rPr>
              <a:t> </a:t>
            </a:r>
            <a:r>
              <a:rPr lang="en-US" sz="1400" dirty="0">
                <a:latin typeface="Book Antiqua" panose="02040602050305030304" pitchFamily="18" charset="0"/>
              </a:rPr>
              <a:t>Parametric threshold monitoring to trigger diversion protocols during sudden inflow spikes.</a:t>
            </a:r>
            <a:endParaRPr lang="en-IN" sz="1400" dirty="0">
              <a:latin typeface="Book Antiqua" panose="02040602050305030304" pitchFamily="18" charset="0"/>
            </a:endParaRPr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B6C225B5-B59E-3B55-CB94-FAE9044B0BD9}"/>
              </a:ext>
            </a:extLst>
          </p:cNvPr>
          <p:cNvSpPr/>
          <p:nvPr/>
        </p:nvSpPr>
        <p:spPr>
          <a:xfrm>
            <a:off x="5250642" y="2962371"/>
            <a:ext cx="4023360" cy="1097280"/>
          </a:xfrm>
          <a:prstGeom prst="snip1Rect">
            <a:avLst/>
          </a:prstGeom>
          <a:solidFill>
            <a:schemeClr val="bg2"/>
          </a:solidFill>
          <a:ln>
            <a:solidFill>
              <a:srgbClr val="0F172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Book Antiqua" panose="02040602050305030304" pitchFamily="18" charset="0"/>
              </a:rPr>
              <a:t>04 | Bed Turnover Rate (BTR)</a:t>
            </a:r>
            <a:r>
              <a:rPr lang="en-US" sz="1600" dirty="0">
                <a:solidFill>
                  <a:schemeClr val="tx1"/>
                </a:solidFill>
                <a:latin typeface="Book Antiqua" panose="02040602050305030304" pitchFamily="18" charset="0"/>
              </a:rPr>
              <a:t> </a:t>
            </a:r>
          </a:p>
          <a:p>
            <a:pPr algn="ctr"/>
            <a:r>
              <a:rPr lang="en-US" sz="1400" dirty="0">
                <a:latin typeface="Book Antiqua" panose="02040602050305030304" pitchFamily="18" charset="0"/>
              </a:rPr>
              <a:t>Measures how frequently beds are vacated and sanitized for newly admitted patients.</a:t>
            </a:r>
            <a:endParaRPr lang="en-IN" sz="1400" dirty="0">
              <a:latin typeface="Book Antiqua" panose="02040602050305030304" pitchFamily="18" charset="0"/>
            </a:endParaRPr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106C079B-A000-A611-9ECD-D78DCD627386}"/>
              </a:ext>
            </a:extLst>
          </p:cNvPr>
          <p:cNvSpPr/>
          <p:nvPr/>
        </p:nvSpPr>
        <p:spPr>
          <a:xfrm>
            <a:off x="5250642" y="1423447"/>
            <a:ext cx="4023360" cy="1097280"/>
          </a:xfrm>
          <a:prstGeom prst="snip1Rect">
            <a:avLst/>
          </a:prstGeom>
          <a:solidFill>
            <a:schemeClr val="bg2"/>
          </a:solidFill>
          <a:ln>
            <a:solidFill>
              <a:srgbClr val="0F172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Book Antiqua" panose="02040602050305030304" pitchFamily="18" charset="0"/>
              </a:rPr>
              <a:t>02 | 30-Day Readmission Rate (%)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Book Antiqua" panose="02040602050305030304" pitchFamily="18" charset="0"/>
              </a:rPr>
              <a:t> </a:t>
            </a:r>
            <a:r>
              <a:rPr lang="en-US" sz="1400" dirty="0">
                <a:latin typeface="Book Antiqua" panose="02040602050305030304" pitchFamily="18" charset="0"/>
              </a:rPr>
              <a:t>Flags unplanned returns within 30 days of discharge by diagnosis and demographic cohort.</a:t>
            </a:r>
            <a:endParaRPr lang="en-IN" sz="14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015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783A9-EBD8-09C9-DB23-B583F7FD3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25311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tx1"/>
                </a:solidFill>
                <a:latin typeface="Book Antiqua" panose="02040602050305030304" pitchFamily="18" charset="0"/>
              </a:rPr>
              <a:t>4-PAGE TABLEAU DASHBOARD SUITE</a:t>
            </a:r>
          </a:p>
        </p:txBody>
      </p:sp>
      <p:sp>
        <p:nvSpPr>
          <p:cNvPr id="3" name="Rectangle: Diagonal Corners Snipped 2">
            <a:extLst>
              <a:ext uri="{FF2B5EF4-FFF2-40B4-BE49-F238E27FC236}">
                <a16:creationId xmlns:a16="http://schemas.microsoft.com/office/drawing/2014/main" id="{590C0556-02CA-DE8A-9A39-977555B1403E}"/>
              </a:ext>
            </a:extLst>
          </p:cNvPr>
          <p:cNvSpPr/>
          <p:nvPr/>
        </p:nvSpPr>
        <p:spPr>
          <a:xfrm>
            <a:off x="392524" y="2172798"/>
            <a:ext cx="4212000" cy="1548000"/>
          </a:xfrm>
          <a:prstGeom prst="snip2Diag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Book Antiqua" panose="02040602050305030304" pitchFamily="18" charset="0"/>
              </a:rPr>
              <a:t>01 | Executive Operations Overview </a:t>
            </a:r>
            <a:r>
              <a:rPr lang="en-US" sz="1400" dirty="0">
                <a:latin typeface="Book Antiqua" panose="02040602050305030304" pitchFamily="18" charset="0"/>
              </a:rPr>
              <a:t>High-level KPI scorecard, total active census, and dynamic ward occupancy heatmaps.</a:t>
            </a:r>
            <a:endParaRPr lang="en-IN" sz="1400" dirty="0">
              <a:latin typeface="Book Antiqua" panose="02040602050305030304" pitchFamily="18" charset="0"/>
            </a:endParaRPr>
          </a:p>
        </p:txBody>
      </p:sp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854CE178-9F52-5CE2-46DB-C5D960CDE868}"/>
              </a:ext>
            </a:extLst>
          </p:cNvPr>
          <p:cNvSpPr/>
          <p:nvPr/>
        </p:nvSpPr>
        <p:spPr>
          <a:xfrm>
            <a:off x="392524" y="4126151"/>
            <a:ext cx="4212000" cy="1548000"/>
          </a:xfrm>
          <a:prstGeom prst="snip2Diag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Book Antiqua" panose="02040602050305030304" pitchFamily="18" charset="0"/>
              </a:rPr>
              <a:t>03 | Clinical Risk &amp; Readmission Monitor </a:t>
            </a:r>
          </a:p>
          <a:p>
            <a:pPr algn="ctr"/>
            <a:r>
              <a:rPr lang="en-US" sz="1400" dirty="0">
                <a:latin typeface="Book Antiqua" panose="02040602050305030304" pitchFamily="18" charset="0"/>
              </a:rPr>
              <a:t>30-day readmission rate tracking, high-risk diagnosis categories, and cohort filtering.</a:t>
            </a:r>
            <a:endParaRPr lang="en-IN" sz="1400" dirty="0">
              <a:latin typeface="Book Antiqua" panose="02040602050305030304" pitchFamily="18" charset="0"/>
            </a:endParaRPr>
          </a:p>
        </p:txBody>
      </p:sp>
      <p:sp>
        <p:nvSpPr>
          <p:cNvPr id="5" name="Rectangle: Diagonal Corners Snipped 4">
            <a:extLst>
              <a:ext uri="{FF2B5EF4-FFF2-40B4-BE49-F238E27FC236}">
                <a16:creationId xmlns:a16="http://schemas.microsoft.com/office/drawing/2014/main" id="{E2BAA09C-0E8E-1DC6-3CB4-E1E62E2D5E70}"/>
              </a:ext>
            </a:extLst>
          </p:cNvPr>
          <p:cNvSpPr/>
          <p:nvPr/>
        </p:nvSpPr>
        <p:spPr>
          <a:xfrm>
            <a:off x="5274086" y="4126151"/>
            <a:ext cx="4212000" cy="1548000"/>
          </a:xfrm>
          <a:prstGeom prst="snip2Diag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Book Antiqua" panose="02040602050305030304" pitchFamily="18" charset="0"/>
              </a:rPr>
              <a:t>04 | What-If Surge &amp; Capacity Simulator </a:t>
            </a:r>
            <a:r>
              <a:rPr lang="en-US" sz="1400" dirty="0">
                <a:latin typeface="Book Antiqua" panose="02040602050305030304" pitchFamily="18" charset="0"/>
              </a:rPr>
              <a:t>Parametric scenario sliders to forecast ICU and general bed overflow thresholds.</a:t>
            </a:r>
            <a:endParaRPr lang="en-IN" sz="1400" dirty="0">
              <a:latin typeface="Book Antiqua" panose="02040602050305030304" pitchFamily="18" charset="0"/>
            </a:endParaRPr>
          </a:p>
        </p:txBody>
      </p: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C11BED02-F639-B0E2-8D41-3750290FB332}"/>
              </a:ext>
            </a:extLst>
          </p:cNvPr>
          <p:cNvSpPr/>
          <p:nvPr/>
        </p:nvSpPr>
        <p:spPr>
          <a:xfrm>
            <a:off x="5274086" y="2172798"/>
            <a:ext cx="4212000" cy="1548000"/>
          </a:xfrm>
          <a:prstGeom prst="snip2Diag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Book Antiqua" panose="02040602050305030304" pitchFamily="18" charset="0"/>
              </a:rPr>
              <a:t>02 | Patient Flow &amp; Throughput Tracker </a:t>
            </a:r>
            <a:r>
              <a:rPr lang="en-US" sz="1400" dirty="0">
                <a:latin typeface="Book Antiqua" panose="02040602050305030304" pitchFamily="18" charset="0"/>
              </a:rPr>
              <a:t>Departmental transition times, triage-to-bed wait metrics, and ALOS trend analysis.</a:t>
            </a:r>
            <a:endParaRPr lang="en-IN" sz="14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98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6B9AC-B307-FCDC-92E3-392F473D6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06" y="67273"/>
            <a:ext cx="8596668" cy="64416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Book Antiqua" panose="02040602050305030304" pitchFamily="18" charset="0"/>
              </a:rPr>
              <a:t>SCREENSHOTS</a:t>
            </a:r>
            <a:endParaRPr lang="en-IN" b="1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945AD9-16AE-7126-045B-561473433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161" y="884978"/>
            <a:ext cx="4419300" cy="23669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B51883-E128-0CCD-4269-5F74BD9C8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526" y="884978"/>
            <a:ext cx="4645441" cy="24561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3F9898-6423-1FE2-E1CE-D9B28C95C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65" y="3836710"/>
            <a:ext cx="4526493" cy="26535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081856-F743-D079-5B58-C34F6DA05D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8526" y="3836710"/>
            <a:ext cx="4737209" cy="279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441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44CBD-1A3D-4308-1A27-EE74AAB64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4047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Book Antiqua" panose="02040602050305030304" pitchFamily="18" charset="0"/>
              </a:rPr>
              <a:t>WHAT-IF SURGE SIMULATOR &amp; DECISION LOGIC</a:t>
            </a:r>
            <a:endParaRPr lang="en-IN" sz="3200" b="1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8CF6966-EFC9-62AF-CB66-5D2D29F284A8}"/>
              </a:ext>
            </a:extLst>
          </p:cNvPr>
          <p:cNvSpPr/>
          <p:nvPr/>
        </p:nvSpPr>
        <p:spPr>
          <a:xfrm>
            <a:off x="556181" y="1659118"/>
            <a:ext cx="2743200" cy="3474720"/>
          </a:xfrm>
          <a:prstGeom prst="roundRect">
            <a:avLst/>
          </a:prstGeom>
          <a:solidFill>
            <a:schemeClr val="bg2"/>
          </a:solidFill>
          <a:ln>
            <a:solidFill>
              <a:srgbClr val="0F172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  <a:latin typeface="Book Antiqua" panose="02040602050305030304" pitchFamily="18" charset="0"/>
              </a:rPr>
              <a:t>01 | Parametric Input Controls </a:t>
            </a:r>
          </a:p>
          <a:p>
            <a:r>
              <a:rPr lang="en-IN" sz="1400" dirty="0">
                <a:latin typeface="Book Antiqua" panose="02040602050305030304" pitchFamily="18" charset="0"/>
              </a:rPr>
              <a:t>• </a:t>
            </a:r>
            <a:r>
              <a:rPr lang="en-IN" sz="1400" b="1" dirty="0">
                <a:latin typeface="Book Antiqua" panose="02040602050305030304" pitchFamily="18" charset="0"/>
              </a:rPr>
              <a:t>Surge Multipliers:</a:t>
            </a:r>
            <a:r>
              <a:rPr lang="en-IN" sz="1400" dirty="0">
                <a:latin typeface="Book Antiqua" panose="02040602050305030304" pitchFamily="18" charset="0"/>
              </a:rPr>
              <a:t> Interactive sliders to simulate 10%–50% emergency patient spikes. </a:t>
            </a:r>
          </a:p>
          <a:p>
            <a:r>
              <a:rPr lang="en-IN" sz="1400" dirty="0">
                <a:latin typeface="Book Antiqua" panose="02040602050305030304" pitchFamily="18" charset="0"/>
              </a:rPr>
              <a:t>• </a:t>
            </a:r>
            <a:r>
              <a:rPr lang="en-IN" sz="1400" b="1" dirty="0">
                <a:latin typeface="Book Antiqua" panose="02040602050305030304" pitchFamily="18" charset="0"/>
              </a:rPr>
              <a:t>ALOS Variance:</a:t>
            </a:r>
            <a:r>
              <a:rPr lang="en-IN" sz="1400" dirty="0">
                <a:latin typeface="Book Antiqua" panose="02040602050305030304" pitchFamily="18" charset="0"/>
              </a:rPr>
              <a:t> Dynamic toggles adjusting average stay duration by ward. </a:t>
            </a:r>
          </a:p>
          <a:p>
            <a:r>
              <a:rPr lang="en-IN" sz="1400" dirty="0">
                <a:latin typeface="Book Antiqua" panose="02040602050305030304" pitchFamily="18" charset="0"/>
              </a:rPr>
              <a:t>• </a:t>
            </a:r>
            <a:r>
              <a:rPr lang="en-IN" sz="1400" b="1" dirty="0">
                <a:latin typeface="Book Antiqua" panose="02040602050305030304" pitchFamily="18" charset="0"/>
              </a:rPr>
              <a:t>Baseline Capacity:</a:t>
            </a:r>
            <a:r>
              <a:rPr lang="en-IN" sz="1400" dirty="0">
                <a:latin typeface="Book Antiqua" panose="02040602050305030304" pitchFamily="18" charset="0"/>
              </a:rPr>
              <a:t> User-defined fixed bed ceilings across ICU and acute wards.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90C125B-9E34-C2A0-3F45-3A56B3F98C10}"/>
              </a:ext>
            </a:extLst>
          </p:cNvPr>
          <p:cNvSpPr/>
          <p:nvPr/>
        </p:nvSpPr>
        <p:spPr>
          <a:xfrm>
            <a:off x="3720445" y="2856322"/>
            <a:ext cx="2743200" cy="3474720"/>
          </a:xfrm>
          <a:prstGeom prst="roundRect">
            <a:avLst/>
          </a:prstGeom>
          <a:solidFill>
            <a:schemeClr val="bg2"/>
          </a:solidFill>
          <a:ln>
            <a:solidFill>
              <a:srgbClr val="0F172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  <a:latin typeface="Book Antiqua" panose="02040602050305030304" pitchFamily="18" charset="0"/>
              </a:rPr>
              <a:t>02 | Dynamic Modelling Logic</a:t>
            </a:r>
          </a:p>
          <a:p>
            <a:r>
              <a:rPr lang="en-IN" sz="1400" dirty="0">
                <a:latin typeface="Book Antiqua" panose="02040602050305030304" pitchFamily="18" charset="0"/>
              </a:rPr>
              <a:t> • </a:t>
            </a:r>
            <a:r>
              <a:rPr lang="en-IN" sz="1400" b="1" dirty="0">
                <a:latin typeface="Book Antiqua" panose="02040602050305030304" pitchFamily="18" charset="0"/>
              </a:rPr>
              <a:t>LOD Calculations:</a:t>
            </a:r>
            <a:r>
              <a:rPr lang="en-IN" sz="1400" dirty="0">
                <a:latin typeface="Book Antiqua" panose="02040602050305030304" pitchFamily="18" charset="0"/>
              </a:rPr>
              <a:t> Real-time formulas dynamically aggregating ward-level demand. </a:t>
            </a:r>
          </a:p>
          <a:p>
            <a:r>
              <a:rPr lang="en-IN" sz="1400" dirty="0">
                <a:latin typeface="Book Antiqua" panose="02040602050305030304" pitchFamily="18" charset="0"/>
              </a:rPr>
              <a:t>• </a:t>
            </a:r>
            <a:r>
              <a:rPr lang="en-IN" sz="1400" b="1" dirty="0">
                <a:latin typeface="Book Antiqua" panose="02040602050305030304" pitchFamily="18" charset="0"/>
              </a:rPr>
              <a:t>Stress Indexing:</a:t>
            </a:r>
            <a:r>
              <a:rPr lang="en-IN" sz="1400" dirty="0">
                <a:latin typeface="Book Antiqua" panose="02040602050305030304" pitchFamily="18" charset="0"/>
              </a:rPr>
              <a:t> Automated ratios calculating projected vs. available capacity. </a:t>
            </a:r>
          </a:p>
          <a:p>
            <a:r>
              <a:rPr lang="en-IN" sz="1400" dirty="0">
                <a:latin typeface="Book Antiqua" panose="02040602050305030304" pitchFamily="18" charset="0"/>
              </a:rPr>
              <a:t>• </a:t>
            </a:r>
            <a:r>
              <a:rPr lang="en-IN" sz="1400" b="1" dirty="0">
                <a:latin typeface="Book Antiqua" panose="02040602050305030304" pitchFamily="18" charset="0"/>
              </a:rPr>
              <a:t>Threshold Triggers:</a:t>
            </a:r>
            <a:r>
              <a:rPr lang="en-IN" sz="1400" dirty="0">
                <a:latin typeface="Book Antiqua" panose="02040602050305030304" pitchFamily="18" charset="0"/>
              </a:rPr>
              <a:t> Color-coded KPI alerts when occupancy exceeds 85% safety limits.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385BD5-EFDC-FE13-26C5-535FC452D024}"/>
              </a:ext>
            </a:extLst>
          </p:cNvPr>
          <p:cNvSpPr/>
          <p:nvPr/>
        </p:nvSpPr>
        <p:spPr>
          <a:xfrm>
            <a:off x="6884709" y="1659118"/>
            <a:ext cx="2743200" cy="3474720"/>
          </a:xfrm>
          <a:prstGeom prst="roundRect">
            <a:avLst/>
          </a:prstGeom>
          <a:solidFill>
            <a:schemeClr val="bg2"/>
          </a:solidFill>
          <a:ln>
            <a:solidFill>
              <a:srgbClr val="0F172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Book Antiqua" panose="02040602050305030304" pitchFamily="18" charset="0"/>
              </a:rPr>
              <a:t>03 | Actionable Clinical Outcomes</a:t>
            </a:r>
            <a:r>
              <a:rPr lang="en-US" sz="1600" dirty="0">
                <a:solidFill>
                  <a:schemeClr val="tx1"/>
                </a:solidFill>
                <a:latin typeface="Book Antiqua" panose="02040602050305030304" pitchFamily="18" charset="0"/>
              </a:rPr>
              <a:t> </a:t>
            </a:r>
          </a:p>
          <a:p>
            <a:r>
              <a:rPr lang="en-US" sz="1400" dirty="0">
                <a:latin typeface="Book Antiqua" panose="02040602050305030304" pitchFamily="18" charset="0"/>
              </a:rPr>
              <a:t>• </a:t>
            </a:r>
            <a:r>
              <a:rPr lang="en-US" sz="1400" b="1" dirty="0">
                <a:latin typeface="Book Antiqua" panose="02040602050305030304" pitchFamily="18" charset="0"/>
              </a:rPr>
              <a:t>Diversion Protocols:</a:t>
            </a:r>
            <a:r>
              <a:rPr lang="en-US" sz="1400" dirty="0">
                <a:latin typeface="Book Antiqua" panose="02040602050305030304" pitchFamily="18" charset="0"/>
              </a:rPr>
              <a:t> Early warning flags to redirect non-critical inbound patients. </a:t>
            </a:r>
          </a:p>
          <a:p>
            <a:r>
              <a:rPr lang="en-US" sz="1400" dirty="0">
                <a:latin typeface="Book Antiqua" panose="02040602050305030304" pitchFamily="18" charset="0"/>
              </a:rPr>
              <a:t>• </a:t>
            </a:r>
            <a:r>
              <a:rPr lang="en-US" sz="1400" b="1" dirty="0">
                <a:latin typeface="Book Antiqua" panose="02040602050305030304" pitchFamily="18" charset="0"/>
              </a:rPr>
              <a:t>Staff Reallocation:</a:t>
            </a:r>
            <a:r>
              <a:rPr lang="en-US" sz="1400" dirty="0">
                <a:latin typeface="Book Antiqua" panose="02040602050305030304" pitchFamily="18" charset="0"/>
              </a:rPr>
              <a:t> Data-driven shift scaling ahead of anticipated bottleneck spikes. </a:t>
            </a:r>
          </a:p>
          <a:p>
            <a:r>
              <a:rPr lang="en-US" sz="1400" dirty="0">
                <a:latin typeface="Book Antiqua" panose="02040602050305030304" pitchFamily="18" charset="0"/>
              </a:rPr>
              <a:t>• </a:t>
            </a:r>
            <a:r>
              <a:rPr lang="en-US" sz="1400" b="1" dirty="0">
                <a:latin typeface="Book Antiqua" panose="02040602050305030304" pitchFamily="18" charset="0"/>
              </a:rPr>
              <a:t>Elective Rescheduling:</a:t>
            </a:r>
            <a:r>
              <a:rPr lang="en-US" sz="1400" dirty="0">
                <a:latin typeface="Book Antiqua" panose="02040602050305030304" pitchFamily="18" charset="0"/>
              </a:rPr>
              <a:t> Timely deferral of elective admissions during peak stress periods.</a:t>
            </a:r>
            <a:endParaRPr lang="en-IN" sz="14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735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C737E-8A75-8701-C0B3-74886859B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44165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200" b="1" dirty="0">
                <a:solidFill>
                  <a:schemeClr val="tx1"/>
                </a:solidFill>
                <a:latin typeface="Book Antiqua" panose="02040602050305030304" pitchFamily="18" charset="0"/>
              </a:rPr>
              <a:t>TECHNICAL CHALLENGES &amp; KEY SOLUTIONS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B5B0BDE-B7E8-F910-DA63-50A6AD7AD4F2}"/>
              </a:ext>
            </a:extLst>
          </p:cNvPr>
          <p:cNvSpPr/>
          <p:nvPr/>
        </p:nvSpPr>
        <p:spPr>
          <a:xfrm>
            <a:off x="417694" y="1644505"/>
            <a:ext cx="2743200" cy="3832467"/>
          </a:xfrm>
          <a:prstGeom prst="roundRect">
            <a:avLst/>
          </a:prstGeom>
          <a:solidFill>
            <a:schemeClr val="bg2"/>
          </a:solidFill>
          <a:ln>
            <a:solidFill>
              <a:srgbClr val="0F172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  <a:latin typeface="Book Antiqua" panose="02040602050305030304" pitchFamily="18" charset="0"/>
              </a:rPr>
              <a:t>01 | LOD Calculation Overhead </a:t>
            </a:r>
          </a:p>
          <a:p>
            <a:endParaRPr lang="en-IN" sz="1600" b="1" dirty="0">
              <a:solidFill>
                <a:schemeClr val="tx1"/>
              </a:solidFill>
              <a:latin typeface="Book Antiqua" panose="02040602050305030304" pitchFamily="18" charset="0"/>
            </a:endParaRPr>
          </a:p>
          <a:p>
            <a:r>
              <a:rPr lang="en-IN" sz="1400" dirty="0">
                <a:latin typeface="Book Antiqua" panose="02040602050305030304" pitchFamily="18" charset="0"/>
              </a:rPr>
              <a:t>• </a:t>
            </a:r>
            <a:r>
              <a:rPr lang="en-IN" sz="1400" b="1" dirty="0">
                <a:latin typeface="Book Antiqua" panose="02040602050305030304" pitchFamily="18" charset="0"/>
              </a:rPr>
              <a:t>Challenge:</a:t>
            </a:r>
            <a:r>
              <a:rPr lang="en-IN" sz="1400" dirty="0">
                <a:latin typeface="Book Antiqua" panose="02040602050305030304" pitchFamily="18" charset="0"/>
              </a:rPr>
              <a:t> Complex Level of Detail (LOD) formulas across 45,000+ records caused dashboard latency and slow filter rendering.</a:t>
            </a:r>
          </a:p>
          <a:p>
            <a:endParaRPr lang="en-IN" sz="1400" dirty="0">
              <a:latin typeface="Book Antiqua" panose="02040602050305030304" pitchFamily="18" charset="0"/>
            </a:endParaRPr>
          </a:p>
          <a:p>
            <a:r>
              <a:rPr lang="en-IN" sz="1400" dirty="0">
                <a:latin typeface="Book Antiqua" panose="02040602050305030304" pitchFamily="18" charset="0"/>
              </a:rPr>
              <a:t> • </a:t>
            </a:r>
            <a:r>
              <a:rPr lang="en-IN" sz="1400" b="1" dirty="0">
                <a:latin typeface="Book Antiqua" panose="02040602050305030304" pitchFamily="18" charset="0"/>
              </a:rPr>
              <a:t>Solution:</a:t>
            </a:r>
            <a:r>
              <a:rPr lang="en-IN" sz="1400" dirty="0">
                <a:latin typeface="Book Antiqua" panose="02040602050305030304" pitchFamily="18" charset="0"/>
              </a:rPr>
              <a:t> Pre-aggregated metrics into optimized </a:t>
            </a:r>
            <a:r>
              <a:rPr lang="en-IN" dirty="0">
                <a:latin typeface="Book Antiqua" panose="02040602050305030304" pitchFamily="18" charset="0"/>
              </a:rPr>
              <a:t>.hyper</a:t>
            </a:r>
            <a:r>
              <a:rPr lang="en-IN" sz="1400" dirty="0">
                <a:latin typeface="Book Antiqua" panose="02040602050305030304" pitchFamily="18" charset="0"/>
              </a:rPr>
              <a:t> extracts and restructured FIXED LOD expressions for sub-second query performance.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815A768-E012-BE40-D39E-9C29056E24A0}"/>
              </a:ext>
            </a:extLst>
          </p:cNvPr>
          <p:cNvSpPr/>
          <p:nvPr/>
        </p:nvSpPr>
        <p:spPr>
          <a:xfrm>
            <a:off x="3604068" y="2764253"/>
            <a:ext cx="2743200" cy="3711961"/>
          </a:xfrm>
          <a:prstGeom prst="roundRect">
            <a:avLst/>
          </a:prstGeom>
          <a:solidFill>
            <a:schemeClr val="bg2"/>
          </a:solidFill>
          <a:ln>
            <a:solidFill>
              <a:srgbClr val="0F172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  <a:latin typeface="Book Antiqua" panose="02040602050305030304" pitchFamily="18" charset="0"/>
              </a:rPr>
              <a:t>02 | Timestamp Inconsistencies</a:t>
            </a:r>
          </a:p>
          <a:p>
            <a:endParaRPr lang="en-IN" sz="1600" b="1" dirty="0">
              <a:solidFill>
                <a:schemeClr val="tx1"/>
              </a:solidFill>
              <a:latin typeface="Book Antiqua" panose="02040602050305030304" pitchFamily="18" charset="0"/>
            </a:endParaRPr>
          </a:p>
          <a:p>
            <a:r>
              <a:rPr lang="en-IN" sz="1400" dirty="0">
                <a:latin typeface="Book Antiqua" panose="02040602050305030304" pitchFamily="18" charset="0"/>
              </a:rPr>
              <a:t> • </a:t>
            </a:r>
            <a:r>
              <a:rPr lang="en-IN" sz="1400" b="1" dirty="0">
                <a:latin typeface="Book Antiqua" panose="02040602050305030304" pitchFamily="18" charset="0"/>
              </a:rPr>
              <a:t>Challenge:</a:t>
            </a:r>
            <a:r>
              <a:rPr lang="en-IN" sz="1400" dirty="0">
                <a:latin typeface="Book Antiqua" panose="02040602050305030304" pitchFamily="18" charset="0"/>
              </a:rPr>
              <a:t> Raw EHR records contained irregular triage-to-admission timestamps, negative stay intervals, and missing discharge flags.</a:t>
            </a:r>
          </a:p>
          <a:p>
            <a:endParaRPr lang="en-IN" sz="1400" dirty="0">
              <a:latin typeface="Book Antiqua" panose="02040602050305030304" pitchFamily="18" charset="0"/>
            </a:endParaRPr>
          </a:p>
          <a:p>
            <a:r>
              <a:rPr lang="en-IN" sz="1400" dirty="0">
                <a:latin typeface="Book Antiqua" panose="02040602050305030304" pitchFamily="18" charset="0"/>
              </a:rPr>
              <a:t> • </a:t>
            </a:r>
            <a:r>
              <a:rPr lang="en-IN" sz="1400" b="1" dirty="0">
                <a:latin typeface="Book Antiqua" panose="02040602050305030304" pitchFamily="18" charset="0"/>
              </a:rPr>
              <a:t>Solution:</a:t>
            </a:r>
            <a:r>
              <a:rPr lang="en-IN" sz="1400" dirty="0">
                <a:latin typeface="Book Antiqua" panose="02040602050305030304" pitchFamily="18" charset="0"/>
              </a:rPr>
              <a:t> Engineered automated data-cleansing rules in the ETL pipeline to filter anomalies and standardize duration logic.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BEBBACE-67F9-E3B6-C16C-21C98C9F9E19}"/>
              </a:ext>
            </a:extLst>
          </p:cNvPr>
          <p:cNvSpPr/>
          <p:nvPr/>
        </p:nvSpPr>
        <p:spPr>
          <a:xfrm>
            <a:off x="6790442" y="1597372"/>
            <a:ext cx="2743200" cy="3926734"/>
          </a:xfrm>
          <a:prstGeom prst="roundRect">
            <a:avLst/>
          </a:prstGeom>
          <a:solidFill>
            <a:schemeClr val="bg2"/>
          </a:solidFill>
          <a:ln>
            <a:solidFill>
              <a:srgbClr val="0F172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Book Antiqua" panose="02040602050305030304" pitchFamily="18" charset="0"/>
              </a:rPr>
              <a:t>03 | Multi-Parameter Surge Modeling </a:t>
            </a:r>
          </a:p>
          <a:p>
            <a:endParaRPr lang="en-US" sz="1600" b="1" dirty="0">
              <a:solidFill>
                <a:schemeClr val="tx1"/>
              </a:solidFill>
              <a:latin typeface="Book Antiqua" panose="02040602050305030304" pitchFamily="18" charset="0"/>
            </a:endParaRPr>
          </a:p>
          <a:p>
            <a:r>
              <a:rPr lang="en-US" sz="1400" dirty="0">
                <a:latin typeface="Book Antiqua" panose="02040602050305030304" pitchFamily="18" charset="0"/>
              </a:rPr>
              <a:t>• </a:t>
            </a:r>
            <a:r>
              <a:rPr lang="en-US" sz="1400" b="1" dirty="0">
                <a:latin typeface="Book Antiqua" panose="02040602050305030304" pitchFamily="18" charset="0"/>
              </a:rPr>
              <a:t>Challenge:</a:t>
            </a:r>
            <a:r>
              <a:rPr lang="en-US" sz="1400" dirty="0">
                <a:latin typeface="Book Antiqua" panose="02040602050305030304" pitchFamily="18" charset="0"/>
              </a:rPr>
              <a:t> Synchronizing dynamic bed demand across multiple independent wards without hardcoded capacity constraints. </a:t>
            </a:r>
          </a:p>
          <a:p>
            <a:endParaRPr lang="en-US" sz="1400" dirty="0">
              <a:latin typeface="Book Antiqua" panose="02040602050305030304" pitchFamily="18" charset="0"/>
            </a:endParaRPr>
          </a:p>
          <a:p>
            <a:r>
              <a:rPr lang="en-US" sz="1400" dirty="0">
                <a:latin typeface="Book Antiqua" panose="02040602050305030304" pitchFamily="18" charset="0"/>
              </a:rPr>
              <a:t>• </a:t>
            </a:r>
            <a:r>
              <a:rPr lang="en-US" sz="1400" b="1" dirty="0">
                <a:latin typeface="Book Antiqua" panose="02040602050305030304" pitchFamily="18" charset="0"/>
              </a:rPr>
              <a:t>Solution:</a:t>
            </a:r>
            <a:r>
              <a:rPr lang="en-US" sz="1400" dirty="0">
                <a:latin typeface="Book Antiqua" panose="02040602050305030304" pitchFamily="18" charset="0"/>
              </a:rPr>
              <a:t> Built decoupled parameter controls and dynamic threshold formulas to calculate stress indices across wards in real time.</a:t>
            </a:r>
            <a:endParaRPr lang="en-IN" sz="14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375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DF60E-8D42-FF1A-416B-ED49E189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87604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tx1"/>
                </a:solidFill>
                <a:latin typeface="Book Antiqua" panose="02040602050305030304" pitchFamily="18" charset="0"/>
              </a:rPr>
              <a:t>KEY LEARNINGS &amp; FUTURE ROADMAP</a:t>
            </a:r>
          </a:p>
        </p:txBody>
      </p:sp>
      <p:sp>
        <p:nvSpPr>
          <p:cNvPr id="4" name="Rectangle: Top Corners One Rounded and One Snipped 3">
            <a:extLst>
              <a:ext uri="{FF2B5EF4-FFF2-40B4-BE49-F238E27FC236}">
                <a16:creationId xmlns:a16="http://schemas.microsoft.com/office/drawing/2014/main" id="{977E7AD6-DC5A-0F18-41F7-F1DB15A277BD}"/>
              </a:ext>
            </a:extLst>
          </p:cNvPr>
          <p:cNvSpPr/>
          <p:nvPr/>
        </p:nvSpPr>
        <p:spPr>
          <a:xfrm>
            <a:off x="1461154" y="1319753"/>
            <a:ext cx="3054285" cy="5156461"/>
          </a:xfrm>
          <a:prstGeom prst="snip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Book Antiqua" panose="02040602050305030304" pitchFamily="18" charset="0"/>
              </a:rPr>
              <a:t>KEY TECHNICAL &amp; ANALYTICAL LEARNINGS</a:t>
            </a:r>
          </a:p>
          <a:p>
            <a:endParaRPr lang="en-US" sz="1400" b="1" dirty="0">
              <a:latin typeface="Book Antiqua" panose="02040602050305030304" pitchFamily="18" charset="0"/>
            </a:endParaRPr>
          </a:p>
          <a:p>
            <a:r>
              <a:rPr lang="en-US" sz="1400" dirty="0">
                <a:latin typeface="Book Antiqua" panose="02040602050305030304" pitchFamily="18" charset="0"/>
              </a:rPr>
              <a:t> • </a:t>
            </a:r>
            <a:r>
              <a:rPr lang="en-US" sz="1400" b="1" dirty="0">
                <a:latin typeface="Book Antiqua" panose="02040602050305030304" pitchFamily="18" charset="0"/>
              </a:rPr>
              <a:t>Optimized Data Architectures:</a:t>
            </a:r>
            <a:r>
              <a:rPr lang="en-US" sz="1400" dirty="0">
                <a:latin typeface="Book Antiqua" panose="02040602050305030304" pitchFamily="18" charset="0"/>
              </a:rPr>
              <a:t> Mastered Level of Detail (LOD) tuning and .hyper extraction techniques to handle 45,000+ records with sub-second latency. </a:t>
            </a:r>
          </a:p>
          <a:p>
            <a:r>
              <a:rPr lang="en-US" sz="1400" dirty="0">
                <a:latin typeface="Book Antiqua" panose="02040602050305030304" pitchFamily="18" charset="0"/>
              </a:rPr>
              <a:t>• </a:t>
            </a:r>
            <a:r>
              <a:rPr lang="en-US" sz="1400" b="1" dirty="0">
                <a:latin typeface="Book Antiqua" panose="02040602050305030304" pitchFamily="18" charset="0"/>
              </a:rPr>
              <a:t>Translating Clinical Needs to Analytics:</a:t>
            </a:r>
            <a:r>
              <a:rPr lang="en-US" sz="1400" dirty="0">
                <a:latin typeface="Book Antiqua" panose="02040602050305030304" pitchFamily="18" charset="0"/>
              </a:rPr>
              <a:t> Learned to translate complex hospital operational KPIs (ALOS, 30-day readmissions) into actionable visual interfaces. </a:t>
            </a:r>
          </a:p>
          <a:p>
            <a:r>
              <a:rPr lang="en-US" sz="1400" dirty="0">
                <a:latin typeface="Book Antiqua" panose="02040602050305030304" pitchFamily="18" charset="0"/>
              </a:rPr>
              <a:t>• </a:t>
            </a:r>
            <a:r>
              <a:rPr lang="en-US" sz="1400" b="1" dirty="0">
                <a:latin typeface="Book Antiqua" panose="02040602050305030304" pitchFamily="18" charset="0"/>
              </a:rPr>
              <a:t>Executive Dashboard UX:</a:t>
            </a:r>
            <a:r>
              <a:rPr lang="en-US" sz="1400" dirty="0">
                <a:latin typeface="Book Antiqua" panose="02040602050305030304" pitchFamily="18" charset="0"/>
              </a:rPr>
              <a:t> Applied visual hierarchy and interactive parameter modeling to deliver insights for both floor nurses and hospital leadership.</a:t>
            </a:r>
            <a:endParaRPr lang="en-IN" sz="1400" dirty="0">
              <a:latin typeface="Book Antiqua" panose="02040602050305030304" pitchFamily="18" charset="0"/>
            </a:endParaRPr>
          </a:p>
        </p:txBody>
      </p:sp>
      <p:sp>
        <p:nvSpPr>
          <p:cNvPr id="5" name="Rectangle: Top Corners One Rounded and One Snipped 4">
            <a:extLst>
              <a:ext uri="{FF2B5EF4-FFF2-40B4-BE49-F238E27FC236}">
                <a16:creationId xmlns:a16="http://schemas.microsoft.com/office/drawing/2014/main" id="{D3D58757-E887-88F8-6031-E71DB09DEFD6}"/>
              </a:ext>
            </a:extLst>
          </p:cNvPr>
          <p:cNvSpPr/>
          <p:nvPr/>
        </p:nvSpPr>
        <p:spPr>
          <a:xfrm>
            <a:off x="5497397" y="1319753"/>
            <a:ext cx="3054285" cy="5156461"/>
          </a:xfrm>
          <a:prstGeom prst="snip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  <a:latin typeface="Book Antiqua" panose="02040602050305030304" pitchFamily="18" charset="0"/>
              </a:rPr>
              <a:t>FUTURE ENHANCEMENTS &amp; ROADMAP </a:t>
            </a:r>
          </a:p>
          <a:p>
            <a:endParaRPr lang="en-IN" sz="1600" b="1" dirty="0">
              <a:solidFill>
                <a:schemeClr val="tx1"/>
              </a:solidFill>
              <a:latin typeface="Book Antiqua" panose="02040602050305030304" pitchFamily="18" charset="0"/>
            </a:endParaRPr>
          </a:p>
          <a:p>
            <a:r>
              <a:rPr lang="en-IN" sz="1400" dirty="0">
                <a:latin typeface="Book Antiqua" panose="02040602050305030304" pitchFamily="18" charset="0"/>
              </a:rPr>
              <a:t>• </a:t>
            </a:r>
            <a:r>
              <a:rPr lang="en-IN" sz="1400" b="1" dirty="0">
                <a:latin typeface="Book Antiqua" panose="02040602050305030304" pitchFamily="18" charset="0"/>
              </a:rPr>
              <a:t>Predictive ML Integration:</a:t>
            </a:r>
            <a:r>
              <a:rPr lang="en-IN" sz="1400" dirty="0">
                <a:latin typeface="Book Antiqua" panose="02040602050305030304" pitchFamily="18" charset="0"/>
              </a:rPr>
              <a:t> Embed machine learning classification models (e.g., Random Forest/XGBoost) for real-time patient readmission risk scoring.</a:t>
            </a:r>
          </a:p>
          <a:p>
            <a:r>
              <a:rPr lang="en-IN" sz="1400" dirty="0">
                <a:latin typeface="Book Antiqua" panose="02040602050305030304" pitchFamily="18" charset="0"/>
              </a:rPr>
              <a:t> • </a:t>
            </a:r>
            <a:r>
              <a:rPr lang="en-IN" sz="1400" b="1" dirty="0">
                <a:latin typeface="Book Antiqua" panose="02040602050305030304" pitchFamily="18" charset="0"/>
              </a:rPr>
              <a:t>Automated Notification Engine:</a:t>
            </a:r>
            <a:r>
              <a:rPr lang="en-IN" sz="1400" dirty="0">
                <a:latin typeface="Book Antiqua" panose="02040602050305030304" pitchFamily="18" charset="0"/>
              </a:rPr>
              <a:t> Implement automated email/webhook alerts triggered when ward occupancy crosses the 85% critical threshold.</a:t>
            </a:r>
          </a:p>
          <a:p>
            <a:r>
              <a:rPr lang="en-IN" sz="1400" dirty="0">
                <a:latin typeface="Book Antiqua" panose="02040602050305030304" pitchFamily="18" charset="0"/>
              </a:rPr>
              <a:t> • </a:t>
            </a:r>
            <a:r>
              <a:rPr lang="en-IN" sz="1400" b="1" dirty="0">
                <a:latin typeface="Book Antiqua" panose="02040602050305030304" pitchFamily="18" charset="0"/>
              </a:rPr>
              <a:t>Multi-Hospital Network Scaling:</a:t>
            </a:r>
            <a:r>
              <a:rPr lang="en-IN" sz="1400" dirty="0">
                <a:latin typeface="Book Antiqua" panose="02040602050305030304" pitchFamily="18" charset="0"/>
              </a:rPr>
              <a:t> Expand data pipelines to support multi-site EHR integration for cross-facility bed load balancing.</a:t>
            </a:r>
          </a:p>
        </p:txBody>
      </p:sp>
    </p:spTree>
    <p:extLst>
      <p:ext uri="{BB962C8B-B14F-4D97-AF65-F5344CB8AC3E}">
        <p14:creationId xmlns:p14="http://schemas.microsoft.com/office/powerpoint/2010/main" val="3226253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0365D9-F011-5B8C-5A25-46C50CA6F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366886"/>
            <a:ext cx="8596668" cy="56351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Book Antiqua" panose="02040602050305030304" pitchFamily="18" charset="0"/>
              </a:rPr>
              <a:t>Thank You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F59F4D-C66C-24E3-3702-D5CCE8E6E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922309"/>
            <a:ext cx="8596668" cy="3119053"/>
          </a:xfrm>
        </p:spPr>
        <p:txBody>
          <a:bodyPr/>
          <a:lstStyle/>
          <a:p>
            <a:pPr algn="ctr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Book Antiqua" panose="02040602050305030304" pitchFamily="18" charset="0"/>
              </a:rPr>
              <a:t>Open for Questions &amp; Feedback</a:t>
            </a:r>
          </a:p>
          <a:p>
            <a:pPr algn="ctr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  <a:latin typeface="Book Antiqua" panose="02040602050305030304" pitchFamily="18" charset="0"/>
              </a:rPr>
              <a:t>Iqlas Tharannum</a:t>
            </a:r>
            <a:r>
              <a:rPr lang="en-US" dirty="0">
                <a:solidFill>
                  <a:schemeClr val="tx1"/>
                </a:solidFill>
                <a:latin typeface="Book Antiqua" panose="02040602050305030304" pitchFamily="18" charset="0"/>
              </a:rPr>
              <a:t> </a:t>
            </a:r>
          </a:p>
          <a:p>
            <a:pPr algn="ctr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Book Antiqua" panose="02040602050305030304" pitchFamily="18" charset="0"/>
              </a:rPr>
              <a:t>Data Visualization &amp; Business Intelligence</a:t>
            </a:r>
          </a:p>
          <a:p>
            <a:pPr algn="ctr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Book Antiqua" panose="02040602050305030304" pitchFamily="18" charset="0"/>
              </a:rPr>
              <a:t> Project: MedTrack-DV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733584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1466</TotalTime>
  <Words>1147</Words>
  <Application>Microsoft Office PowerPoint</Application>
  <PresentationFormat>Widescreen</PresentationFormat>
  <Paragraphs>123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Book Antiqua</vt:lpstr>
      <vt:lpstr>Trebuchet MS</vt:lpstr>
      <vt:lpstr>Wingdings</vt:lpstr>
      <vt:lpstr>Wingdings 3</vt:lpstr>
      <vt:lpstr>Facet</vt:lpstr>
      <vt:lpstr>MedTrack-DV Hospital Operations &amp; Patient Analytics Dashboard Clinical Business Intelligence &amp; Capacity Planning </vt:lpstr>
      <vt:lpstr>AGENDA</vt:lpstr>
      <vt:lpstr>PROBLEM STATEMENT</vt:lpstr>
      <vt:lpstr>PROJECT OBJECTIVES &amp; MEASURABLE  IMPACT</vt:lpstr>
      <vt:lpstr>DATA PIPELINE &amp; ARCHITECTURE</vt:lpstr>
      <vt:lpstr>Tools &amp; Tech Stack</vt:lpstr>
      <vt:lpstr>CORE CLINICAL &amp; OPERATIONAL KPIS  ENGINEERED</vt:lpstr>
      <vt:lpstr>4-PAGE TABLEAU DASHBOARD SUITE</vt:lpstr>
      <vt:lpstr>SCREENSHOTS</vt:lpstr>
      <vt:lpstr>WHAT-IF SURGE SIMULATOR &amp; DECISION LOGIC</vt:lpstr>
      <vt:lpstr>TECHNICAL CHALLENGES &amp; KEY SOLUTIONS</vt:lpstr>
      <vt:lpstr>KEY LEARNINGS &amp; FUTURE ROADMAP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Iqlas Tharannum</dc:creator>
  <cp:lastModifiedBy>Iqlas Tharannum</cp:lastModifiedBy>
  <cp:revision>16</cp:revision>
  <dcterms:created xsi:type="dcterms:W3CDTF">2026-08-26T08:03:58Z</dcterms:created>
  <dcterms:modified xsi:type="dcterms:W3CDTF">2026-08-31T17:58:07Z</dcterms:modified>
</cp:coreProperties>
</file>